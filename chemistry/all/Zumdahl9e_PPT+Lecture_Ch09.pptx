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685" r:id="rId5"/>
    <p:sldMasterId id="2147483698" r:id="rId6"/>
    <p:sldMasterId id="2147483710" r:id="rId7"/>
    <p:sldMasterId id="2147483722" r:id="rId8"/>
    <p:sldMasterId id="2147483734" r:id="rId9"/>
    <p:sldMasterId id="2147483747" r:id="rId10"/>
  </p:sldMasterIdLst>
  <p:notesMasterIdLst>
    <p:notesMasterId r:id="rId64"/>
  </p:notesMasterIdLst>
  <p:sldIdLst>
    <p:sldId id="325" r:id="rId11"/>
    <p:sldId id="260" r:id="rId12"/>
    <p:sldId id="261" r:id="rId13"/>
    <p:sldId id="262" r:id="rId14"/>
    <p:sldId id="324" r:id="rId15"/>
    <p:sldId id="319" r:id="rId16"/>
    <p:sldId id="320" r:id="rId17"/>
    <p:sldId id="321" r:id="rId18"/>
    <p:sldId id="322" r:id="rId19"/>
    <p:sldId id="323" r:id="rId20"/>
    <p:sldId id="270" r:id="rId21"/>
    <p:sldId id="271" r:id="rId22"/>
    <p:sldId id="272" r:id="rId23"/>
    <p:sldId id="273" r:id="rId24"/>
    <p:sldId id="274" r:id="rId25"/>
    <p:sldId id="275" r:id="rId26"/>
    <p:sldId id="276" r:id="rId27"/>
    <p:sldId id="277" r:id="rId28"/>
    <p:sldId id="278" r:id="rId29"/>
    <p:sldId id="279" r:id="rId30"/>
    <p:sldId id="281" r:id="rId31"/>
    <p:sldId id="282" r:id="rId32"/>
    <p:sldId id="283" r:id="rId33"/>
    <p:sldId id="285"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10" r:id="rId57"/>
    <p:sldId id="311" r:id="rId58"/>
    <p:sldId id="312" r:id="rId59"/>
    <p:sldId id="313" r:id="rId60"/>
    <p:sldId id="314" r:id="rId61"/>
    <p:sldId id="315" r:id="rId62"/>
    <p:sldId id="316"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usha Ravi" initials="AR" lastIdx="1" clrIdx="0">
    <p:extLst>
      <p:ext uri="{19B8F6BF-5375-455C-9EA6-DF929625EA0E}">
        <p15:presenceInfo xmlns:p15="http://schemas.microsoft.com/office/powerpoint/2012/main" userId="Anusha Ravi" providerId="None"/>
      </p:ext>
    </p:extLst>
  </p:cmAuthor>
  <p:cmAuthor id="2" name="Kavitha Melarcode Seetharaman" initials="KMS" lastIdx="9" clrIdx="1">
    <p:extLst>
      <p:ext uri="{19B8F6BF-5375-455C-9EA6-DF929625EA0E}">
        <p15:presenceInfo xmlns:p15="http://schemas.microsoft.com/office/powerpoint/2012/main" userId="Kavitha Melarcode Seetharaman" providerId="None"/>
      </p:ext>
    </p:extLst>
  </p:cmAuthor>
  <p:cmAuthor id="3" name="Anusha Ravi" initials="AR [2]" lastIdx="4" clrIdx="2">
    <p:extLst>
      <p:ext uri="{19B8F6BF-5375-455C-9EA6-DF929625EA0E}">
        <p15:presenceInfo xmlns:p15="http://schemas.microsoft.com/office/powerpoint/2012/main" userId="S-1-5-21-3361151005-2080053223-3394076701-189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84972" autoAdjust="0"/>
  </p:normalViewPr>
  <p:slideViewPr>
    <p:cSldViewPr snapToGrid="0" snapToObjects="1">
      <p:cViewPr varScale="1">
        <p:scale>
          <a:sx n="42" d="100"/>
          <a:sy n="42" d="100"/>
        </p:scale>
        <p:origin x="1890"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viewProps" Target="viewProp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e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35C2DD-7614-D14D-90DD-623995A7CC65}" type="datetimeFigureOut">
              <a:rPr lang="en-US" smtClean="0"/>
              <a:t>7/27/2026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ACE343-C16D-8A43-A748-5B65C46ED8C2}" type="slidenum">
              <a:rPr lang="en-US" smtClean="0"/>
              <a:t>‹#›</a:t>
            </a:fld>
            <a:endParaRPr lang="en-US"/>
          </a:p>
        </p:txBody>
      </p:sp>
    </p:spTree>
    <p:extLst>
      <p:ext uri="{BB962C8B-B14F-4D97-AF65-F5344CB8AC3E}">
        <p14:creationId xmlns:p14="http://schemas.microsoft.com/office/powerpoint/2010/main" val="23142087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2B7958-D159-B74C-9504-166091246992}"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08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08579"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47899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62FC5F-7738-EC4D-8DF0-63535068404F}" type="slidenum">
              <a:rPr lang="en-US"/>
              <a:pPr/>
              <a:t>2</a:t>
            </a:fld>
            <a:endParaRPr lang="en-US"/>
          </a:p>
        </p:txBody>
      </p:sp>
      <p:sp>
        <p:nvSpPr>
          <p:cNvPr id="358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58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39140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71F49E-B122-8345-A2EF-585C5A94206C}" type="slidenum">
              <a:rPr lang="en-US"/>
              <a:pPr/>
              <a:t>3</a:t>
            </a:fld>
            <a:endParaRPr lang="en-US"/>
          </a:p>
        </p:txBody>
      </p:sp>
      <p:sp>
        <p:nvSpPr>
          <p:cNvPr id="2662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624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1906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DDD61D-9BD9-1949-A431-D2F351B77917}" type="slidenum">
              <a:rPr lang="en-US"/>
              <a:pPr/>
              <a:t>4</a:t>
            </a:fld>
            <a:endParaRPr lang="en-US"/>
          </a:p>
        </p:txBody>
      </p:sp>
      <p:sp>
        <p:nvSpPr>
          <p:cNvPr id="3553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55331" name="Rectangle 3"/>
          <p:cNvSpPr>
            <a:spLocks noGrp="1" noChangeArrowheads="1"/>
          </p:cNvSpPr>
          <p:nvPr>
            <p:ph type="body" idx="1"/>
          </p:nvPr>
        </p:nvSpPr>
        <p:spPr/>
        <p:txBody>
          <a:bodyPr/>
          <a:lstStyle/>
          <a:p>
            <a:endParaRPr lang="en-US" dirty="0">
              <a:cs typeface="Arial" charset="0"/>
            </a:endParaRPr>
          </a:p>
        </p:txBody>
      </p:sp>
    </p:spTree>
    <p:extLst>
      <p:ext uri="{BB962C8B-B14F-4D97-AF65-F5344CB8AC3E}">
        <p14:creationId xmlns:p14="http://schemas.microsoft.com/office/powerpoint/2010/main" val="567867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cs typeface="Arial" charset="0"/>
              </a:rPr>
              <a:t>The correct answer is d. </a:t>
            </a:r>
            <a:r>
              <a:rPr lang="en-US" dirty="0"/>
              <a:t>The balanced equation is: Cu</a:t>
            </a:r>
            <a:r>
              <a:rPr lang="en-US" baseline="-25000" dirty="0"/>
              <a:t>2</a:t>
            </a:r>
            <a:r>
              <a:rPr lang="en-US" dirty="0"/>
              <a:t>S(</a:t>
            </a:r>
            <a:r>
              <a:rPr lang="en-US" i="1" dirty="0"/>
              <a:t>s</a:t>
            </a:r>
            <a:r>
              <a:rPr lang="en-US" dirty="0"/>
              <a:t>) + 2Cu</a:t>
            </a:r>
            <a:r>
              <a:rPr lang="en-US" baseline="-25000" dirty="0"/>
              <a:t>2</a:t>
            </a:r>
            <a:r>
              <a:rPr lang="en-US" dirty="0"/>
              <a:t>O(</a:t>
            </a:r>
            <a:r>
              <a:rPr lang="en-US" i="1" dirty="0"/>
              <a:t>s</a:t>
            </a:r>
            <a:r>
              <a:rPr lang="en-US" dirty="0"/>
              <a:t>) </a:t>
            </a:r>
            <a:r>
              <a:rPr lang="en-US" dirty="0">
                <a:cs typeface="Lucida Grande" charset="0"/>
              </a:rPr>
              <a:t>→</a:t>
            </a:r>
            <a:r>
              <a:rPr lang="en-US" dirty="0"/>
              <a:t> 6Cu(</a:t>
            </a:r>
            <a:r>
              <a:rPr lang="en-US" i="1" dirty="0"/>
              <a:t>s</a:t>
            </a:r>
            <a:r>
              <a:rPr lang="en-US" dirty="0"/>
              <a:t>) + SO</a:t>
            </a:r>
            <a:r>
              <a:rPr lang="en-US" baseline="-25000" dirty="0"/>
              <a:t>2</a:t>
            </a:r>
            <a:r>
              <a:rPr lang="en-US" dirty="0"/>
              <a:t>(</a:t>
            </a:r>
            <a:r>
              <a:rPr lang="en-US" i="1" dirty="0"/>
              <a:t>g</a:t>
            </a:r>
            <a:r>
              <a:rPr lang="en-US" dirty="0"/>
              <a:t>)</a:t>
            </a:r>
            <a:r>
              <a:rPr lang="en-US" dirty="0">
                <a:cs typeface="Arial" charset="0"/>
              </a:rPr>
              <a:t> </a:t>
            </a:r>
          </a:p>
        </p:txBody>
      </p:sp>
      <p:sp>
        <p:nvSpPr>
          <p:cNvPr id="4" name="Slide Number Placeholder 3"/>
          <p:cNvSpPr>
            <a:spLocks noGrp="1"/>
          </p:cNvSpPr>
          <p:nvPr>
            <p:ph type="sldNum" sz="quarter" idx="10"/>
          </p:nvPr>
        </p:nvSpPr>
        <p:spPr/>
        <p:txBody>
          <a:bodyPr/>
          <a:lstStyle/>
          <a:p>
            <a:fld id="{22ACE343-C16D-8A43-A748-5B65C46ED8C2}" type="slidenum">
              <a:rPr lang="en-US" smtClean="0"/>
              <a:t>5</a:t>
            </a:fld>
            <a:endParaRPr lang="en-US"/>
          </a:p>
        </p:txBody>
      </p:sp>
    </p:spTree>
    <p:extLst>
      <p:ext uri="{BB962C8B-B14F-4D97-AF65-F5344CB8AC3E}">
        <p14:creationId xmlns:p14="http://schemas.microsoft.com/office/powerpoint/2010/main" val="4059740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AE9601-2918-1546-9EE7-CF715437AC03}" type="slidenum">
              <a:rPr lang="en-US"/>
              <a:pPr/>
              <a:t>6</a:t>
            </a:fld>
            <a:endParaRPr lang="en-US"/>
          </a:p>
        </p:txBody>
      </p:sp>
      <p:sp>
        <p:nvSpPr>
          <p:cNvPr id="1249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24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99719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0D31EE-7351-2840-962F-FCDABAADCC83}" type="slidenum">
              <a:rPr lang="en-US"/>
              <a:pPr/>
              <a:t>7</a:t>
            </a:fld>
            <a:endParaRPr lang="en-US"/>
          </a:p>
        </p:txBody>
      </p:sp>
      <p:sp>
        <p:nvSpPr>
          <p:cNvPr id="1290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29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8284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F34787-2E39-EE4B-8DE5-CB60B73B3BB7}" type="slidenum">
              <a:rPr lang="en-US"/>
              <a:pPr/>
              <a:t>8</a:t>
            </a:fld>
            <a:endParaRPr lang="en-US"/>
          </a:p>
        </p:txBody>
      </p:sp>
      <p:sp>
        <p:nvSpPr>
          <p:cNvPr id="2826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262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849631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EC3802-CEDF-C243-8DB0-A8E5496441E4}" type="slidenum">
              <a:rPr lang="en-US"/>
              <a:pPr/>
              <a:t>9</a:t>
            </a:fld>
            <a:endParaRPr lang="en-US"/>
          </a:p>
        </p:txBody>
      </p:sp>
      <p:sp>
        <p:nvSpPr>
          <p:cNvPr id="2846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467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57388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04F54C-4829-B94F-A9CB-C243F916DCC6}" type="slidenum">
              <a:rPr lang="en-US"/>
              <a:pPr/>
              <a:t>10</a:t>
            </a:fld>
            <a:endParaRPr lang="en-US"/>
          </a:p>
        </p:txBody>
      </p:sp>
      <p:sp>
        <p:nvSpPr>
          <p:cNvPr id="1331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3123" name="Rectangle 3"/>
          <p:cNvSpPr>
            <a:spLocks noGrp="1" noChangeArrowheads="1"/>
          </p:cNvSpPr>
          <p:nvPr>
            <p:ph type="body" idx="1"/>
          </p:nvPr>
        </p:nvSpPr>
        <p:spPr/>
        <p:txBody>
          <a:bodyPr/>
          <a:lstStyle/>
          <a:p>
            <a:r>
              <a:rPr lang="en-US" dirty="0"/>
              <a:t>The correct answer is a.</a:t>
            </a:r>
          </a:p>
          <a:p>
            <a:endParaRPr lang="en-US" dirty="0"/>
          </a:p>
          <a:p>
            <a:r>
              <a:rPr lang="en-US" dirty="0"/>
              <a:t>(3.74 </a:t>
            </a:r>
            <a:r>
              <a:rPr lang="en-US" dirty="0" err="1"/>
              <a:t>mol</a:t>
            </a:r>
            <a:r>
              <a:rPr lang="en-US" dirty="0"/>
              <a:t> C</a:t>
            </a:r>
            <a:r>
              <a:rPr lang="en-US" baseline="-25000" dirty="0"/>
              <a:t>3</a:t>
            </a:r>
            <a:r>
              <a:rPr lang="en-US" dirty="0"/>
              <a:t>H</a:t>
            </a:r>
            <a:r>
              <a:rPr lang="en-US" baseline="-25000" dirty="0"/>
              <a:t>8</a:t>
            </a:r>
            <a:r>
              <a:rPr lang="en-US" dirty="0"/>
              <a:t>) × (3 </a:t>
            </a:r>
            <a:r>
              <a:rPr lang="en-US" dirty="0" err="1"/>
              <a:t>mol</a:t>
            </a:r>
            <a:r>
              <a:rPr lang="en-US" dirty="0"/>
              <a:t> CO</a:t>
            </a:r>
            <a:r>
              <a:rPr lang="en-US" baseline="-25000" dirty="0"/>
              <a:t>2</a:t>
            </a:r>
            <a:r>
              <a:rPr lang="en-US" dirty="0"/>
              <a:t>/1 </a:t>
            </a:r>
            <a:r>
              <a:rPr lang="en-US" dirty="0" err="1"/>
              <a:t>mol</a:t>
            </a:r>
            <a:r>
              <a:rPr lang="en-US" dirty="0"/>
              <a:t> C</a:t>
            </a:r>
            <a:r>
              <a:rPr lang="en-US" baseline="-25000" dirty="0"/>
              <a:t>3</a:t>
            </a:r>
            <a:r>
              <a:rPr lang="en-US" dirty="0"/>
              <a:t>H</a:t>
            </a:r>
            <a:r>
              <a:rPr lang="en-US" baseline="-25000" dirty="0"/>
              <a:t>8</a:t>
            </a:r>
            <a:r>
              <a:rPr lang="en-US" dirty="0"/>
              <a:t>) = 11.2 </a:t>
            </a:r>
            <a:r>
              <a:rPr lang="en-US" dirty="0" err="1"/>
              <a:t>mol</a:t>
            </a:r>
            <a:r>
              <a:rPr lang="en-US" dirty="0"/>
              <a:t> CO</a:t>
            </a:r>
            <a:r>
              <a:rPr lang="en-US" baseline="-25000" dirty="0"/>
              <a:t>2</a:t>
            </a:r>
            <a:endParaRPr lang="en-US" dirty="0"/>
          </a:p>
          <a:p>
            <a:endParaRPr lang="en-US" dirty="0"/>
          </a:p>
          <a:p>
            <a:endParaRPr lang="en-US" dirty="0"/>
          </a:p>
        </p:txBody>
      </p:sp>
    </p:spTree>
    <p:extLst>
      <p:ext uri="{BB962C8B-B14F-4D97-AF65-F5344CB8AC3E}">
        <p14:creationId xmlns:p14="http://schemas.microsoft.com/office/powerpoint/2010/main" val="2674395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855310-356B-4346-B6A4-3BD5834BA995}" type="slidenum">
              <a:rPr lang="en-US"/>
              <a:pPr/>
              <a:t>11</a:t>
            </a:fld>
            <a:endParaRPr lang="en-US"/>
          </a:p>
        </p:txBody>
      </p:sp>
      <p:sp>
        <p:nvSpPr>
          <p:cNvPr id="2887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87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56697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ADE0E4-A44A-DE4B-A2E1-3E1C05C741F4}" type="slidenum">
              <a:rPr lang="en-US"/>
              <a:pPr/>
              <a:t>12</a:t>
            </a:fld>
            <a:endParaRPr lang="en-US"/>
          </a:p>
        </p:txBody>
      </p:sp>
      <p:sp>
        <p:nvSpPr>
          <p:cNvPr id="2908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908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29189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FFFE76-934B-E348-9866-BF09F01CB006}" type="slidenum">
              <a:rPr lang="en-US"/>
              <a:pPr/>
              <a:t>13</a:t>
            </a:fld>
            <a:endParaRPr lang="en-US"/>
          </a:p>
        </p:txBody>
      </p:sp>
      <p:sp>
        <p:nvSpPr>
          <p:cNvPr id="2928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928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05686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D39422-6F0B-FD4C-B3A9-59B5019E714C}" type="slidenum">
              <a:rPr lang="en-US"/>
              <a:pPr/>
              <a:t>14</a:t>
            </a:fld>
            <a:endParaRPr lang="en-US"/>
          </a:p>
        </p:txBody>
      </p:sp>
      <p:sp>
        <p:nvSpPr>
          <p:cNvPr id="2949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9491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45940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BBB65B-7D73-6B47-99EA-3B9F063DE8D2}" type="slidenum">
              <a:rPr lang="en-US"/>
              <a:pPr/>
              <a:t>15</a:t>
            </a:fld>
            <a:endParaRPr lang="en-US"/>
          </a:p>
        </p:txBody>
      </p:sp>
      <p:sp>
        <p:nvSpPr>
          <p:cNvPr id="2969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969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898888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0CB808-99E5-4543-8DEE-F8CA2EB63D91}" type="slidenum">
              <a:rPr lang="en-US"/>
              <a:pPr/>
              <a:t>16</a:t>
            </a:fld>
            <a:endParaRPr lang="en-US"/>
          </a:p>
        </p:txBody>
      </p:sp>
      <p:sp>
        <p:nvSpPr>
          <p:cNvPr id="2990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990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05117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AD74E9-B479-EF4C-B4A7-71BBEA364E28}" type="slidenum">
              <a:rPr lang="en-US"/>
              <a:pPr/>
              <a:t>17</a:t>
            </a:fld>
            <a:endParaRPr lang="en-US"/>
          </a:p>
        </p:txBody>
      </p:sp>
      <p:sp>
        <p:nvSpPr>
          <p:cNvPr id="3020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20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56438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47D128-17BE-4245-A2F7-C80CAC473D93}" type="slidenum">
              <a:rPr lang="en-US"/>
              <a:pPr/>
              <a:t>18</a:t>
            </a:fld>
            <a:endParaRPr lang="en-US"/>
          </a:p>
        </p:txBody>
      </p:sp>
      <p:sp>
        <p:nvSpPr>
          <p:cNvPr id="3573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57379" name="Rectangle 3"/>
          <p:cNvSpPr>
            <a:spLocks noGrp="1" noChangeArrowheads="1"/>
          </p:cNvSpPr>
          <p:nvPr>
            <p:ph type="body" idx="1"/>
          </p:nvPr>
        </p:nvSpPr>
        <p:spPr/>
        <p:txBody>
          <a:bodyPr/>
          <a:lstStyle/>
          <a:p>
            <a:r>
              <a:rPr lang="en-US" dirty="0"/>
              <a:t>The correct answer is b.</a:t>
            </a:r>
          </a:p>
          <a:p>
            <a:endParaRPr lang="en-US" dirty="0"/>
          </a:p>
          <a:p>
            <a:r>
              <a:rPr lang="en-US" dirty="0"/>
              <a:t>(55.0 g HF) × (1 </a:t>
            </a:r>
            <a:r>
              <a:rPr lang="en-US" dirty="0" err="1"/>
              <a:t>mol</a:t>
            </a:r>
            <a:r>
              <a:rPr lang="en-US" dirty="0"/>
              <a:t> HF/20.008 g HF) × (1 </a:t>
            </a:r>
            <a:r>
              <a:rPr lang="en-US" dirty="0" err="1"/>
              <a:t>mol</a:t>
            </a:r>
            <a:r>
              <a:rPr lang="en-US" dirty="0"/>
              <a:t> SnF</a:t>
            </a:r>
            <a:r>
              <a:rPr lang="en-US" baseline="-25000" dirty="0"/>
              <a:t>2</a:t>
            </a:r>
            <a:r>
              <a:rPr lang="en-US" dirty="0"/>
              <a:t>/2 </a:t>
            </a:r>
            <a:r>
              <a:rPr lang="en-US" dirty="0" err="1"/>
              <a:t>mol</a:t>
            </a:r>
            <a:r>
              <a:rPr lang="en-US" dirty="0"/>
              <a:t> HF) × (156.71 g SnF</a:t>
            </a:r>
            <a:r>
              <a:rPr lang="en-US" baseline="-25000" dirty="0"/>
              <a:t>2</a:t>
            </a:r>
            <a:r>
              <a:rPr lang="en-US" dirty="0"/>
              <a:t>/1 </a:t>
            </a:r>
            <a:r>
              <a:rPr lang="en-US" dirty="0" err="1"/>
              <a:t>mol</a:t>
            </a:r>
            <a:r>
              <a:rPr lang="en-US" dirty="0"/>
              <a:t> SnF</a:t>
            </a:r>
            <a:r>
              <a:rPr lang="en-US" baseline="-25000" dirty="0"/>
              <a:t>2</a:t>
            </a:r>
            <a:r>
              <a:rPr lang="en-US" dirty="0"/>
              <a:t>) = 215 g SnF</a:t>
            </a:r>
            <a:r>
              <a:rPr lang="en-US" baseline="-25000" dirty="0"/>
              <a:t>2</a:t>
            </a:r>
            <a:endParaRPr lang="en-US" dirty="0"/>
          </a:p>
          <a:p>
            <a:endParaRPr lang="en-US" dirty="0"/>
          </a:p>
          <a:p>
            <a:endParaRPr lang="en-US" dirty="0"/>
          </a:p>
        </p:txBody>
      </p:sp>
    </p:spTree>
    <p:extLst>
      <p:ext uri="{BB962C8B-B14F-4D97-AF65-F5344CB8AC3E}">
        <p14:creationId xmlns:p14="http://schemas.microsoft.com/office/powerpoint/2010/main" val="769679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91236A-9900-1149-8A5B-08FF8954ECD7}" type="slidenum">
              <a:rPr lang="en-US"/>
              <a:pPr/>
              <a:t>19</a:t>
            </a:fld>
            <a:endParaRPr lang="en-US"/>
          </a:p>
        </p:txBody>
      </p:sp>
      <p:sp>
        <p:nvSpPr>
          <p:cNvPr id="3594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59427" name="Rectangle 3"/>
          <p:cNvSpPr>
            <a:spLocks noGrp="1" noChangeArrowheads="1"/>
          </p:cNvSpPr>
          <p:nvPr>
            <p:ph type="body" idx="1"/>
          </p:nvPr>
        </p:nvSpPr>
        <p:spPr/>
        <p:txBody>
          <a:bodyPr/>
          <a:lstStyle/>
          <a:p>
            <a:r>
              <a:rPr lang="en-US" dirty="0"/>
              <a:t>The correct answer is a.</a:t>
            </a:r>
          </a:p>
          <a:p>
            <a:endParaRPr lang="en-US" dirty="0"/>
          </a:p>
          <a:p>
            <a:r>
              <a:rPr lang="en-US" dirty="0"/>
              <a:t>(20.0 g PCl</a:t>
            </a:r>
            <a:r>
              <a:rPr lang="en-US" baseline="-25000" dirty="0"/>
              <a:t>3</a:t>
            </a:r>
            <a:r>
              <a:rPr lang="en-US" dirty="0"/>
              <a:t>) × (1 </a:t>
            </a:r>
            <a:r>
              <a:rPr lang="en-US" dirty="0" err="1"/>
              <a:t>mol</a:t>
            </a:r>
            <a:r>
              <a:rPr lang="en-US" dirty="0"/>
              <a:t> PCl</a:t>
            </a:r>
            <a:r>
              <a:rPr lang="en-US" baseline="-25000" dirty="0"/>
              <a:t>3</a:t>
            </a:r>
            <a:r>
              <a:rPr lang="en-US" dirty="0"/>
              <a:t>/137.32 g PCl</a:t>
            </a:r>
            <a:r>
              <a:rPr lang="en-US" baseline="-25000" dirty="0"/>
              <a:t>3</a:t>
            </a:r>
            <a:r>
              <a:rPr lang="en-US" dirty="0"/>
              <a:t>) × (3 </a:t>
            </a:r>
            <a:r>
              <a:rPr lang="en-US" dirty="0" err="1"/>
              <a:t>mol</a:t>
            </a:r>
            <a:r>
              <a:rPr lang="en-US" dirty="0"/>
              <a:t> H</a:t>
            </a:r>
            <a:r>
              <a:rPr lang="en-US" baseline="-25000" dirty="0"/>
              <a:t>2</a:t>
            </a:r>
            <a:r>
              <a:rPr lang="en-US" dirty="0"/>
              <a:t>O/1 </a:t>
            </a:r>
            <a:r>
              <a:rPr lang="en-US" dirty="0" err="1"/>
              <a:t>mol</a:t>
            </a:r>
            <a:r>
              <a:rPr lang="en-US" dirty="0"/>
              <a:t> PCl</a:t>
            </a:r>
            <a:r>
              <a:rPr lang="en-US" baseline="-25000" dirty="0"/>
              <a:t>3</a:t>
            </a:r>
            <a:r>
              <a:rPr lang="en-US" dirty="0"/>
              <a:t>) × (18.016 g H</a:t>
            </a:r>
            <a:r>
              <a:rPr lang="en-US" baseline="-25000" dirty="0"/>
              <a:t>2</a:t>
            </a:r>
            <a:r>
              <a:rPr lang="en-US" dirty="0"/>
              <a:t>O/1 </a:t>
            </a:r>
            <a:r>
              <a:rPr lang="en-US" dirty="0" err="1"/>
              <a:t>mol</a:t>
            </a:r>
            <a:r>
              <a:rPr lang="en-US" dirty="0"/>
              <a:t> H</a:t>
            </a:r>
            <a:r>
              <a:rPr lang="en-US" baseline="-25000" dirty="0"/>
              <a:t>2</a:t>
            </a:r>
            <a:r>
              <a:rPr lang="en-US" dirty="0"/>
              <a:t>O) = 7.87 g H</a:t>
            </a:r>
            <a:r>
              <a:rPr lang="en-US" baseline="-25000" dirty="0"/>
              <a:t>2</a:t>
            </a:r>
            <a:r>
              <a:rPr lang="en-US" dirty="0"/>
              <a:t>O</a:t>
            </a:r>
          </a:p>
          <a:p>
            <a:endParaRPr lang="en-US" dirty="0"/>
          </a:p>
          <a:p>
            <a:endParaRPr lang="en-US" dirty="0"/>
          </a:p>
        </p:txBody>
      </p:sp>
    </p:spTree>
    <p:extLst>
      <p:ext uri="{BB962C8B-B14F-4D97-AF65-F5344CB8AC3E}">
        <p14:creationId xmlns:p14="http://schemas.microsoft.com/office/powerpoint/2010/main" val="3922939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6842AA-0FE6-2845-95F6-8FBB5D1E4518}" type="slidenum">
              <a:rPr lang="en-US"/>
              <a:pPr/>
              <a:t>20</a:t>
            </a:fld>
            <a:endParaRPr lang="en-US"/>
          </a:p>
        </p:txBody>
      </p:sp>
      <p:sp>
        <p:nvSpPr>
          <p:cNvPr id="3655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65571" name="Rectangle 3"/>
          <p:cNvSpPr>
            <a:spLocks noGrp="1" noChangeArrowheads="1"/>
          </p:cNvSpPr>
          <p:nvPr>
            <p:ph type="body" idx="1"/>
          </p:nvPr>
        </p:nvSpPr>
        <p:spPr/>
        <p:txBody>
          <a:bodyPr/>
          <a:lstStyle/>
          <a:p>
            <a:r>
              <a:rPr lang="en-US" dirty="0"/>
              <a:t>The correct answer is d. X is carbon.</a:t>
            </a:r>
          </a:p>
          <a:p>
            <a:endParaRPr lang="en-US" dirty="0"/>
          </a:p>
          <a:p>
            <a:r>
              <a:rPr lang="en-US" dirty="0"/>
              <a:t>(2.43 </a:t>
            </a:r>
            <a:r>
              <a:rPr lang="en-US" dirty="0" err="1"/>
              <a:t>mol</a:t>
            </a:r>
            <a:r>
              <a:rPr lang="en-US" dirty="0"/>
              <a:t> B</a:t>
            </a:r>
            <a:r>
              <a:rPr lang="en-US" baseline="-25000" dirty="0"/>
              <a:t>4</a:t>
            </a:r>
            <a:r>
              <a:rPr lang="en-US" dirty="0"/>
              <a:t>X</a:t>
            </a:r>
            <a:r>
              <a:rPr lang="en-US" baseline="-25000" dirty="0"/>
              <a:t>3</a:t>
            </a:r>
            <a:r>
              <a:rPr lang="en-US" dirty="0"/>
              <a:t>) × (6 </a:t>
            </a:r>
            <a:r>
              <a:rPr lang="en-US" dirty="0" err="1"/>
              <a:t>mol</a:t>
            </a:r>
            <a:r>
              <a:rPr lang="en-US" dirty="0"/>
              <a:t> X / 1 </a:t>
            </a:r>
            <a:r>
              <a:rPr lang="en-US" dirty="0" err="1"/>
              <a:t>mol</a:t>
            </a:r>
            <a:r>
              <a:rPr lang="en-US" dirty="0"/>
              <a:t> B</a:t>
            </a:r>
            <a:r>
              <a:rPr lang="en-US" baseline="-25000" dirty="0"/>
              <a:t>4</a:t>
            </a:r>
            <a:r>
              <a:rPr lang="en-US" dirty="0"/>
              <a:t>X</a:t>
            </a:r>
            <a:r>
              <a:rPr lang="en-US" baseline="-25000" dirty="0"/>
              <a:t>3</a:t>
            </a:r>
            <a:r>
              <a:rPr lang="en-US" dirty="0"/>
              <a:t>) = 14.6 </a:t>
            </a:r>
            <a:r>
              <a:rPr lang="en-US" dirty="0" err="1"/>
              <a:t>mol</a:t>
            </a:r>
            <a:r>
              <a:rPr lang="en-US" dirty="0"/>
              <a:t> X</a:t>
            </a:r>
          </a:p>
          <a:p>
            <a:endParaRPr lang="en-US" dirty="0"/>
          </a:p>
          <a:p>
            <a:r>
              <a:rPr lang="en-US" dirty="0"/>
              <a:t>Molar Mass = # grams / # moles = 175 g X / 14.6 </a:t>
            </a:r>
            <a:r>
              <a:rPr lang="en-US" dirty="0" err="1"/>
              <a:t>mol</a:t>
            </a:r>
            <a:r>
              <a:rPr lang="en-US" dirty="0"/>
              <a:t> X = 12.0 g/</a:t>
            </a:r>
            <a:r>
              <a:rPr lang="en-US" dirty="0" err="1"/>
              <a:t>mol</a:t>
            </a:r>
            <a:endParaRPr lang="en-US" dirty="0"/>
          </a:p>
        </p:txBody>
      </p:sp>
    </p:spTree>
    <p:extLst>
      <p:ext uri="{BB962C8B-B14F-4D97-AF65-F5344CB8AC3E}">
        <p14:creationId xmlns:p14="http://schemas.microsoft.com/office/powerpoint/2010/main" val="4602950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6F22F1-03F7-6C43-B30C-10535B2BAB7E}" type="slidenum">
              <a:rPr lang="en-US"/>
              <a:pPr/>
              <a:t>21</a:t>
            </a:fld>
            <a:endParaRPr lang="en-US"/>
          </a:p>
        </p:txBody>
      </p:sp>
      <p:sp>
        <p:nvSpPr>
          <p:cNvPr id="3041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41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82482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D400CF-F0CB-B446-AEE0-FDD4EB553858}" type="slidenum">
              <a:rPr lang="en-US"/>
              <a:pPr/>
              <a:t>22</a:t>
            </a:fld>
            <a:endParaRPr lang="en-US"/>
          </a:p>
        </p:txBody>
      </p:sp>
      <p:sp>
        <p:nvSpPr>
          <p:cNvPr id="3061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6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77890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9C8DF4-13A7-0944-ADE1-32A1EE74B1E3}" type="slidenum">
              <a:rPr lang="en-US"/>
              <a:pPr/>
              <a:t>23</a:t>
            </a:fld>
            <a:endParaRPr lang="en-US"/>
          </a:p>
        </p:txBody>
      </p:sp>
      <p:sp>
        <p:nvSpPr>
          <p:cNvPr id="3082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8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08939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E7D3ED-BC1D-3D43-BDB5-32DFBBED2397}" type="slidenum">
              <a:rPr lang="en-US"/>
              <a:pPr/>
              <a:t>24</a:t>
            </a:fld>
            <a:endParaRPr lang="en-US"/>
          </a:p>
        </p:txBody>
      </p:sp>
      <p:sp>
        <p:nvSpPr>
          <p:cNvPr id="3102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10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820179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3B7A04-5011-5D41-9328-45C9C4BE2E58}" type="slidenum">
              <a:rPr lang="en-US"/>
              <a:pPr/>
              <a:t>25</a:t>
            </a:fld>
            <a:endParaRPr lang="en-US"/>
          </a:p>
        </p:txBody>
      </p:sp>
      <p:sp>
        <p:nvSpPr>
          <p:cNvPr id="3143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143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364585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7ACBD5-CB88-3F46-83D1-211386C26A54}" type="slidenum">
              <a:rPr lang="en-US"/>
              <a:pPr/>
              <a:t>26</a:t>
            </a:fld>
            <a:endParaRPr lang="en-US"/>
          </a:p>
        </p:txBody>
      </p:sp>
      <p:sp>
        <p:nvSpPr>
          <p:cNvPr id="3164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16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102338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0974FD-BB3C-B94E-8048-F60EC9DB38D8}" type="slidenum">
              <a:rPr lang="en-US"/>
              <a:pPr/>
              <a:t>27</a:t>
            </a:fld>
            <a:endParaRPr lang="en-US"/>
          </a:p>
        </p:txBody>
      </p:sp>
      <p:sp>
        <p:nvSpPr>
          <p:cNvPr id="3184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18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06006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6C583D-3332-6048-A33D-5763890E8B74}" type="slidenum">
              <a:rPr lang="en-US"/>
              <a:pPr/>
              <a:t>28</a:t>
            </a:fld>
            <a:endParaRPr lang="en-US"/>
          </a:p>
        </p:txBody>
      </p:sp>
      <p:sp>
        <p:nvSpPr>
          <p:cNvPr id="3225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2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16766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1EBEE5-4F90-4848-B676-957C59C60335}" type="slidenum">
              <a:rPr lang="en-US"/>
              <a:pPr/>
              <a:t>29</a:t>
            </a:fld>
            <a:endParaRPr lang="en-US"/>
          </a:p>
        </p:txBody>
      </p:sp>
      <p:sp>
        <p:nvSpPr>
          <p:cNvPr id="3246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364068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0ECF58-B118-0F46-BD19-50F536C5D2D8}" type="slidenum">
              <a:rPr lang="en-US"/>
              <a:pPr/>
              <a:t>30</a:t>
            </a:fld>
            <a:endParaRPr lang="en-US"/>
          </a:p>
        </p:txBody>
      </p:sp>
      <p:sp>
        <p:nvSpPr>
          <p:cNvPr id="326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6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018661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A5710A-1472-8C46-9FDC-86D7149AEE7E}" type="slidenum">
              <a:rPr lang="en-US"/>
              <a:pPr/>
              <a:t>31</a:t>
            </a:fld>
            <a:endParaRPr lang="en-US"/>
          </a:p>
        </p:txBody>
      </p:sp>
      <p:sp>
        <p:nvSpPr>
          <p:cNvPr id="3328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2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178749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B36887-A899-6843-808A-6CDF345EFFF1}" type="slidenum">
              <a:rPr lang="en-US"/>
              <a:pPr/>
              <a:t>32</a:t>
            </a:fld>
            <a:endParaRPr lang="en-US"/>
          </a:p>
        </p:txBody>
      </p:sp>
      <p:sp>
        <p:nvSpPr>
          <p:cNvPr id="3348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4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168363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0514D9-60FC-1F4B-8993-962607039854}" type="slidenum">
              <a:rPr lang="en-US"/>
              <a:pPr/>
              <a:t>33</a:t>
            </a:fld>
            <a:endParaRPr lang="en-US"/>
          </a:p>
        </p:txBody>
      </p:sp>
      <p:sp>
        <p:nvSpPr>
          <p:cNvPr id="3368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6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004206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4270D0-9F27-2544-A926-2C472969BD9B}" type="slidenum">
              <a:rPr lang="en-US"/>
              <a:pPr/>
              <a:t>34</a:t>
            </a:fld>
            <a:endParaRPr lang="en-US"/>
          </a:p>
        </p:txBody>
      </p:sp>
      <p:sp>
        <p:nvSpPr>
          <p:cNvPr id="3389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8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473757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843266-EAFE-FD4D-8A61-0DC7A11D1416}" type="slidenum">
              <a:rPr lang="en-US"/>
              <a:pPr/>
              <a:t>35</a:t>
            </a:fld>
            <a:endParaRPr lang="en-US"/>
          </a:p>
        </p:txBody>
      </p:sp>
      <p:sp>
        <p:nvSpPr>
          <p:cNvPr id="3205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05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87905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0974FD-BB3C-B94E-8048-F60EC9DB38D8}" type="slidenum">
              <a:rPr lang="en-US"/>
              <a:pPr/>
              <a:t>36</a:t>
            </a:fld>
            <a:endParaRPr lang="en-US"/>
          </a:p>
        </p:txBody>
      </p:sp>
      <p:sp>
        <p:nvSpPr>
          <p:cNvPr id="3184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184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0719487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6C583D-3332-6048-A33D-5763890E8B74}" type="slidenum">
              <a:rPr lang="en-US"/>
              <a:pPr/>
              <a:t>37</a:t>
            </a:fld>
            <a:endParaRPr lang="en-US"/>
          </a:p>
        </p:txBody>
      </p:sp>
      <p:sp>
        <p:nvSpPr>
          <p:cNvPr id="3225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2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058021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1EBEE5-4F90-4848-B676-957C59C60335}" type="slidenum">
              <a:rPr lang="en-US"/>
              <a:pPr/>
              <a:t>38</a:t>
            </a:fld>
            <a:endParaRPr lang="en-US"/>
          </a:p>
        </p:txBody>
      </p:sp>
      <p:sp>
        <p:nvSpPr>
          <p:cNvPr id="3246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724271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0ECF58-B118-0F46-BD19-50F536C5D2D8}" type="slidenum">
              <a:rPr lang="en-US"/>
              <a:pPr/>
              <a:t>39</a:t>
            </a:fld>
            <a:endParaRPr lang="en-US"/>
          </a:p>
        </p:txBody>
      </p:sp>
      <p:sp>
        <p:nvSpPr>
          <p:cNvPr id="326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6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997726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A5710A-1472-8C46-9FDC-86D7149AEE7E}" type="slidenum">
              <a:rPr lang="en-US"/>
              <a:pPr/>
              <a:t>40</a:t>
            </a:fld>
            <a:endParaRPr lang="en-US"/>
          </a:p>
        </p:txBody>
      </p:sp>
      <p:sp>
        <p:nvSpPr>
          <p:cNvPr id="3328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2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925152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B36887-A899-6843-808A-6CDF345EFFF1}" type="slidenum">
              <a:rPr lang="en-US"/>
              <a:pPr/>
              <a:t>41</a:t>
            </a:fld>
            <a:endParaRPr lang="en-US"/>
          </a:p>
        </p:txBody>
      </p:sp>
      <p:sp>
        <p:nvSpPr>
          <p:cNvPr id="3348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4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604129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0514D9-60FC-1F4B-8993-962607039854}" type="slidenum">
              <a:rPr lang="en-US"/>
              <a:pPr/>
              <a:t>42</a:t>
            </a:fld>
            <a:endParaRPr lang="en-US"/>
          </a:p>
        </p:txBody>
      </p:sp>
      <p:sp>
        <p:nvSpPr>
          <p:cNvPr id="3368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6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283243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4270D0-9F27-2544-A926-2C472969BD9B}" type="slidenum">
              <a:rPr lang="en-US"/>
              <a:pPr/>
              <a:t>43</a:t>
            </a:fld>
            <a:endParaRPr lang="en-US"/>
          </a:p>
        </p:txBody>
      </p:sp>
      <p:sp>
        <p:nvSpPr>
          <p:cNvPr id="3389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894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7591492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E7FC98-DB21-FC4D-9F78-D8BD08B19DC3}" type="slidenum">
              <a:rPr lang="en-US"/>
              <a:pPr/>
              <a:t>44</a:t>
            </a:fld>
            <a:endParaRPr lang="en-US"/>
          </a:p>
        </p:txBody>
      </p:sp>
      <p:sp>
        <p:nvSpPr>
          <p:cNvPr id="3409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40995" name="Rectangle 3"/>
          <p:cNvSpPr>
            <a:spLocks noGrp="1" noChangeArrowheads="1"/>
          </p:cNvSpPr>
          <p:nvPr>
            <p:ph type="body" idx="1"/>
          </p:nvPr>
        </p:nvSpPr>
        <p:spPr/>
        <p:txBody>
          <a:bodyPr/>
          <a:lstStyle/>
          <a:p>
            <a:r>
              <a:rPr lang="en-US" dirty="0"/>
              <a:t>The correct answer is e. All of these reaction mixtures would produce two moles of water.</a:t>
            </a:r>
          </a:p>
        </p:txBody>
      </p:sp>
    </p:spTree>
    <p:extLst>
      <p:ext uri="{BB962C8B-B14F-4D97-AF65-F5344CB8AC3E}">
        <p14:creationId xmlns:p14="http://schemas.microsoft.com/office/powerpoint/2010/main" val="28807406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683CD9-CF4A-C84D-8126-5E2BD3534297}" type="slidenum">
              <a:rPr lang="en-US"/>
              <a:pPr/>
              <a:t>45</a:t>
            </a:fld>
            <a:endParaRPr lang="en-US"/>
          </a:p>
        </p:txBody>
      </p:sp>
      <p:sp>
        <p:nvSpPr>
          <p:cNvPr id="3614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61475" name="Rectangle 3"/>
          <p:cNvSpPr>
            <a:spLocks noGrp="1" noChangeArrowheads="1"/>
          </p:cNvSpPr>
          <p:nvPr>
            <p:ph type="body" idx="1"/>
          </p:nvPr>
        </p:nvSpPr>
        <p:spPr/>
        <p:txBody>
          <a:bodyPr/>
          <a:lstStyle/>
          <a:p>
            <a:r>
              <a:rPr lang="en-US" dirty="0"/>
              <a:t>The correct answer is a. </a:t>
            </a:r>
          </a:p>
          <a:p>
            <a:endParaRPr lang="en-US" dirty="0"/>
          </a:p>
          <a:p>
            <a:r>
              <a:rPr lang="en-US" dirty="0"/>
              <a:t>(6.0 </a:t>
            </a:r>
            <a:r>
              <a:rPr lang="en-US" dirty="0" err="1"/>
              <a:t>mol</a:t>
            </a:r>
            <a:r>
              <a:rPr lang="en-US" dirty="0"/>
              <a:t> B) × (1 </a:t>
            </a:r>
            <a:r>
              <a:rPr lang="en-US" dirty="0" err="1"/>
              <a:t>mol</a:t>
            </a:r>
            <a:r>
              <a:rPr lang="en-US" dirty="0"/>
              <a:t> A/3 </a:t>
            </a:r>
            <a:r>
              <a:rPr lang="en-US" dirty="0" err="1"/>
              <a:t>mol</a:t>
            </a:r>
            <a:r>
              <a:rPr lang="en-US" dirty="0"/>
              <a:t> B) = 2.0 </a:t>
            </a:r>
            <a:r>
              <a:rPr lang="en-US" dirty="0" err="1"/>
              <a:t>mol</a:t>
            </a:r>
            <a:r>
              <a:rPr lang="en-US" dirty="0"/>
              <a:t> A needed</a:t>
            </a:r>
          </a:p>
        </p:txBody>
      </p:sp>
    </p:spTree>
    <p:extLst>
      <p:ext uri="{BB962C8B-B14F-4D97-AF65-F5344CB8AC3E}">
        <p14:creationId xmlns:p14="http://schemas.microsoft.com/office/powerpoint/2010/main" val="1903103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5AEE53-EF4F-0543-88D9-A96A763CB415}" type="slidenum">
              <a:rPr lang="en-US"/>
              <a:pPr/>
              <a:t>46</a:t>
            </a:fld>
            <a:endParaRPr lang="en-US"/>
          </a:p>
        </p:txBody>
      </p:sp>
      <p:sp>
        <p:nvSpPr>
          <p:cNvPr id="3635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63523" name="Rectangle 3"/>
          <p:cNvSpPr>
            <a:spLocks noGrp="1" noChangeArrowheads="1"/>
          </p:cNvSpPr>
          <p:nvPr>
            <p:ph type="body" idx="1"/>
          </p:nvPr>
        </p:nvSpPr>
        <p:spPr/>
        <p:txBody>
          <a:bodyPr/>
          <a:lstStyle/>
          <a:p>
            <a:r>
              <a:rPr lang="en-US" dirty="0"/>
              <a:t>The correct answer is c. </a:t>
            </a:r>
            <a:r>
              <a:rPr lang="en-US" sz="1400" dirty="0"/>
              <a:t>Nitrogen is the limiting reactant.</a:t>
            </a:r>
            <a:endParaRPr lang="en-US" dirty="0"/>
          </a:p>
          <a:p>
            <a:endParaRPr lang="en-US" dirty="0"/>
          </a:p>
          <a:p>
            <a:r>
              <a:rPr lang="en-US" dirty="0"/>
              <a:t>(0.107 </a:t>
            </a:r>
            <a:r>
              <a:rPr lang="en-US" dirty="0" err="1"/>
              <a:t>mol</a:t>
            </a:r>
            <a:r>
              <a:rPr lang="en-US" dirty="0"/>
              <a:t> N</a:t>
            </a:r>
            <a:r>
              <a:rPr lang="en-US" baseline="-25000" dirty="0"/>
              <a:t>2</a:t>
            </a:r>
            <a:r>
              <a:rPr lang="en-US" dirty="0"/>
              <a:t>) × (2 </a:t>
            </a:r>
            <a:r>
              <a:rPr lang="en-US" dirty="0" err="1"/>
              <a:t>mol</a:t>
            </a:r>
            <a:r>
              <a:rPr lang="en-US" dirty="0"/>
              <a:t> NH</a:t>
            </a:r>
            <a:r>
              <a:rPr lang="en-US" baseline="-25000" dirty="0"/>
              <a:t>3</a:t>
            </a:r>
            <a:r>
              <a:rPr lang="en-US" dirty="0"/>
              <a:t>/1 </a:t>
            </a:r>
            <a:r>
              <a:rPr lang="en-US" dirty="0" err="1"/>
              <a:t>mol</a:t>
            </a:r>
            <a:r>
              <a:rPr lang="en-US" dirty="0"/>
              <a:t> N</a:t>
            </a:r>
            <a:r>
              <a:rPr lang="en-US" baseline="-25000" dirty="0"/>
              <a:t>2</a:t>
            </a:r>
            <a:r>
              <a:rPr lang="en-US" dirty="0"/>
              <a:t>) × (17.034 g NH</a:t>
            </a:r>
            <a:r>
              <a:rPr lang="en-US" baseline="-25000" dirty="0"/>
              <a:t>3</a:t>
            </a:r>
            <a:r>
              <a:rPr lang="en-US" dirty="0"/>
              <a:t>/1 </a:t>
            </a:r>
            <a:r>
              <a:rPr lang="en-US" dirty="0" err="1"/>
              <a:t>mol</a:t>
            </a:r>
            <a:r>
              <a:rPr lang="en-US" dirty="0"/>
              <a:t> NH</a:t>
            </a:r>
            <a:r>
              <a:rPr lang="en-US" baseline="-25000" dirty="0"/>
              <a:t>3</a:t>
            </a:r>
            <a:r>
              <a:rPr lang="en-US" dirty="0"/>
              <a:t>) = 3.65 g NH</a:t>
            </a:r>
            <a:r>
              <a:rPr lang="en-US" baseline="-25000" dirty="0"/>
              <a:t>3</a:t>
            </a:r>
            <a:endParaRPr lang="en-US" dirty="0"/>
          </a:p>
          <a:p>
            <a:endParaRPr lang="en-US" dirty="0"/>
          </a:p>
          <a:p>
            <a:endParaRPr lang="en-US" dirty="0"/>
          </a:p>
        </p:txBody>
      </p:sp>
    </p:spTree>
    <p:extLst>
      <p:ext uri="{BB962C8B-B14F-4D97-AF65-F5344CB8AC3E}">
        <p14:creationId xmlns:p14="http://schemas.microsoft.com/office/powerpoint/2010/main" val="21998377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69D678-E0E4-0549-BD15-A85F3D443C3D}" type="slidenum">
              <a:rPr lang="en-US"/>
              <a:pPr/>
              <a:t>47</a:t>
            </a:fld>
            <a:endParaRPr lang="en-US"/>
          </a:p>
        </p:txBody>
      </p:sp>
      <p:sp>
        <p:nvSpPr>
          <p:cNvPr id="2437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37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331349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29E800-95D9-B542-8349-61E6787F0B81}" type="slidenum">
              <a:rPr lang="en-US"/>
              <a:pPr/>
              <a:t>48</a:t>
            </a:fld>
            <a:endParaRPr lang="en-US"/>
          </a:p>
        </p:txBody>
      </p:sp>
      <p:sp>
        <p:nvSpPr>
          <p:cNvPr id="3430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4304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9417718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DF82AF-D7EF-CC40-80DC-8A12763CF3C3}" type="slidenum">
              <a:rPr lang="en-US"/>
              <a:pPr/>
              <a:t>49</a:t>
            </a:fld>
            <a:endParaRPr lang="en-US"/>
          </a:p>
        </p:txBody>
      </p:sp>
      <p:sp>
        <p:nvSpPr>
          <p:cNvPr id="3450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450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387071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63C058-7355-D04A-BA35-8FBB09B4A873}" type="slidenum">
              <a:rPr lang="en-US"/>
              <a:pPr/>
              <a:t>50</a:t>
            </a:fld>
            <a:endParaRPr lang="en-US"/>
          </a:p>
        </p:txBody>
      </p:sp>
      <p:sp>
        <p:nvSpPr>
          <p:cNvPr id="3512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51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385660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CC1A3A-55A0-4F4C-9337-BAB32E09BC1C}" type="slidenum">
              <a:rPr lang="en-US"/>
              <a:pPr/>
              <a:t>51</a:t>
            </a:fld>
            <a:endParaRPr lang="en-US"/>
          </a:p>
        </p:txBody>
      </p:sp>
      <p:sp>
        <p:nvSpPr>
          <p:cNvPr id="3532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53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864126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198265-0314-5741-AD7F-A1761AB4579E}" type="slidenum">
              <a:rPr lang="en-US"/>
              <a:pPr/>
              <a:t>52</a:t>
            </a:fld>
            <a:endParaRPr lang="en-US"/>
          </a:p>
        </p:txBody>
      </p:sp>
      <p:sp>
        <p:nvSpPr>
          <p:cNvPr id="2457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5763" name="Rectangle 3"/>
          <p:cNvSpPr>
            <a:spLocks noGrp="1" noChangeArrowheads="1"/>
          </p:cNvSpPr>
          <p:nvPr>
            <p:ph type="body" idx="1"/>
          </p:nvPr>
        </p:nvSpPr>
        <p:spPr/>
        <p:txBody>
          <a:bodyPr/>
          <a:lstStyle/>
          <a:p>
            <a:r>
              <a:rPr lang="en-US" dirty="0"/>
              <a:t>The correct answer is c. First, we find the maximum yield (theoretical yield) of product</a:t>
            </a:r>
          </a:p>
          <a:p>
            <a:endParaRPr lang="en-US" dirty="0"/>
          </a:p>
          <a:p>
            <a:r>
              <a:rPr lang="en-US" dirty="0"/>
              <a:t>(1.00 g O</a:t>
            </a:r>
            <a:r>
              <a:rPr lang="en-US" baseline="-25000" dirty="0"/>
              <a:t>2</a:t>
            </a:r>
            <a:r>
              <a:rPr lang="en-US" dirty="0"/>
              <a:t>)(1 </a:t>
            </a:r>
            <a:r>
              <a:rPr lang="en-US" dirty="0" err="1"/>
              <a:t>mol</a:t>
            </a:r>
            <a:r>
              <a:rPr lang="en-US" dirty="0"/>
              <a:t> O</a:t>
            </a:r>
            <a:r>
              <a:rPr lang="en-US" baseline="-25000" dirty="0"/>
              <a:t>2</a:t>
            </a:r>
            <a:r>
              <a:rPr lang="en-US" baseline="0" dirty="0"/>
              <a:t> </a:t>
            </a:r>
            <a:r>
              <a:rPr lang="en-US" dirty="0"/>
              <a:t>/ 32.00 g O</a:t>
            </a:r>
            <a:r>
              <a:rPr lang="en-US" baseline="-25000" dirty="0"/>
              <a:t>2</a:t>
            </a:r>
            <a:r>
              <a:rPr lang="en-US" dirty="0"/>
              <a:t>)(2 </a:t>
            </a:r>
            <a:r>
              <a:rPr lang="en-US" dirty="0" err="1"/>
              <a:t>mol</a:t>
            </a:r>
            <a:r>
              <a:rPr lang="en-US" dirty="0"/>
              <a:t> SO</a:t>
            </a:r>
            <a:r>
              <a:rPr lang="en-US" baseline="-25000" dirty="0"/>
              <a:t>3 </a:t>
            </a:r>
            <a:r>
              <a:rPr lang="en-US" dirty="0"/>
              <a:t>/ 3 </a:t>
            </a:r>
            <a:r>
              <a:rPr lang="en-US" dirty="0" err="1"/>
              <a:t>mol</a:t>
            </a:r>
            <a:r>
              <a:rPr lang="en-US" dirty="0"/>
              <a:t> O</a:t>
            </a:r>
            <a:r>
              <a:rPr lang="en-US" baseline="-25000" dirty="0"/>
              <a:t>2</a:t>
            </a:r>
            <a:r>
              <a:rPr lang="en-US" dirty="0"/>
              <a:t>)(80.06 g SO</a:t>
            </a:r>
            <a:r>
              <a:rPr lang="en-US" baseline="-25000" dirty="0"/>
              <a:t>3</a:t>
            </a:r>
            <a:r>
              <a:rPr lang="en-US" baseline="0" dirty="0"/>
              <a:t> </a:t>
            </a:r>
            <a:r>
              <a:rPr lang="en-US" dirty="0"/>
              <a:t>/ 1 </a:t>
            </a:r>
            <a:r>
              <a:rPr lang="en-US" dirty="0" err="1"/>
              <a:t>mol</a:t>
            </a:r>
            <a:r>
              <a:rPr lang="en-US" dirty="0"/>
              <a:t> SO</a:t>
            </a:r>
            <a:r>
              <a:rPr lang="en-US" baseline="-25000" dirty="0"/>
              <a:t>3</a:t>
            </a:r>
            <a:r>
              <a:rPr lang="en-US" dirty="0"/>
              <a:t>) = 1.67 g (theoretical yield)</a:t>
            </a:r>
          </a:p>
          <a:p>
            <a:endParaRPr lang="en-US" dirty="0"/>
          </a:p>
          <a:p>
            <a:r>
              <a:rPr lang="en-US" dirty="0"/>
              <a:t>We then divide the actual yield by the theoretical yield</a:t>
            </a:r>
          </a:p>
          <a:p>
            <a:endParaRPr lang="en-US" dirty="0"/>
          </a:p>
          <a:p>
            <a:r>
              <a:rPr lang="en-US" dirty="0"/>
              <a:t>Percent yield = (1.50 g/1.67 g) × 100 = 89.8%</a:t>
            </a:r>
          </a:p>
        </p:txBody>
      </p:sp>
    </p:spTree>
    <p:extLst>
      <p:ext uri="{BB962C8B-B14F-4D97-AF65-F5344CB8AC3E}">
        <p14:creationId xmlns:p14="http://schemas.microsoft.com/office/powerpoint/2010/main" val="16231008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B9BBAF-665F-A94F-BA2A-20D526AB5E25}" type="slidenum">
              <a:rPr lang="en-US"/>
              <a:pPr/>
              <a:t>53</a:t>
            </a:fld>
            <a:endParaRPr lang="en-US"/>
          </a:p>
        </p:txBody>
      </p:sp>
      <p:sp>
        <p:nvSpPr>
          <p:cNvPr id="3676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67619" name="Rectangle 3"/>
          <p:cNvSpPr>
            <a:spLocks noGrp="1" noChangeArrowheads="1"/>
          </p:cNvSpPr>
          <p:nvPr>
            <p:ph type="body" idx="1"/>
          </p:nvPr>
        </p:nvSpPr>
        <p:spPr/>
        <p:txBody>
          <a:bodyPr/>
          <a:lstStyle/>
          <a:p>
            <a:r>
              <a:rPr lang="en-US" dirty="0"/>
              <a:t>The correct answer is b.</a:t>
            </a:r>
          </a:p>
          <a:p>
            <a:r>
              <a:rPr lang="en-US" dirty="0"/>
              <a:t>64.9% = (85.0 g PF</a:t>
            </a:r>
            <a:r>
              <a:rPr lang="en-US" baseline="-25000" dirty="0"/>
              <a:t>3</a:t>
            </a:r>
            <a:r>
              <a:rPr lang="en-US" dirty="0"/>
              <a:t> / x)(100); x = 130.97 g PF</a:t>
            </a:r>
            <a:r>
              <a:rPr lang="en-US" baseline="-25000" dirty="0"/>
              <a:t>3</a:t>
            </a:r>
            <a:endParaRPr lang="en-US" dirty="0"/>
          </a:p>
          <a:p>
            <a:r>
              <a:rPr lang="en-US" dirty="0"/>
              <a:t>(130.97 g PF</a:t>
            </a:r>
            <a:r>
              <a:rPr lang="en-US" baseline="-25000" dirty="0"/>
              <a:t>3</a:t>
            </a:r>
            <a:r>
              <a:rPr lang="en-US" dirty="0"/>
              <a:t>)(1 </a:t>
            </a:r>
            <a:r>
              <a:rPr lang="en-US" dirty="0" err="1"/>
              <a:t>mol</a:t>
            </a:r>
            <a:r>
              <a:rPr lang="en-US" dirty="0"/>
              <a:t> PF</a:t>
            </a:r>
            <a:r>
              <a:rPr lang="en-US" baseline="-25000" dirty="0"/>
              <a:t>3</a:t>
            </a:r>
            <a:r>
              <a:rPr lang="en-US" dirty="0"/>
              <a:t> / 87.97 g PF</a:t>
            </a:r>
            <a:r>
              <a:rPr lang="en-US" baseline="-25000" dirty="0"/>
              <a:t>3</a:t>
            </a:r>
            <a:r>
              <a:rPr lang="en-US" dirty="0"/>
              <a:t>)(1 </a:t>
            </a:r>
            <a:r>
              <a:rPr lang="en-US" dirty="0" err="1"/>
              <a:t>mol</a:t>
            </a:r>
            <a:r>
              <a:rPr lang="en-US" dirty="0"/>
              <a:t> P</a:t>
            </a:r>
            <a:r>
              <a:rPr lang="en-US" baseline="-25000" dirty="0"/>
              <a:t>4</a:t>
            </a:r>
            <a:r>
              <a:rPr lang="en-US" dirty="0"/>
              <a:t> / 4 </a:t>
            </a:r>
            <a:r>
              <a:rPr lang="en-US" dirty="0" err="1"/>
              <a:t>mol</a:t>
            </a:r>
            <a:r>
              <a:rPr lang="en-US" dirty="0"/>
              <a:t> PF</a:t>
            </a:r>
            <a:r>
              <a:rPr lang="en-US" baseline="-25000" dirty="0"/>
              <a:t>3</a:t>
            </a:r>
            <a:r>
              <a:rPr lang="en-US" dirty="0"/>
              <a:t>)(123.88 g P</a:t>
            </a:r>
            <a:r>
              <a:rPr lang="en-US" baseline="-25000" dirty="0"/>
              <a:t>4</a:t>
            </a:r>
            <a:r>
              <a:rPr lang="en-US" dirty="0"/>
              <a:t> / 1 </a:t>
            </a:r>
            <a:r>
              <a:rPr lang="en-US" dirty="0" err="1"/>
              <a:t>mol</a:t>
            </a:r>
            <a:r>
              <a:rPr lang="en-US" dirty="0"/>
              <a:t> P</a:t>
            </a:r>
            <a:r>
              <a:rPr lang="en-US" baseline="-25000" dirty="0"/>
              <a:t>4</a:t>
            </a:r>
            <a:r>
              <a:rPr lang="en-US" dirty="0"/>
              <a:t>) = 46.1 g of P</a:t>
            </a:r>
            <a:r>
              <a:rPr lang="en-US" baseline="-25000" dirty="0"/>
              <a:t>4</a:t>
            </a:r>
            <a:endParaRPr lang="en-US" dirty="0"/>
          </a:p>
        </p:txBody>
      </p:sp>
    </p:spTree>
    <p:extLst>
      <p:ext uri="{BB962C8B-B14F-4D97-AF65-F5344CB8AC3E}">
        <p14:creationId xmlns:p14="http://schemas.microsoft.com/office/powerpoint/2010/main" val="23258897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9467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marL="742950" indent="-285750">
              <a:defRPr lang="en-US" sz="2200" dirty="0" smtClean="0">
                <a:solidFill>
                  <a:schemeClr val="tx1"/>
                </a:solidFill>
                <a:latin typeface="+mn-lt"/>
                <a:ea typeface="+mn-ea"/>
              </a:defRPr>
            </a:lvl2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69362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06665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1282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6025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1439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397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00849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31706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7552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8002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3436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marL="742950" indent="-285750">
              <a:defRPr lang="en-US" sz="2200" dirty="0" smtClean="0">
                <a:solidFill>
                  <a:schemeClr val="tx1"/>
                </a:solidFill>
                <a:latin typeface="+mn-lt"/>
                <a:ea typeface="+mn-ea"/>
              </a:defRPr>
            </a:lvl2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51163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084287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94870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95585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011683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3017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731574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685794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5177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7089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533400"/>
          </a:xfrm>
        </p:spPr>
        <p:txBody>
          <a:bodyPr/>
          <a:lstStyle/>
          <a:p>
            <a:r>
              <a:rPr lang="en-US"/>
              <a:t>Click to edit Master title style</a:t>
            </a:r>
          </a:p>
        </p:txBody>
      </p:sp>
      <p:sp>
        <p:nvSpPr>
          <p:cNvPr id="3" name="Text Placeholder 2"/>
          <p:cNvSpPr>
            <a:spLocks noGrp="1"/>
          </p:cNvSpPr>
          <p:nvPr>
            <p:ph type="body" sz="half" idx="1"/>
          </p:nvPr>
        </p:nvSpPr>
        <p:spPr>
          <a:xfrm>
            <a:off x="457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14426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31363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marL="742950" indent="-285750">
              <a:defRPr lang="en-US" sz="2200" dirty="0" smtClean="0">
                <a:solidFill>
                  <a:schemeClr val="tx1"/>
                </a:solidFill>
                <a:latin typeface="+mn-lt"/>
                <a:ea typeface="+mn-ea"/>
              </a:defRPr>
            </a:lvl2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41993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442916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07819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58897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40989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8878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56959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552900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13448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76537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88552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marL="742950" indent="-285750">
              <a:defRPr lang="en-US" sz="2200" dirty="0" smtClean="0">
                <a:solidFill>
                  <a:schemeClr val="tx1"/>
                </a:solidFill>
                <a:latin typeface="+mn-lt"/>
                <a:ea typeface="+mn-ea"/>
              </a:defRPr>
            </a:lvl2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065921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609532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98783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24701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243650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20656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207789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17838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57145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28032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33318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marL="742950" indent="-285750">
              <a:defRPr lang="en-US" sz="2200" dirty="0" smtClean="0">
                <a:solidFill>
                  <a:schemeClr val="tx1"/>
                </a:solidFill>
                <a:latin typeface="+mn-lt"/>
                <a:ea typeface="+mn-ea"/>
              </a:defRPr>
            </a:lvl2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01706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447153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49263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42168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580486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49962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734297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573411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71048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43392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8" name="Picture 7" descr="covercropp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533400"/>
            <a:ext cx="4114800" cy="5486400"/>
          </a:xfrm>
          <a:prstGeom prst="rect">
            <a:avLst/>
          </a:prstGeom>
        </p:spPr>
      </p:pic>
      <p:pic>
        <p:nvPicPr>
          <p:cNvPr id="6" name="Picture 13" descr="BrooksCole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385390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marL="742950" indent="-285750">
              <a:defRPr lang="en-US" sz="2200" dirty="0" smtClean="0">
                <a:solidFill>
                  <a:schemeClr val="tx1"/>
                </a:solidFill>
                <a:latin typeface="+mn-lt"/>
                <a:ea typeface="+mn-ea"/>
              </a:defRPr>
            </a:lvl2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073350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004654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271391"/>
          </a:xfrm>
        </p:spPr>
        <p:txBody>
          <a:bodyPr/>
          <a:lstStyle>
            <a:lvl1pPr>
              <a:defRPr sz="2400"/>
            </a:lvl1pPr>
            <a:lvl2pPr marL="742950" indent="-285750">
              <a:defRPr lang="en-US" sz="2200" dirty="0" smtClean="0">
                <a:solidFill>
                  <a:schemeClr val="tx1"/>
                </a:solidFill>
                <a:latin typeface="+mn-lt"/>
                <a:ea typeface="+mn-ea"/>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752600"/>
            <a:ext cx="4038600" cy="2308324"/>
          </a:xfrm>
        </p:spPr>
        <p:txBody>
          <a:bodyPr/>
          <a:lstStyle>
            <a:lvl1pPr>
              <a:defRPr sz="2400"/>
            </a:lvl1pPr>
            <a:lvl2pPr marL="742950" indent="-285750">
              <a:defRPr lang="en-US" sz="2200" dirty="0" smtClean="0">
                <a:solidFill>
                  <a:schemeClr val="tx1"/>
                </a:solidFill>
                <a:latin typeface="+mn-lt"/>
                <a:ea typeface="+mn-ea"/>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695331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06571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630995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3024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143297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0870645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057651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10433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533400"/>
          </a:xfrm>
        </p:spPr>
        <p:txBody>
          <a:bodyPr/>
          <a:lstStyle/>
          <a:p>
            <a:r>
              <a:rPr lang="en-US"/>
              <a:t>Click to edit Master title style</a:t>
            </a:r>
          </a:p>
        </p:txBody>
      </p:sp>
      <p:sp>
        <p:nvSpPr>
          <p:cNvPr id="3" name="Text Placeholder 2"/>
          <p:cNvSpPr>
            <a:spLocks noGrp="1"/>
          </p:cNvSpPr>
          <p:nvPr>
            <p:ph type="body" sz="half" idx="1"/>
          </p:nvPr>
        </p:nvSpPr>
        <p:spPr>
          <a:xfrm>
            <a:off x="457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83634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21902" name="Rectangle 14"/>
          <p:cNvSpPr>
            <a:spLocks noChangeArrowheads="1"/>
          </p:cNvSpPr>
          <p:nvPr userDrawn="1"/>
        </p:nvSpPr>
        <p:spPr bwMode="auto">
          <a:xfrm>
            <a:off x="1" y="1981200"/>
            <a:ext cx="9144000" cy="2528888"/>
          </a:xfrm>
          <a:prstGeom prst="rect">
            <a:avLst/>
          </a:prstGeom>
          <a:solidFill>
            <a:srgbClr val="518C26"/>
          </a:solidFill>
          <a:ln w="9525">
            <a:noFill/>
            <a:miter lim="800000"/>
            <a:headEnd/>
            <a:tailEnd/>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421903" name="Rectangle 15"/>
          <p:cNvSpPr>
            <a:spLocks noGrp="1" noChangeArrowheads="1"/>
          </p:cNvSpPr>
          <p:nvPr>
            <p:ph type="ctrTitle"/>
          </p:nvPr>
        </p:nvSpPr>
        <p:spPr>
          <a:xfrm>
            <a:off x="4876800" y="2133600"/>
            <a:ext cx="3886200" cy="914400"/>
          </a:xfrm>
        </p:spPr>
        <p:txBody>
          <a:bodyPr/>
          <a:lstStyle>
            <a:lvl1pPr algn="ctr">
              <a:defRPr>
                <a:solidFill>
                  <a:schemeClr val="bg1"/>
                </a:solidFill>
              </a:defRPr>
            </a:lvl1pPr>
          </a:lstStyle>
          <a:p>
            <a:pPr lvl="0"/>
            <a:r>
              <a:rPr lang="en-US" noProof="0"/>
              <a:t>Click to edit Master title style</a:t>
            </a:r>
          </a:p>
        </p:txBody>
      </p:sp>
      <p:sp>
        <p:nvSpPr>
          <p:cNvPr id="421904" name="Rectangle 16"/>
          <p:cNvSpPr>
            <a:spLocks noGrp="1" noChangeArrowheads="1"/>
          </p:cNvSpPr>
          <p:nvPr>
            <p:ph type="subTitle" idx="1"/>
          </p:nvPr>
        </p:nvSpPr>
        <p:spPr>
          <a:xfrm>
            <a:off x="5257800" y="3276600"/>
            <a:ext cx="3200400" cy="822325"/>
          </a:xfrm>
        </p:spPr>
        <p:txBody>
          <a:bodyPr/>
          <a:lstStyle>
            <a:lvl1pPr marL="0" indent="0" algn="ctr">
              <a:buFontTx/>
              <a:buNone/>
              <a:defRPr>
                <a:solidFill>
                  <a:schemeClr val="bg1"/>
                </a:solidFill>
              </a:defRPr>
            </a:lvl1pPr>
          </a:lstStyle>
          <a:p>
            <a:pPr lvl="0"/>
            <a:r>
              <a:rPr lang="en-US" noProof="0"/>
              <a:t>Click to edit Master subtitle style</a:t>
            </a:r>
          </a:p>
        </p:txBody>
      </p:sp>
      <p:pic>
        <p:nvPicPr>
          <p:cNvPr id="6" name="Picture 13" descr="BrooksCole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00999" y="6388390"/>
            <a:ext cx="1141413" cy="469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AE5F91A9-ADD7-40C4-B8E1-EF3CE42ADAAF}"/>
              </a:ext>
            </a:extLst>
          </p:cNvPr>
          <p:cNvPicPr>
            <a:picLocks noChangeAspect="1"/>
          </p:cNvPicPr>
          <p:nvPr userDrawn="1"/>
        </p:nvPicPr>
        <p:blipFill>
          <a:blip r:embed="rId3"/>
          <a:stretch>
            <a:fillRect/>
          </a:stretch>
        </p:blipFill>
        <p:spPr>
          <a:xfrm>
            <a:off x="380999" y="533400"/>
            <a:ext cx="4239491" cy="5486400"/>
          </a:xfrm>
          <a:prstGeom prst="rect">
            <a:avLst/>
          </a:prstGeom>
        </p:spPr>
      </p:pic>
    </p:spTree>
    <p:extLst>
      <p:ext uri="{BB962C8B-B14F-4D97-AF65-F5344CB8AC3E}">
        <p14:creationId xmlns:p14="http://schemas.microsoft.com/office/powerpoint/2010/main" val="12613935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marL="914400" indent="-457200">
              <a:defRPr lang="en-US" sz="2200" dirty="0" smtClean="0">
                <a:solidFill>
                  <a:schemeClr val="tx1"/>
                </a:solidFill>
                <a:latin typeface="+mn-lt"/>
                <a:ea typeface="+mn-ea"/>
              </a:defRPr>
            </a:lvl2p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48970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68916135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4038600" cy="2027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68479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38817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7353046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52607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3632552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3625648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788796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43000"/>
            <a:ext cx="2057400" cy="2636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019800" cy="263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9110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jp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jp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1.jp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image" Target="../media/image1.jp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9.1</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Information Given by Chemical Equations</a:t>
            </a:r>
            <a:endParaRPr lang="en-US" sz="26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2"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dirty="0">
              <a:solidFill>
                <a:srgbClr val="000000"/>
              </a:solidFill>
            </a:endParaRPr>
          </a:p>
        </p:txBody>
      </p:sp>
    </p:spTree>
    <p:extLst>
      <p:ext uri="{BB962C8B-B14F-4D97-AF65-F5344CB8AC3E}">
        <p14:creationId xmlns:p14="http://schemas.microsoft.com/office/powerpoint/2010/main" val="18232135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lang="en-US" sz="2200" dirty="0" smtClean="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270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200" dirty="0">
                <a:solidFill>
                  <a:srgbClr val="6F662E"/>
                </a:solidFill>
                <a:latin typeface="Arial" charset="0"/>
                <a:ea typeface="ＭＳ Ｐゴシック" charset="0"/>
              </a:rPr>
              <a:t>Section 9.3</a:t>
            </a:r>
          </a:p>
        </p:txBody>
      </p:sp>
      <p:sp>
        <p:nvSpPr>
          <p:cNvPr id="1040" name="Text Box 16"/>
          <p:cNvSpPr txBox="1">
            <a:spLocks noChangeArrowheads="1"/>
          </p:cNvSpPr>
          <p:nvPr userDrawn="1"/>
        </p:nvSpPr>
        <p:spPr bwMode="auto">
          <a:xfrm>
            <a:off x="457200" y="492123"/>
            <a:ext cx="86868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400" b="1" dirty="0">
                <a:solidFill>
                  <a:srgbClr val="FFFFFF"/>
                </a:solidFill>
                <a:latin typeface="Arial" charset="0"/>
                <a:ea typeface="ＭＳ Ｐゴシック" charset="0"/>
                <a:cs typeface="Times New Roman" charset="0"/>
              </a:rPr>
              <a:t>Mass Calculations</a:t>
            </a:r>
            <a:endParaRPr lang="en-US" sz="24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2"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a:solidFill>
                <a:srgbClr val="000000"/>
              </a:solidFill>
            </a:endParaRPr>
          </a:p>
        </p:txBody>
      </p:sp>
    </p:spTree>
    <p:extLst>
      <p:ext uri="{BB962C8B-B14F-4D97-AF65-F5344CB8AC3E}">
        <p14:creationId xmlns:p14="http://schemas.microsoft.com/office/powerpoint/2010/main" val="250058742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sldNum="0" hdr="0" ft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lang="en-US" sz="2200" dirty="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270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200" dirty="0">
                <a:solidFill>
                  <a:srgbClr val="6F662E"/>
                </a:solidFill>
                <a:latin typeface="Arial" charset="0"/>
                <a:ea typeface="ＭＳ Ｐゴシック" charset="0"/>
              </a:rPr>
              <a:t>Section 9.4</a:t>
            </a:r>
          </a:p>
        </p:txBody>
      </p:sp>
      <p:sp>
        <p:nvSpPr>
          <p:cNvPr id="1040" name="Text Box 16"/>
          <p:cNvSpPr txBox="1">
            <a:spLocks noChangeArrowheads="1"/>
          </p:cNvSpPr>
          <p:nvPr userDrawn="1"/>
        </p:nvSpPr>
        <p:spPr bwMode="auto">
          <a:xfrm>
            <a:off x="457200" y="492123"/>
            <a:ext cx="86868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400" b="1" dirty="0">
                <a:solidFill>
                  <a:srgbClr val="FFFFFF"/>
                </a:solidFill>
                <a:latin typeface="Arial" charset="0"/>
                <a:ea typeface="ＭＳ Ｐゴシック" charset="0"/>
                <a:cs typeface="Times New Roman" charset="0"/>
              </a:rPr>
              <a:t>The Concept of Limiting Reactants</a:t>
            </a:r>
            <a:endParaRPr lang="en-US" sz="24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2"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a:solidFill>
                <a:srgbClr val="000000"/>
              </a:solidFill>
            </a:endParaRPr>
          </a:p>
        </p:txBody>
      </p:sp>
    </p:spTree>
    <p:extLst>
      <p:ext uri="{BB962C8B-B14F-4D97-AF65-F5344CB8AC3E}">
        <p14:creationId xmlns:p14="http://schemas.microsoft.com/office/powerpoint/2010/main" val="2809563841"/>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sldNum="0" hdr="0" ft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lang="en-US" sz="2200" dirty="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270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200" dirty="0">
                <a:solidFill>
                  <a:srgbClr val="6F662E"/>
                </a:solidFill>
                <a:latin typeface="Arial" charset="0"/>
                <a:ea typeface="ＭＳ Ｐゴシック" charset="0"/>
              </a:rPr>
              <a:t>Section 9.5</a:t>
            </a:r>
          </a:p>
        </p:txBody>
      </p:sp>
      <p:sp>
        <p:nvSpPr>
          <p:cNvPr id="1040" name="Text Box 16"/>
          <p:cNvSpPr txBox="1">
            <a:spLocks noChangeArrowheads="1"/>
          </p:cNvSpPr>
          <p:nvPr userDrawn="1"/>
        </p:nvSpPr>
        <p:spPr bwMode="auto">
          <a:xfrm>
            <a:off x="457200" y="492123"/>
            <a:ext cx="86868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400" b="1" dirty="0">
                <a:solidFill>
                  <a:srgbClr val="FFFFFF"/>
                </a:solidFill>
                <a:latin typeface="Arial" charset="0"/>
                <a:ea typeface="ＭＳ Ｐゴシック" charset="0"/>
                <a:cs typeface="Times New Roman" charset="0"/>
              </a:rPr>
              <a:t>Calculations Involving a Limiting Reactant</a:t>
            </a:r>
            <a:endParaRPr lang="en-US" sz="24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2"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a:solidFill>
                <a:srgbClr val="000000"/>
              </a:solidFill>
            </a:endParaRPr>
          </a:p>
        </p:txBody>
      </p:sp>
    </p:spTree>
    <p:extLst>
      <p:ext uri="{BB962C8B-B14F-4D97-AF65-F5344CB8AC3E}">
        <p14:creationId xmlns:p14="http://schemas.microsoft.com/office/powerpoint/2010/main" val="3044624467"/>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sldNum="0" hdr="0" ft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lang="en-US" sz="2200" dirty="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270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200" dirty="0">
                <a:solidFill>
                  <a:srgbClr val="6F662E"/>
                </a:solidFill>
                <a:latin typeface="Arial" charset="0"/>
                <a:ea typeface="ＭＳ Ｐゴシック" charset="0"/>
              </a:rPr>
              <a:t>Section 9.6</a:t>
            </a:r>
          </a:p>
        </p:txBody>
      </p:sp>
      <p:sp>
        <p:nvSpPr>
          <p:cNvPr id="1040" name="Text Box 16"/>
          <p:cNvSpPr txBox="1">
            <a:spLocks noChangeArrowheads="1"/>
          </p:cNvSpPr>
          <p:nvPr userDrawn="1"/>
        </p:nvSpPr>
        <p:spPr bwMode="auto">
          <a:xfrm>
            <a:off x="457200" y="492123"/>
            <a:ext cx="86868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400" b="1" dirty="0">
                <a:solidFill>
                  <a:srgbClr val="FFFFFF"/>
                </a:solidFill>
                <a:latin typeface="Arial" charset="0"/>
                <a:ea typeface="ＭＳ Ｐゴシック" charset="0"/>
                <a:cs typeface="Times New Roman" charset="0"/>
              </a:rPr>
              <a:t>Percent Yield</a:t>
            </a:r>
            <a:endParaRPr lang="en-US" sz="24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2"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a:solidFill>
                <a:srgbClr val="000000"/>
              </a:solidFill>
            </a:endParaRPr>
          </a:p>
        </p:txBody>
      </p:sp>
    </p:spTree>
    <p:extLst>
      <p:ext uri="{BB962C8B-B14F-4D97-AF65-F5344CB8AC3E}">
        <p14:creationId xmlns:p14="http://schemas.microsoft.com/office/powerpoint/2010/main" val="588465544"/>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lang="en-US" sz="2200" dirty="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marL="742950" lvl="1" indent="-285750" algn="l" rtl="0" fontAlgn="base">
              <a:spcBef>
                <a:spcPct val="20000"/>
              </a:spcBef>
              <a:spcAft>
                <a:spcPct val="0"/>
              </a:spcAft>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270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200" dirty="0">
                <a:solidFill>
                  <a:srgbClr val="6F662E"/>
                </a:solidFill>
                <a:latin typeface="Arial" charset="0"/>
                <a:ea typeface="ＭＳ Ｐゴシック" charset="0"/>
              </a:rPr>
              <a:t>Section 9.2</a:t>
            </a:r>
          </a:p>
        </p:txBody>
      </p:sp>
      <p:sp>
        <p:nvSpPr>
          <p:cNvPr id="1040" name="Text Box 16"/>
          <p:cNvSpPr txBox="1">
            <a:spLocks noChangeArrowheads="1"/>
          </p:cNvSpPr>
          <p:nvPr userDrawn="1"/>
        </p:nvSpPr>
        <p:spPr bwMode="auto">
          <a:xfrm>
            <a:off x="457200" y="492123"/>
            <a:ext cx="86868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400" b="1" dirty="0">
                <a:solidFill>
                  <a:srgbClr val="FFFFFF"/>
                </a:solidFill>
                <a:latin typeface="Arial" charset="0"/>
                <a:ea typeface="ＭＳ Ｐゴシック" charset="0"/>
                <a:cs typeface="Times New Roman" charset="0"/>
              </a:rPr>
              <a:t>Mole–Mole Relationships</a:t>
            </a:r>
            <a:endParaRPr lang="en-US" sz="24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2"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a:solidFill>
                <a:srgbClr val="000000"/>
              </a:solidFill>
            </a:endParaRPr>
          </a:p>
        </p:txBody>
      </p:sp>
    </p:spTree>
    <p:extLst>
      <p:ext uri="{BB962C8B-B14F-4D97-AF65-F5344CB8AC3E}">
        <p14:creationId xmlns:p14="http://schemas.microsoft.com/office/powerpoint/2010/main" val="731862091"/>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hf sldNum="0" hdr="0" ft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lang="en-US" sz="2200" dirty="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 name="Rectangle 20"/>
          <p:cNvSpPr>
            <a:spLocks noChangeArrowheads="1"/>
          </p:cNvSpPr>
          <p:nvPr userDrawn="1"/>
        </p:nvSpPr>
        <p:spPr bwMode="auto">
          <a:xfrm>
            <a:off x="0" y="0"/>
            <a:ext cx="457200" cy="515938"/>
          </a:xfrm>
          <a:prstGeom prst="rect">
            <a:avLst/>
          </a:prstGeom>
          <a:solidFill>
            <a:srgbClr val="518C26"/>
          </a:solidFill>
          <a:ln>
            <a:noFill/>
          </a:ln>
          <a:effectLst/>
        </p:spPr>
        <p:txBody>
          <a:bodyPr wrap="none" anchor="ctr"/>
          <a:lstStyle/>
          <a:p>
            <a:pPr algn="ctr" defTabSz="914400" eaLnBrk="0" fontAlgn="base" hangingPunct="0">
              <a:spcBef>
                <a:spcPct val="0"/>
              </a:spcBef>
              <a:spcAft>
                <a:spcPct val="0"/>
              </a:spcAft>
            </a:pPr>
            <a:endParaRPr lang="en-US" sz="2400" baseline="30000">
              <a:solidFill>
                <a:srgbClr val="000000"/>
              </a:solidFill>
              <a:latin typeface="Times" charset="0"/>
              <a:ea typeface="ＭＳ Ｐゴシック" charset="0"/>
            </a:endParaRPr>
          </a:p>
        </p:txBody>
      </p:sp>
      <p:pic>
        <p:nvPicPr>
          <p:cNvPr id="3" name="Picture 2" descr="screenshot_3903.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41324"/>
            <a:ext cx="9144000" cy="566739"/>
          </a:xfrm>
          <a:prstGeom prst="rect">
            <a:avLst/>
          </a:prstGeom>
        </p:spPr>
      </p:pic>
      <p:sp>
        <p:nvSpPr>
          <p:cNvPr id="1045" name="Rectangle 21"/>
          <p:cNvSpPr>
            <a:spLocks noChangeArrowheads="1"/>
          </p:cNvSpPr>
          <p:nvPr userDrawn="1"/>
        </p:nvSpPr>
        <p:spPr bwMode="auto">
          <a:xfrm>
            <a:off x="0" y="6629399"/>
            <a:ext cx="9144000" cy="225425"/>
          </a:xfrm>
          <a:prstGeom prst="rect">
            <a:avLst/>
          </a:prstGeom>
          <a:solidFill>
            <a:srgbClr val="518C26"/>
          </a:solidFill>
          <a:ln>
            <a:noFill/>
          </a:ln>
          <a:effectLst/>
        </p:spPr>
        <p:txBody>
          <a:bodyPr wrap="none" anchor="ctr"/>
          <a:lstStyle/>
          <a:p>
            <a:pPr defTabSz="914400" eaLnBrk="0" fontAlgn="base" hangingPunct="0">
              <a:spcBef>
                <a:spcPct val="0"/>
              </a:spcBef>
              <a:spcAft>
                <a:spcPct val="0"/>
              </a:spcAft>
            </a:pPr>
            <a:endParaRPr lang="en-US" sz="2800" baseline="30000">
              <a:solidFill>
                <a:srgbClr val="000000"/>
              </a:solidFill>
              <a:latin typeface="Times" charset="0"/>
              <a:ea typeface="ＭＳ Ｐゴシック" charset="0"/>
            </a:endParaRPr>
          </a:p>
        </p:txBody>
      </p:sp>
      <p:sp>
        <p:nvSpPr>
          <p:cNvPr id="1026" name="Rectangle 2"/>
          <p:cNvSpPr>
            <a:spLocks noGrp="1" noChangeArrowheads="1"/>
          </p:cNvSpPr>
          <p:nvPr>
            <p:ph type="title"/>
          </p:nvPr>
        </p:nvSpPr>
        <p:spPr bwMode="auto">
          <a:xfrm>
            <a:off x="457200" y="1143000"/>
            <a:ext cx="8229600" cy="53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52600"/>
            <a:ext cx="8229600" cy="1975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pAutoFit/>
          </a:bodyPr>
          <a:lstStyle/>
          <a:p>
            <a:pPr lvl="0"/>
            <a:r>
              <a:rPr lang="en-US" dirty="0"/>
              <a:t>Click to edit Master text styles</a:t>
            </a:r>
          </a:p>
          <a:p>
            <a:pPr marL="742950" lvl="1" indent="-285750" algn="l" rtl="0" fontAlgn="base">
              <a:spcBef>
                <a:spcPct val="20000"/>
              </a:spcBef>
              <a:spcAft>
                <a:spcPct val="0"/>
              </a:spcAft>
              <a:buChar char="–"/>
            </a:pPr>
            <a:r>
              <a:rPr lang="en-US" dirty="0"/>
              <a:t>Second level</a:t>
            </a:r>
          </a:p>
          <a:p>
            <a:pPr lvl="2"/>
            <a:r>
              <a:rPr lang="en-US" dirty="0"/>
              <a:t>Third level</a:t>
            </a:r>
          </a:p>
          <a:p>
            <a:pPr lvl="3"/>
            <a:r>
              <a:rPr lang="en-US" dirty="0"/>
              <a:t>Fourth level</a:t>
            </a:r>
          </a:p>
          <a:p>
            <a:pPr lvl="4"/>
            <a:r>
              <a:rPr lang="en-US" dirty="0"/>
              <a:t>Fifth level</a:t>
            </a:r>
          </a:p>
        </p:txBody>
      </p:sp>
      <p:sp>
        <p:nvSpPr>
          <p:cNvPr id="1037" name="Text Box 13"/>
          <p:cNvSpPr txBox="1">
            <a:spLocks noChangeArrowheads="1"/>
          </p:cNvSpPr>
          <p:nvPr userDrawn="1"/>
        </p:nvSpPr>
        <p:spPr bwMode="auto">
          <a:xfrm>
            <a:off x="457200" y="30163"/>
            <a:ext cx="2606675"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dirty="0">
                <a:solidFill>
                  <a:srgbClr val="6F662E"/>
                </a:solidFill>
                <a:latin typeface="Arial" charset="0"/>
                <a:ea typeface="ＭＳ Ｐゴシック" charset="0"/>
              </a:rPr>
              <a:t>Section 9.1</a:t>
            </a:r>
          </a:p>
        </p:txBody>
      </p:sp>
      <p:sp>
        <p:nvSpPr>
          <p:cNvPr id="1040" name="Text Box 16"/>
          <p:cNvSpPr txBox="1">
            <a:spLocks noChangeArrowheads="1"/>
          </p:cNvSpPr>
          <p:nvPr userDrawn="1"/>
        </p:nvSpPr>
        <p:spPr bwMode="auto">
          <a:xfrm>
            <a:off x="457200" y="492123"/>
            <a:ext cx="868680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defTabSz="914400" eaLnBrk="0" fontAlgn="base" hangingPunct="0">
              <a:spcBef>
                <a:spcPct val="0"/>
              </a:spcBef>
              <a:spcAft>
                <a:spcPct val="0"/>
              </a:spcAft>
            </a:pPr>
            <a:r>
              <a:rPr lang="en-US" sz="2600" b="1" dirty="0">
                <a:solidFill>
                  <a:srgbClr val="FFFFFF"/>
                </a:solidFill>
                <a:latin typeface="Arial" charset="0"/>
                <a:ea typeface="ＭＳ Ｐゴシック" charset="0"/>
                <a:cs typeface="Times New Roman" charset="0"/>
              </a:rPr>
              <a:t>Information Given by Chemical Equations</a:t>
            </a:r>
            <a:endParaRPr lang="en-US" sz="2600" b="1" dirty="0">
              <a:solidFill>
                <a:srgbClr val="FFFFFF"/>
              </a:solidFill>
              <a:latin typeface="Arial" charset="0"/>
              <a:ea typeface="ＭＳ Ｐゴシック" charset="0"/>
            </a:endParaRPr>
          </a:p>
        </p:txBody>
      </p:sp>
      <p:sp>
        <p:nvSpPr>
          <p:cNvPr id="11" name="TextBox 10"/>
          <p:cNvSpPr txBox="1"/>
          <p:nvPr userDrawn="1"/>
        </p:nvSpPr>
        <p:spPr>
          <a:xfrm>
            <a:off x="136634" y="6627022"/>
            <a:ext cx="8610600" cy="246221"/>
          </a:xfrm>
          <a:prstGeom prst="rect">
            <a:avLst/>
          </a:prstGeom>
          <a:noFill/>
        </p:spPr>
        <p:txBody>
          <a:bodyPr wrap="square" rtlCol="0">
            <a:spAutoFit/>
          </a:bodyPr>
          <a:lstStyle/>
          <a:p>
            <a:r>
              <a:rPr lang="en-US" sz="1000" kern="1200" dirty="0">
                <a:solidFill>
                  <a:srgbClr val="000000"/>
                </a:solidFill>
                <a:effectLst/>
                <a:latin typeface="Arial Narrow" panose="020B0606020202030204" pitchFamily="34" charset="0"/>
                <a:ea typeface="+mn-ea"/>
                <a:cs typeface="+mn-cs"/>
              </a:rPr>
              <a:t>Copyright ©2019 Cengage Learning. All Rights Reserved. May not be scanned, copied or duplicated, or posted to a publicly accessible website, in whole or in part.</a:t>
            </a:r>
            <a:endParaRPr lang="en-IN" sz="1000" dirty="0">
              <a:solidFill>
                <a:srgbClr val="000000"/>
              </a:solidFill>
              <a:latin typeface="Arial Narrow" panose="020B0606020202030204" pitchFamily="34" charset="0"/>
            </a:endParaRPr>
          </a:p>
        </p:txBody>
      </p:sp>
      <p:sp>
        <p:nvSpPr>
          <p:cNvPr id="12" name="Text Box 11"/>
          <p:cNvSpPr txBox="1">
            <a:spLocks noChangeArrowheads="1"/>
          </p:cNvSpPr>
          <p:nvPr userDrawn="1"/>
        </p:nvSpPr>
        <p:spPr bwMode="auto">
          <a:xfrm>
            <a:off x="8163339" y="6600110"/>
            <a:ext cx="904461" cy="24622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0" fontAlgn="base" hangingPunct="0">
              <a:spcBef>
                <a:spcPct val="50000"/>
              </a:spcBef>
              <a:spcAft>
                <a:spcPct val="0"/>
              </a:spcAft>
              <a:defRPr/>
            </a:pPr>
            <a:fld id="{0560D76E-58DE-BB48-A856-DF00B2B61D6F}" type="slidenum">
              <a:rPr lang="en-US" sz="1000" smtClean="0">
                <a:solidFill>
                  <a:srgbClr val="000000"/>
                </a:solidFill>
              </a:rPr>
              <a:pPr algn="r" defTabSz="914400" eaLnBrk="0" fontAlgn="base" hangingPunct="0">
                <a:spcBef>
                  <a:spcPct val="50000"/>
                </a:spcBef>
                <a:spcAft>
                  <a:spcPct val="0"/>
                </a:spcAft>
                <a:defRPr/>
              </a:pPr>
              <a:t>‹#›</a:t>
            </a:fld>
            <a:endParaRPr lang="en-US" sz="1400">
              <a:solidFill>
                <a:srgbClr val="000000"/>
              </a:solidFill>
            </a:endParaRPr>
          </a:p>
        </p:txBody>
      </p:sp>
    </p:spTree>
    <p:extLst>
      <p:ext uri="{BB962C8B-B14F-4D97-AF65-F5344CB8AC3E}">
        <p14:creationId xmlns:p14="http://schemas.microsoft.com/office/powerpoint/2010/main" val="1726585451"/>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sldNum="0" hdr="0" ftr="0" dt="0"/>
  <p:txStyles>
    <p:titleStyle>
      <a:lvl1pPr algn="l" rtl="0" fontAlgn="base">
        <a:spcBef>
          <a:spcPct val="0"/>
        </a:spcBef>
        <a:spcAft>
          <a:spcPct val="0"/>
        </a:spcAft>
        <a:defRPr sz="2600" b="1">
          <a:solidFill>
            <a:srgbClr val="6F662E"/>
          </a:solidFill>
          <a:latin typeface="+mj-lt"/>
          <a:ea typeface="+mj-ea"/>
          <a:cs typeface="+mj-cs"/>
        </a:defRPr>
      </a:lvl1pPr>
      <a:lvl2pPr algn="l" rtl="0" fontAlgn="base">
        <a:spcBef>
          <a:spcPct val="0"/>
        </a:spcBef>
        <a:spcAft>
          <a:spcPct val="0"/>
        </a:spcAft>
        <a:defRPr sz="2400" b="1">
          <a:solidFill>
            <a:srgbClr val="991B1E"/>
          </a:solidFill>
          <a:latin typeface="Arial" charset="0"/>
          <a:ea typeface="ＭＳ Ｐゴシック" charset="0"/>
        </a:defRPr>
      </a:lvl2pPr>
      <a:lvl3pPr algn="l" rtl="0" fontAlgn="base">
        <a:spcBef>
          <a:spcPct val="0"/>
        </a:spcBef>
        <a:spcAft>
          <a:spcPct val="0"/>
        </a:spcAft>
        <a:defRPr sz="2400" b="1">
          <a:solidFill>
            <a:srgbClr val="991B1E"/>
          </a:solidFill>
          <a:latin typeface="Arial" charset="0"/>
          <a:ea typeface="ＭＳ Ｐゴシック" charset="0"/>
        </a:defRPr>
      </a:lvl3pPr>
      <a:lvl4pPr algn="l" rtl="0" fontAlgn="base">
        <a:spcBef>
          <a:spcPct val="0"/>
        </a:spcBef>
        <a:spcAft>
          <a:spcPct val="0"/>
        </a:spcAft>
        <a:defRPr sz="2400" b="1">
          <a:solidFill>
            <a:srgbClr val="991B1E"/>
          </a:solidFill>
          <a:latin typeface="Arial" charset="0"/>
          <a:ea typeface="ＭＳ Ｐゴシック" charset="0"/>
        </a:defRPr>
      </a:lvl4pPr>
      <a:lvl5pPr algn="l" rtl="0" fontAlgn="base">
        <a:spcBef>
          <a:spcPct val="0"/>
        </a:spcBef>
        <a:spcAft>
          <a:spcPct val="0"/>
        </a:spcAft>
        <a:defRPr sz="2400" b="1">
          <a:solidFill>
            <a:srgbClr val="991B1E"/>
          </a:solidFill>
          <a:latin typeface="Arial" charset="0"/>
          <a:ea typeface="ＭＳ Ｐゴシック" charset="0"/>
        </a:defRPr>
      </a:lvl5pPr>
      <a:lvl6pPr marL="457200" algn="l" rtl="0" fontAlgn="base">
        <a:spcBef>
          <a:spcPct val="0"/>
        </a:spcBef>
        <a:spcAft>
          <a:spcPct val="0"/>
        </a:spcAft>
        <a:defRPr sz="2400" b="1">
          <a:solidFill>
            <a:srgbClr val="991B1E"/>
          </a:solidFill>
          <a:latin typeface="Arial" charset="0"/>
          <a:ea typeface="ＭＳ Ｐゴシック" charset="0"/>
        </a:defRPr>
      </a:lvl6pPr>
      <a:lvl7pPr marL="914400" algn="l" rtl="0" fontAlgn="base">
        <a:spcBef>
          <a:spcPct val="0"/>
        </a:spcBef>
        <a:spcAft>
          <a:spcPct val="0"/>
        </a:spcAft>
        <a:defRPr sz="2400" b="1">
          <a:solidFill>
            <a:srgbClr val="991B1E"/>
          </a:solidFill>
          <a:latin typeface="Arial" charset="0"/>
          <a:ea typeface="ＭＳ Ｐゴシック" charset="0"/>
        </a:defRPr>
      </a:lvl7pPr>
      <a:lvl8pPr marL="1371600" algn="l" rtl="0" fontAlgn="base">
        <a:spcBef>
          <a:spcPct val="0"/>
        </a:spcBef>
        <a:spcAft>
          <a:spcPct val="0"/>
        </a:spcAft>
        <a:defRPr sz="2400" b="1">
          <a:solidFill>
            <a:srgbClr val="991B1E"/>
          </a:solidFill>
          <a:latin typeface="Arial" charset="0"/>
          <a:ea typeface="ＭＳ Ｐゴシック" charset="0"/>
        </a:defRPr>
      </a:lvl8pPr>
      <a:lvl9pPr marL="1828800" algn="l" rtl="0" fontAlgn="base">
        <a:spcBef>
          <a:spcPct val="0"/>
        </a:spcBef>
        <a:spcAft>
          <a:spcPct val="0"/>
        </a:spcAft>
        <a:defRPr sz="2400" b="1">
          <a:solidFill>
            <a:srgbClr val="991B1E"/>
          </a:solidFill>
          <a:latin typeface="Arial" charset="0"/>
          <a:ea typeface="ＭＳ Ｐゴシック" charset="0"/>
        </a:defRPr>
      </a:lvl9pPr>
    </p:titleStyle>
    <p:bodyStyle>
      <a:lvl1pPr marL="342900" indent="-342900" algn="l" rtl="0" fontAlgn="base">
        <a:spcBef>
          <a:spcPct val="20000"/>
        </a:spcBef>
        <a:spcAft>
          <a:spcPct val="0"/>
        </a:spcAft>
        <a:buChar char="•"/>
        <a:defRPr sz="2400">
          <a:solidFill>
            <a:schemeClr val="tx1"/>
          </a:solidFill>
          <a:latin typeface="+mn-lt"/>
          <a:ea typeface="+mn-ea"/>
          <a:cs typeface="+mn-cs"/>
        </a:defRPr>
      </a:lvl1pPr>
      <a:lvl2pPr marL="914400" indent="-457200" algn="l" rtl="0" fontAlgn="base">
        <a:spcBef>
          <a:spcPct val="20000"/>
        </a:spcBef>
        <a:spcAft>
          <a:spcPct val="0"/>
        </a:spcAft>
        <a:buFont typeface="Arial" panose="020B0604020202020204" pitchFamily="34" charset="0"/>
        <a:buChar char="•"/>
        <a:defRPr lang="en-US" sz="2200" dirty="0">
          <a:solidFill>
            <a:schemeClr val="tx1"/>
          </a:solidFill>
          <a:latin typeface="+mn-lt"/>
          <a:ea typeface="+mn-ea"/>
        </a:defRPr>
      </a:lvl2pPr>
      <a:lvl3pPr marL="1143000" indent="-228600" algn="l" rtl="0" fontAlgn="base">
        <a:spcBef>
          <a:spcPct val="20000"/>
        </a:spcBef>
        <a:spcAft>
          <a:spcPct val="0"/>
        </a:spcAft>
        <a:buChar char="•"/>
        <a:defRPr sz="20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9.xml"/><Relationship Id="rId7" Type="http://schemas.openxmlformats.org/officeDocument/2006/relationships/image" Target="../media/image7.emf"/><Relationship Id="rId2" Type="http://schemas.openxmlformats.org/officeDocument/2006/relationships/slideLayout" Target="../slideLayouts/slideLayout58.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oleObject" Target="../embeddings/oleObject1.bin"/><Relationship Id="rId9" Type="http://schemas.openxmlformats.org/officeDocument/2006/relationships/image" Target="../media/image8.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8.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1.wmf"/><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0.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3.wmf"/><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12.wmf"/><Relationship Id="rId4"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18.wmf"/><Relationship Id="rId2" Type="http://schemas.openxmlformats.org/officeDocument/2006/relationships/slideLayout" Target="../slideLayouts/slideLayout36.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17.wmf"/><Relationship Id="rId4"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6.xml"/><Relationship Id="rId1" Type="http://schemas.openxmlformats.org/officeDocument/2006/relationships/vmlDrawing" Target="../drawings/vmlDrawing6.vml"/><Relationship Id="rId5" Type="http://schemas.openxmlformats.org/officeDocument/2006/relationships/image" Target="../media/image19.wmf"/><Relationship Id="rId4" Type="http://schemas.openxmlformats.org/officeDocument/2006/relationships/oleObject" Target="../embeddings/oleObject11.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6.xml"/><Relationship Id="rId1" Type="http://schemas.openxmlformats.org/officeDocument/2006/relationships/vmlDrawing" Target="../drawings/vmlDrawing7.vml"/><Relationship Id="rId5" Type="http://schemas.openxmlformats.org/officeDocument/2006/relationships/image" Target="../media/image20.wmf"/><Relationship Id="rId4"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6.xml"/><Relationship Id="rId1" Type="http://schemas.openxmlformats.org/officeDocument/2006/relationships/vmlDrawing" Target="../drawings/vmlDrawing8.vml"/><Relationship Id="rId5" Type="http://schemas.openxmlformats.org/officeDocument/2006/relationships/image" Target="../media/image21.wmf"/><Relationship Id="rId4" Type="http://schemas.openxmlformats.org/officeDocument/2006/relationships/oleObject" Target="../embeddings/oleObject13.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23.wmf"/><Relationship Id="rId2" Type="http://schemas.openxmlformats.org/officeDocument/2006/relationships/slideLayout" Target="../slideLayouts/slideLayout36.xml"/><Relationship Id="rId1" Type="http://schemas.openxmlformats.org/officeDocument/2006/relationships/vmlDrawing" Target="../drawings/vmlDrawing9.vml"/><Relationship Id="rId6" Type="http://schemas.openxmlformats.org/officeDocument/2006/relationships/oleObject" Target="../embeddings/oleObject15.bin"/><Relationship Id="rId5" Type="http://schemas.openxmlformats.org/officeDocument/2006/relationships/image" Target="../media/image22.emf"/><Relationship Id="rId4" Type="http://schemas.openxmlformats.org/officeDocument/2006/relationships/oleObject" Target="../embeddings/oleObject14.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7" Type="http://schemas.openxmlformats.org/officeDocument/2006/relationships/image" Target="../media/image25.wmf"/><Relationship Id="rId2" Type="http://schemas.openxmlformats.org/officeDocument/2006/relationships/slideLayout" Target="../slideLayouts/slideLayout36.xml"/><Relationship Id="rId1" Type="http://schemas.openxmlformats.org/officeDocument/2006/relationships/vmlDrawing" Target="../drawings/vmlDrawing10.vml"/><Relationship Id="rId6" Type="http://schemas.openxmlformats.org/officeDocument/2006/relationships/oleObject" Target="../embeddings/oleObject17.bin"/><Relationship Id="rId5" Type="http://schemas.openxmlformats.org/officeDocument/2006/relationships/image" Target="../media/image24.wmf"/><Relationship Id="rId4" Type="http://schemas.openxmlformats.org/officeDocument/2006/relationships/oleObject" Target="../embeddings/oleObject16.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6.xml"/><Relationship Id="rId1" Type="http://schemas.openxmlformats.org/officeDocument/2006/relationships/vmlDrawing" Target="../drawings/vmlDrawing11.vml"/><Relationship Id="rId5" Type="http://schemas.openxmlformats.org/officeDocument/2006/relationships/image" Target="../media/image26.wmf"/><Relationship Id="rId4" Type="http://schemas.openxmlformats.org/officeDocument/2006/relationships/oleObject" Target="../embeddings/oleObject18.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6.xml"/><Relationship Id="rId1" Type="http://schemas.openxmlformats.org/officeDocument/2006/relationships/vmlDrawing" Target="../drawings/vmlDrawing12.vml"/><Relationship Id="rId5" Type="http://schemas.openxmlformats.org/officeDocument/2006/relationships/image" Target="../media/image27.wmf"/><Relationship Id="rId4" Type="http://schemas.openxmlformats.org/officeDocument/2006/relationships/oleObject" Target="../embeddings/oleObject19.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7.xml"/><Relationship Id="rId1" Type="http://schemas.openxmlformats.org/officeDocument/2006/relationships/vmlDrawing" Target="../drawings/vmlDrawing13.vml"/><Relationship Id="rId5" Type="http://schemas.openxmlformats.org/officeDocument/2006/relationships/image" Target="../media/image28.wmf"/><Relationship Id="rId4" Type="http://schemas.openxmlformats.org/officeDocument/2006/relationships/oleObject" Target="../embeddings/oleObject20.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7.xml"/><Relationship Id="rId1" Type="http://schemas.openxmlformats.org/officeDocument/2006/relationships/vmlDrawing" Target="../drawings/vmlDrawing14.vml"/><Relationship Id="rId5" Type="http://schemas.openxmlformats.org/officeDocument/2006/relationships/image" Target="../media/image29.wmf"/><Relationship Id="rId4" Type="http://schemas.openxmlformats.org/officeDocument/2006/relationships/oleObject" Target="../embeddings/oleObject21.bin"/></Relationships>
</file>

<file path=ppt/slides/_rels/slide52.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52.xml"/><Relationship Id="rId1" Type="http://schemas.openxmlformats.org/officeDocument/2006/relationships/slideLayout" Target="../slideLayouts/slideLayout47.xml"/></Relationships>
</file>

<file path=ppt/slides/_rels/slide53.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53.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Rectangle 6"/>
          <p:cNvSpPr>
            <a:spLocks noGrp="1" noChangeArrowheads="1"/>
          </p:cNvSpPr>
          <p:nvPr>
            <p:ph type="ctrTitle"/>
          </p:nvPr>
        </p:nvSpPr>
        <p:spPr/>
        <p:txBody>
          <a:bodyPr/>
          <a:lstStyle/>
          <a:p>
            <a:pPr eaLnBrk="1" hangingPunct="1">
              <a:defRPr/>
            </a:pPr>
            <a:r>
              <a:rPr lang="en-US" sz="2800" dirty="0">
                <a:cs typeface="+mj-cs"/>
              </a:rPr>
              <a:t>Chapter 9</a:t>
            </a:r>
            <a:endParaRPr lang="en-US" dirty="0">
              <a:cs typeface="+mj-cs"/>
            </a:endParaRPr>
          </a:p>
        </p:txBody>
      </p:sp>
      <p:sp>
        <p:nvSpPr>
          <p:cNvPr id="191495" name="Rectangle 7"/>
          <p:cNvSpPr>
            <a:spLocks noGrp="1" noChangeArrowheads="1"/>
          </p:cNvSpPr>
          <p:nvPr>
            <p:ph type="subTitle" idx="1"/>
          </p:nvPr>
        </p:nvSpPr>
        <p:spPr/>
        <p:txBody>
          <a:bodyPr/>
          <a:lstStyle/>
          <a:p>
            <a:r>
              <a:rPr lang="en-US" dirty="0"/>
              <a:t>Chemical Quantities</a:t>
            </a:r>
            <a:endParaRPr lang="en-US" dirty="0">
              <a:solidFill>
                <a:srgbClr val="FF0000"/>
              </a:solidFill>
            </a:endParaRPr>
          </a:p>
        </p:txBody>
      </p:sp>
      <p:sp>
        <p:nvSpPr>
          <p:cNvPr id="4" name="TextBox 3"/>
          <p:cNvSpPr txBox="1"/>
          <p:nvPr/>
        </p:nvSpPr>
        <p:spPr>
          <a:xfrm>
            <a:off x="136634" y="6627022"/>
            <a:ext cx="861060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Narrow" panose="020B0606020202030204" pitchFamily="34" charset="0"/>
                <a:ea typeface="ＭＳ Ｐゴシック"/>
                <a:cs typeface="+mn-cs"/>
              </a:rPr>
              <a:t>Copyright ©2019 Cengage Learning. All Rights Reserved. May not be scanned, copied or duplicated, or posted to a publicly accessible website, in whole or in part.</a:t>
            </a:r>
            <a:endParaRPr kumimoji="0" lang="en-IN" sz="1000" b="0" i="0" u="none" strike="noStrike" kern="1200" cap="none" spc="0" normalizeH="0" baseline="0" noProof="0" dirty="0">
              <a:ln>
                <a:noFill/>
              </a:ln>
              <a:solidFill>
                <a:srgbClr val="000000"/>
              </a:solidFill>
              <a:effectLst/>
              <a:uLnTx/>
              <a:uFillTx/>
              <a:latin typeface="Arial Narrow" panose="020B0606020202030204" pitchFamily="34" charset="0"/>
              <a:ea typeface="ＭＳ Ｐゴシック"/>
              <a:cs typeface="+mn-cs"/>
            </a:endParaRPr>
          </a:p>
        </p:txBody>
      </p:sp>
    </p:spTree>
    <p:extLst>
      <p:ext uri="{BB962C8B-B14F-4D97-AF65-F5344CB8AC3E}">
        <p14:creationId xmlns:p14="http://schemas.microsoft.com/office/powerpoint/2010/main" val="48278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IN" dirty="0"/>
              <a:t>Understanding the Molecular and Mass Information in a Balanced Equation</a:t>
            </a:r>
          </a:p>
        </p:txBody>
      </p:sp>
      <p:sp>
        <p:nvSpPr>
          <p:cNvPr id="34818" name="Rectangle 2"/>
          <p:cNvSpPr>
            <a:spLocks noGrp="1" noChangeArrowheads="1"/>
          </p:cNvSpPr>
          <p:nvPr>
            <p:ph type="body" idx="1"/>
          </p:nvPr>
        </p:nvSpPr>
        <p:spPr>
          <a:xfrm>
            <a:off x="457200" y="1910255"/>
            <a:ext cx="8229600" cy="2012859"/>
          </a:xfrm>
        </p:spPr>
        <p:txBody>
          <a:bodyPr/>
          <a:lstStyle/>
          <a:p>
            <a:r>
              <a:rPr lang="en-US" dirty="0"/>
              <a:t>Balanced chemical equation gives the amount of reactant and product molecules that participate in a chemical reaction</a:t>
            </a:r>
          </a:p>
          <a:p>
            <a:r>
              <a:rPr lang="en-US" dirty="0"/>
              <a:t>Coefficients in a balanced equation give the relative numbers of molecules</a:t>
            </a:r>
          </a:p>
        </p:txBody>
      </p:sp>
    </p:spTree>
    <p:extLst>
      <p:ext uri="{BB962C8B-B14F-4D97-AF65-F5344CB8AC3E}">
        <p14:creationId xmlns:p14="http://schemas.microsoft.com/office/powerpoint/2010/main" val="2851167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Understanding the Molecular and Mass Information in a Balanced Equation </a:t>
            </a:r>
            <a:r>
              <a:rPr lang="en-IN" sz="1600" dirty="0"/>
              <a:t>(continued)</a:t>
            </a:r>
          </a:p>
        </p:txBody>
      </p:sp>
      <p:sp>
        <p:nvSpPr>
          <p:cNvPr id="265218" name="Rectangle 2"/>
          <p:cNvSpPr>
            <a:spLocks noGrp="1" noChangeArrowheads="1"/>
          </p:cNvSpPr>
          <p:nvPr>
            <p:ph idx="1"/>
          </p:nvPr>
        </p:nvSpPr>
        <p:spPr>
          <a:xfrm>
            <a:off x="457200" y="1752600"/>
            <a:ext cx="8229600" cy="4758226"/>
          </a:xfrm>
        </p:spPr>
        <p:txBody>
          <a:bodyPr/>
          <a:lstStyle/>
          <a:p>
            <a:pPr marL="533400" indent="-533400" algn="ctr">
              <a:buFontTx/>
              <a:buNone/>
            </a:pPr>
            <a:endParaRPr lang="en-US" sz="1800" dirty="0">
              <a:solidFill>
                <a:schemeClr val="tx2"/>
              </a:solidFill>
            </a:endParaRPr>
          </a:p>
          <a:p>
            <a:pPr marL="533400" indent="-533400" algn="ctr">
              <a:buFontTx/>
              <a:buNone/>
            </a:pPr>
            <a:r>
              <a:rPr lang="en-US" sz="2800" dirty="0">
                <a:solidFill>
                  <a:schemeClr val="tx2"/>
                </a:solidFill>
              </a:rPr>
              <a:t>C</a:t>
            </a:r>
            <a:r>
              <a:rPr lang="en-US" sz="2800" baseline="-25000" dirty="0">
                <a:solidFill>
                  <a:schemeClr val="tx2"/>
                </a:solidFill>
              </a:rPr>
              <a:t>2</a:t>
            </a:r>
            <a:r>
              <a:rPr lang="en-US" sz="2800" dirty="0">
                <a:solidFill>
                  <a:schemeClr val="tx2"/>
                </a:solidFill>
              </a:rPr>
              <a:t>H</a:t>
            </a:r>
            <a:r>
              <a:rPr lang="en-US" sz="2800" baseline="-25000" dirty="0">
                <a:solidFill>
                  <a:schemeClr val="tx2"/>
                </a:solidFill>
              </a:rPr>
              <a:t>5</a:t>
            </a:r>
            <a:r>
              <a:rPr lang="en-US" sz="2800" dirty="0">
                <a:solidFill>
                  <a:schemeClr val="tx2"/>
                </a:solidFill>
              </a:rPr>
              <a:t>OH</a:t>
            </a:r>
            <a:r>
              <a:rPr lang="en-US" sz="2800" dirty="0">
                <a:solidFill>
                  <a:schemeClr val="accent1"/>
                </a:solidFill>
              </a:rPr>
              <a:t>  </a:t>
            </a:r>
            <a:r>
              <a:rPr lang="en-US" sz="2800" dirty="0">
                <a:solidFill>
                  <a:schemeClr val="tx2"/>
                </a:solidFill>
              </a:rPr>
              <a:t>+</a:t>
            </a:r>
            <a:r>
              <a:rPr lang="en-US" sz="2800" dirty="0">
                <a:solidFill>
                  <a:schemeClr val="accent1"/>
                </a:solidFill>
              </a:rPr>
              <a:t>  </a:t>
            </a:r>
            <a:r>
              <a:rPr lang="en-US" sz="2800" dirty="0">
                <a:solidFill>
                  <a:schemeClr val="tx2"/>
                </a:solidFill>
              </a:rPr>
              <a:t>3O</a:t>
            </a:r>
            <a:r>
              <a:rPr lang="en-US" sz="2800" baseline="-25000" dirty="0">
                <a:solidFill>
                  <a:schemeClr val="tx2"/>
                </a:solidFill>
              </a:rPr>
              <a:t>2</a:t>
            </a:r>
            <a:r>
              <a:rPr lang="en-US" sz="2800" dirty="0">
                <a:solidFill>
                  <a:srgbClr val="FAFD00"/>
                </a:solidFill>
              </a:rPr>
              <a:t>  </a:t>
            </a:r>
            <a:r>
              <a:rPr lang="en-US" sz="2800" dirty="0">
                <a:latin typeface="Symbol" charset="0"/>
              </a:rPr>
              <a:t></a:t>
            </a:r>
            <a:r>
              <a:rPr lang="en-US" sz="2800" dirty="0"/>
              <a:t>  </a:t>
            </a:r>
            <a:r>
              <a:rPr lang="en-US" sz="2800" dirty="0">
                <a:solidFill>
                  <a:schemeClr val="tx2"/>
                </a:solidFill>
              </a:rPr>
              <a:t>2CO</a:t>
            </a:r>
            <a:r>
              <a:rPr lang="en-US" sz="2800" baseline="-25000" dirty="0">
                <a:solidFill>
                  <a:schemeClr val="tx2"/>
                </a:solidFill>
              </a:rPr>
              <a:t>2</a:t>
            </a:r>
            <a:r>
              <a:rPr lang="en-US" sz="2800" dirty="0">
                <a:solidFill>
                  <a:schemeClr val="tx2"/>
                </a:solidFill>
              </a:rPr>
              <a:t>  +  3H</a:t>
            </a:r>
            <a:r>
              <a:rPr lang="en-US" sz="2800" baseline="-25000" dirty="0">
                <a:solidFill>
                  <a:schemeClr val="tx2"/>
                </a:solidFill>
              </a:rPr>
              <a:t>2</a:t>
            </a:r>
            <a:r>
              <a:rPr lang="en-US" sz="2800" dirty="0">
                <a:solidFill>
                  <a:schemeClr val="tx2"/>
                </a:solidFill>
              </a:rPr>
              <a:t>O</a:t>
            </a:r>
            <a:endParaRPr lang="en-US" sz="2800" dirty="0"/>
          </a:p>
          <a:p>
            <a:pPr marL="0" indent="0">
              <a:buNone/>
            </a:pPr>
            <a:endParaRPr lang="en-US" sz="1200" dirty="0"/>
          </a:p>
          <a:p>
            <a:pPr marL="533400" indent="-533400"/>
            <a:r>
              <a:rPr lang="en-US" dirty="0"/>
              <a:t>Equation is balanced</a:t>
            </a:r>
          </a:p>
          <a:p>
            <a:pPr marL="533400" indent="-533400"/>
            <a:r>
              <a:rPr lang="en-US" dirty="0"/>
              <a:t>All atoms present in the reactants are accounted for in the products</a:t>
            </a:r>
          </a:p>
          <a:p>
            <a:pPr marL="533400" indent="-533400"/>
            <a:r>
              <a:rPr lang="en-US" dirty="0"/>
              <a:t>1 </a:t>
            </a:r>
            <a:r>
              <a:rPr lang="en-US" i="1" dirty="0"/>
              <a:t>molecule</a:t>
            </a:r>
            <a:r>
              <a:rPr lang="en-US" dirty="0"/>
              <a:t> of ethanol reacts with 3 </a:t>
            </a:r>
            <a:r>
              <a:rPr lang="en-US" i="1" dirty="0"/>
              <a:t>molecules</a:t>
            </a:r>
            <a:r>
              <a:rPr lang="en-US" dirty="0"/>
              <a:t> of oxygen to produce 2 </a:t>
            </a:r>
            <a:r>
              <a:rPr lang="en-US" i="1" dirty="0"/>
              <a:t>molecules</a:t>
            </a:r>
            <a:r>
              <a:rPr lang="en-US" dirty="0"/>
              <a:t> of carbon dioxide and 3 </a:t>
            </a:r>
            <a:r>
              <a:rPr lang="en-US" i="1" dirty="0"/>
              <a:t>molecules</a:t>
            </a:r>
            <a:r>
              <a:rPr lang="en-US" dirty="0"/>
              <a:t> of water</a:t>
            </a:r>
          </a:p>
          <a:p>
            <a:pPr marL="533400" indent="-533400"/>
            <a:r>
              <a:rPr lang="en-US" dirty="0"/>
              <a:t>1 </a:t>
            </a:r>
            <a:r>
              <a:rPr lang="en-US" i="1" dirty="0"/>
              <a:t>mole</a:t>
            </a:r>
            <a:r>
              <a:rPr lang="en-US" dirty="0"/>
              <a:t> of ethanol reacts with 3 </a:t>
            </a:r>
            <a:r>
              <a:rPr lang="en-US" i="1" dirty="0"/>
              <a:t>moles</a:t>
            </a:r>
            <a:r>
              <a:rPr lang="en-US" dirty="0"/>
              <a:t> of oxygen to produce 2 </a:t>
            </a:r>
            <a:r>
              <a:rPr lang="en-US" i="1" dirty="0"/>
              <a:t>moles</a:t>
            </a:r>
            <a:r>
              <a:rPr lang="en-US" dirty="0"/>
              <a:t> of carbon dioxide and 3 </a:t>
            </a:r>
            <a:r>
              <a:rPr lang="en-US" i="1" dirty="0"/>
              <a:t>moles</a:t>
            </a:r>
            <a:r>
              <a:rPr lang="en-US" dirty="0"/>
              <a:t> of water</a:t>
            </a:r>
          </a:p>
        </p:txBody>
      </p:sp>
    </p:spTree>
    <p:extLst>
      <p:ext uri="{BB962C8B-B14F-4D97-AF65-F5344CB8AC3E}">
        <p14:creationId xmlns:p14="http://schemas.microsoft.com/office/powerpoint/2010/main" val="751541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en-US" dirty="0"/>
              <a:t>	Concept Check, 1</a:t>
            </a:r>
            <a:endParaRPr lang="en-US" dirty="0">
              <a:solidFill>
                <a:srgbClr val="FF0000"/>
              </a:solidFill>
            </a:endParaRPr>
          </a:p>
        </p:txBody>
      </p:sp>
      <p:sp>
        <p:nvSpPr>
          <p:cNvPr id="354307" name="Rectangle 3"/>
          <p:cNvSpPr>
            <a:spLocks noGrp="1" noChangeArrowheads="1"/>
          </p:cNvSpPr>
          <p:nvPr>
            <p:ph idx="1"/>
          </p:nvPr>
        </p:nvSpPr>
        <p:spPr>
          <a:xfrm>
            <a:off x="457200" y="1752600"/>
            <a:ext cx="8229600" cy="1726627"/>
          </a:xfrm>
        </p:spPr>
        <p:txBody>
          <a:bodyPr/>
          <a:lstStyle/>
          <a:p>
            <a:pPr indent="3175">
              <a:lnSpc>
                <a:spcPct val="90000"/>
              </a:lnSpc>
              <a:buFontTx/>
              <a:buNone/>
            </a:pPr>
            <a:endParaRPr lang="en-US" sz="600" dirty="0"/>
          </a:p>
          <a:p>
            <a:pPr indent="3175">
              <a:lnSpc>
                <a:spcPct val="90000"/>
              </a:lnSpc>
              <a:buFontTx/>
              <a:buNone/>
            </a:pPr>
            <a:endParaRPr lang="en-US" dirty="0"/>
          </a:p>
          <a:p>
            <a:pPr indent="3175">
              <a:lnSpc>
                <a:spcPct val="90000"/>
              </a:lnSpc>
              <a:buFontTx/>
              <a:buNone/>
            </a:pPr>
            <a:r>
              <a:rPr lang="en-US" dirty="0"/>
              <a:t>The following reaction represents one of the key steps in the production of pure copper from copper ores:</a:t>
            </a:r>
          </a:p>
          <a:p>
            <a:pPr indent="3175">
              <a:lnSpc>
                <a:spcPct val="90000"/>
              </a:lnSpc>
              <a:buFontTx/>
              <a:buNone/>
            </a:pPr>
            <a:r>
              <a:rPr lang="en-US" dirty="0"/>
              <a:t>	Cu</a:t>
            </a:r>
            <a:r>
              <a:rPr lang="en-US" baseline="-25000" dirty="0"/>
              <a:t>2</a:t>
            </a:r>
            <a:r>
              <a:rPr lang="en-US" dirty="0"/>
              <a:t>S(</a:t>
            </a:r>
            <a:r>
              <a:rPr lang="en-US" i="1" dirty="0"/>
              <a:t>s</a:t>
            </a:r>
            <a:r>
              <a:rPr lang="en-US" dirty="0"/>
              <a:t>) + Cu</a:t>
            </a:r>
            <a:r>
              <a:rPr lang="en-US" baseline="-25000" dirty="0"/>
              <a:t>2</a:t>
            </a:r>
            <a:r>
              <a:rPr lang="en-US" dirty="0"/>
              <a:t>O(</a:t>
            </a:r>
            <a:r>
              <a:rPr lang="en-US" i="1" dirty="0"/>
              <a:t>s</a:t>
            </a:r>
            <a:r>
              <a:rPr lang="en-US" dirty="0"/>
              <a:t>) </a:t>
            </a:r>
            <a:r>
              <a:rPr lang="en-US" dirty="0">
                <a:cs typeface="Arial" charset="0"/>
              </a:rPr>
              <a:t>→</a:t>
            </a:r>
            <a:r>
              <a:rPr lang="en-US" dirty="0"/>
              <a:t> Cu(</a:t>
            </a:r>
            <a:r>
              <a:rPr lang="en-US" i="1" dirty="0"/>
              <a:t>s</a:t>
            </a:r>
            <a:r>
              <a:rPr lang="en-US" dirty="0"/>
              <a:t>) + SO</a:t>
            </a:r>
            <a:r>
              <a:rPr lang="en-US" baseline="-25000" dirty="0"/>
              <a:t>2</a:t>
            </a:r>
            <a:r>
              <a:rPr lang="en-US" dirty="0"/>
              <a:t>(</a:t>
            </a:r>
            <a:r>
              <a:rPr lang="en-US" i="1" dirty="0"/>
              <a:t>g</a:t>
            </a:r>
            <a:r>
              <a:rPr lang="en-US" dirty="0"/>
              <a:t>) (unbalanced)</a:t>
            </a:r>
          </a:p>
        </p:txBody>
      </p:sp>
    </p:spTree>
    <p:extLst>
      <p:ext uri="{BB962C8B-B14F-4D97-AF65-F5344CB8AC3E}">
        <p14:creationId xmlns:p14="http://schemas.microsoft.com/office/powerpoint/2010/main" val="1901617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Concept Check, 1 </a:t>
            </a:r>
            <a:r>
              <a:rPr lang="en-IN" sz="1600" dirty="0"/>
              <a:t>(continued)</a:t>
            </a:r>
          </a:p>
        </p:txBody>
      </p:sp>
      <p:sp>
        <p:nvSpPr>
          <p:cNvPr id="3" name="Content Placeholder 2"/>
          <p:cNvSpPr>
            <a:spLocks noGrp="1"/>
          </p:cNvSpPr>
          <p:nvPr>
            <p:ph idx="1"/>
          </p:nvPr>
        </p:nvSpPr>
        <p:spPr>
          <a:xfrm>
            <a:off x="457200" y="1752600"/>
            <a:ext cx="8229600" cy="3711785"/>
          </a:xfrm>
        </p:spPr>
        <p:txBody>
          <a:bodyPr/>
          <a:lstStyle/>
          <a:p>
            <a:pPr indent="3175">
              <a:lnSpc>
                <a:spcPct val="90000"/>
              </a:lnSpc>
              <a:buFontTx/>
              <a:buNone/>
            </a:pPr>
            <a:r>
              <a:rPr lang="en-US" dirty="0"/>
              <a:t>After balancing the reaction, determine how many </a:t>
            </a:r>
            <a:r>
              <a:rPr lang="en-US" dirty="0">
                <a:solidFill>
                  <a:srgbClr val="0000FF"/>
                </a:solidFill>
              </a:rPr>
              <a:t>dozens of copper atoms</a:t>
            </a:r>
            <a:r>
              <a:rPr lang="en-US" dirty="0"/>
              <a:t> can be produced from a dozen molecules of the sulfide and two dozen molecules of the oxide of copper(I). Also, how many </a:t>
            </a:r>
            <a:r>
              <a:rPr lang="en-US" dirty="0">
                <a:solidFill>
                  <a:srgbClr val="0000FF"/>
                </a:solidFill>
              </a:rPr>
              <a:t>moles</a:t>
            </a:r>
            <a:r>
              <a:rPr lang="en-US" dirty="0"/>
              <a:t> </a:t>
            </a:r>
            <a:r>
              <a:rPr lang="en-US" dirty="0">
                <a:solidFill>
                  <a:srgbClr val="0000FF"/>
                </a:solidFill>
              </a:rPr>
              <a:t>of copper</a:t>
            </a:r>
            <a:r>
              <a:rPr lang="en-US" dirty="0"/>
              <a:t> can be produced from one mole of the sulfide and two moles of the oxide?</a:t>
            </a:r>
          </a:p>
          <a:p>
            <a:pPr indent="3175">
              <a:lnSpc>
                <a:spcPct val="90000"/>
              </a:lnSpc>
              <a:buFontTx/>
              <a:buNone/>
            </a:pPr>
            <a:r>
              <a:rPr lang="en-US" dirty="0"/>
              <a:t>a) 1 dozen and 1 mole</a:t>
            </a:r>
          </a:p>
          <a:p>
            <a:pPr indent="3175">
              <a:lnSpc>
                <a:spcPct val="90000"/>
              </a:lnSpc>
              <a:buFontTx/>
              <a:buNone/>
            </a:pPr>
            <a:r>
              <a:rPr lang="en-US" dirty="0"/>
              <a:t>b) 2 dozens and 2 moles</a:t>
            </a:r>
          </a:p>
          <a:p>
            <a:pPr indent="3175">
              <a:lnSpc>
                <a:spcPct val="90000"/>
              </a:lnSpc>
              <a:buFontTx/>
              <a:buNone/>
            </a:pPr>
            <a:r>
              <a:rPr lang="en-US" dirty="0"/>
              <a:t>c) 3 dozens and 3 moles</a:t>
            </a:r>
          </a:p>
          <a:p>
            <a:pPr indent="3175">
              <a:lnSpc>
                <a:spcPct val="90000"/>
              </a:lnSpc>
              <a:buFontTx/>
              <a:buNone/>
            </a:pPr>
            <a:r>
              <a:rPr lang="en-US" dirty="0"/>
              <a:t>d) 6 dozens and 6 moles</a:t>
            </a:r>
          </a:p>
        </p:txBody>
      </p:sp>
      <p:sp>
        <p:nvSpPr>
          <p:cNvPr id="6" name="Rectangle 5" descr="green box"/>
          <p:cNvSpPr>
            <a:spLocks noChangeArrowheads="1"/>
          </p:cNvSpPr>
          <p:nvPr/>
        </p:nvSpPr>
        <p:spPr bwMode="auto">
          <a:xfrm>
            <a:off x="851437" y="5039690"/>
            <a:ext cx="3463388" cy="424696"/>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38832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IN" dirty="0"/>
              <a:t>Relationship between Moles of Reactants and Moles of Products</a:t>
            </a:r>
          </a:p>
        </p:txBody>
      </p:sp>
      <p:sp>
        <p:nvSpPr>
          <p:cNvPr id="123908" name="Rectangle 4"/>
          <p:cNvSpPr>
            <a:spLocks noGrp="1" noChangeArrowheads="1"/>
          </p:cNvSpPr>
          <p:nvPr>
            <p:ph type="body" sz="half" idx="1"/>
          </p:nvPr>
        </p:nvSpPr>
        <p:spPr>
          <a:xfrm>
            <a:off x="457200" y="1752600"/>
            <a:ext cx="4038600" cy="3933384"/>
          </a:xfrm>
        </p:spPr>
        <p:txBody>
          <a:bodyPr/>
          <a:lstStyle/>
          <a:p>
            <a:pPr marL="533400" indent="-533400"/>
            <a:r>
              <a:rPr lang="en-US" dirty="0">
                <a:cs typeface="Times New Roman" charset="0"/>
              </a:rPr>
              <a:t>Balanced equations can predict the moles of products that a given number of moles of reactants will yield </a:t>
            </a:r>
          </a:p>
          <a:p>
            <a:pPr marL="533400" indent="-533400"/>
            <a:r>
              <a:rPr lang="en-US" dirty="0">
                <a:cs typeface="Times New Roman" charset="0"/>
              </a:rPr>
              <a:t>2 moles of </a:t>
            </a:r>
            <a:r>
              <a:rPr lang="en-US" dirty="0"/>
              <a:t>H</a:t>
            </a:r>
            <a:r>
              <a:rPr lang="en-US" baseline="-25000" dirty="0"/>
              <a:t>2</a:t>
            </a:r>
            <a:r>
              <a:rPr lang="en-US" dirty="0"/>
              <a:t>O yields 2 moles of H</a:t>
            </a:r>
            <a:r>
              <a:rPr lang="en-US" baseline="-25000" dirty="0"/>
              <a:t>2</a:t>
            </a:r>
            <a:r>
              <a:rPr lang="en-US" dirty="0"/>
              <a:t> and 1 mole of O</a:t>
            </a:r>
            <a:r>
              <a:rPr lang="en-US" baseline="-25000" dirty="0"/>
              <a:t>2</a:t>
            </a:r>
            <a:endParaRPr lang="en-US" dirty="0"/>
          </a:p>
          <a:p>
            <a:pPr marL="533400" indent="-533400"/>
            <a:r>
              <a:rPr lang="en-US" dirty="0">
                <a:cs typeface="Times New Roman" charset="0"/>
              </a:rPr>
              <a:t>4 </a:t>
            </a:r>
            <a:r>
              <a:rPr lang="en-US" dirty="0" err="1">
                <a:cs typeface="Times New Roman" charset="0"/>
              </a:rPr>
              <a:t>mol</a:t>
            </a:r>
            <a:r>
              <a:rPr lang="en-US" dirty="0">
                <a:cs typeface="Times New Roman" charset="0"/>
              </a:rPr>
              <a:t> </a:t>
            </a:r>
            <a:r>
              <a:rPr lang="en-US" dirty="0"/>
              <a:t>H</a:t>
            </a:r>
            <a:r>
              <a:rPr lang="en-US" baseline="-25000" dirty="0"/>
              <a:t>2</a:t>
            </a:r>
            <a:r>
              <a:rPr lang="en-US" dirty="0"/>
              <a:t>O yields 4 </a:t>
            </a:r>
            <a:r>
              <a:rPr lang="en-US" dirty="0" err="1"/>
              <a:t>mol</a:t>
            </a:r>
            <a:r>
              <a:rPr lang="en-US" dirty="0"/>
              <a:t> H</a:t>
            </a:r>
            <a:r>
              <a:rPr lang="en-US" baseline="-25000" dirty="0"/>
              <a:t>2</a:t>
            </a:r>
            <a:r>
              <a:rPr lang="en-US" dirty="0"/>
              <a:t> and 2 </a:t>
            </a:r>
            <a:r>
              <a:rPr lang="en-US" dirty="0" err="1"/>
              <a:t>mol</a:t>
            </a:r>
            <a:r>
              <a:rPr lang="en-US" dirty="0"/>
              <a:t> O</a:t>
            </a:r>
            <a:r>
              <a:rPr lang="en-US" baseline="-25000" dirty="0"/>
              <a:t>2</a:t>
            </a:r>
            <a:endParaRPr lang="en-US" dirty="0"/>
          </a:p>
        </p:txBody>
      </p:sp>
      <p:pic>
        <p:nvPicPr>
          <p:cNvPr id="4" name="Picture 3" descr="An illustration shows two chemical equations using molecular formula as well as space filling models. The first equation reads 2 moles of water (H subscript 2 O) (l) gives two diatomic molecules of hydrogen (2 H subscript 2) (g) and a diatomic molecule of oxygen (O subscript 2) (g). The second equation reads 4 moles of water molecules (4 H subscript 2 O) in liquid state gives 4 diatomic molecules of hydrogen (4 H subscript 2) (g) and 2 diatomic molecules of oxygen (2 O subscript 2) (g). The space filling model of water shows a central oxygen atom, represented by red sphere, bonded to two hydrogen atoms on either side, each represented by white sphere. Diatomic molecule of hydrogen shows two white spheres bonded together. Diatomic molecule of oxygen shows two red spheres bonded together.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8440" y="1752600"/>
            <a:ext cx="2494665" cy="4229052"/>
          </a:xfrm>
          <a:prstGeom prst="rect">
            <a:avLst/>
          </a:prstGeom>
        </p:spPr>
      </p:pic>
    </p:spTree>
    <p:extLst>
      <p:ext uri="{BB962C8B-B14F-4D97-AF65-F5344CB8AC3E}">
        <p14:creationId xmlns:p14="http://schemas.microsoft.com/office/powerpoint/2010/main" val="3138704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28003" name="Rectangle 3"/>
          <p:cNvSpPr>
            <a:spLocks noGrp="1" noChangeArrowheads="1"/>
          </p:cNvSpPr>
          <p:nvPr>
            <p:ph type="title"/>
          </p:nvPr>
        </p:nvSpPr>
        <p:spPr/>
        <p:txBody>
          <a:bodyPr/>
          <a:lstStyle/>
          <a:p>
            <a:r>
              <a:rPr lang="en-US" dirty="0"/>
              <a:t>Mole Ratio</a:t>
            </a:r>
          </a:p>
        </p:txBody>
      </p:sp>
      <p:sp>
        <p:nvSpPr>
          <p:cNvPr id="128002" name="Rectangle 2"/>
          <p:cNvSpPr>
            <a:spLocks noGrp="1" noChangeArrowheads="1"/>
          </p:cNvSpPr>
          <p:nvPr>
            <p:ph idx="1"/>
          </p:nvPr>
        </p:nvSpPr>
        <p:spPr>
          <a:xfrm>
            <a:off x="457200" y="1752600"/>
            <a:ext cx="8229600" cy="1200329"/>
          </a:xfrm>
        </p:spPr>
        <p:txBody>
          <a:bodyPr/>
          <a:lstStyle/>
          <a:p>
            <a:r>
              <a:rPr lang="en-US" dirty="0"/>
              <a:t>Allows us to convert from moles of one substance in a balanced equation to moles of a second substance in the equation </a:t>
            </a:r>
          </a:p>
        </p:txBody>
      </p:sp>
    </p:spTree>
    <p:extLst>
      <p:ext uri="{BB962C8B-B14F-4D97-AF65-F5344CB8AC3E}">
        <p14:creationId xmlns:p14="http://schemas.microsoft.com/office/powerpoint/2010/main" val="1654668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1603" name="Rectangle 3"/>
          <p:cNvSpPr>
            <a:spLocks noGrp="1" noChangeArrowheads="1"/>
          </p:cNvSpPr>
          <p:nvPr>
            <p:ph type="title"/>
          </p:nvPr>
        </p:nvSpPr>
        <p:spPr/>
        <p:txBody>
          <a:bodyPr/>
          <a:lstStyle/>
          <a:p>
            <a:r>
              <a:rPr lang="en-US" dirty="0"/>
              <a:t>Example, 1</a:t>
            </a:r>
          </a:p>
        </p:txBody>
      </p:sp>
      <p:sp>
        <p:nvSpPr>
          <p:cNvPr id="281602" name="Rectangle 2"/>
          <p:cNvSpPr>
            <a:spLocks noGrp="1" noChangeArrowheads="1"/>
          </p:cNvSpPr>
          <p:nvPr>
            <p:ph idx="1"/>
          </p:nvPr>
        </p:nvSpPr>
        <p:spPr>
          <a:xfrm>
            <a:off x="457200" y="1752600"/>
            <a:ext cx="8229600" cy="4604337"/>
          </a:xfrm>
        </p:spPr>
        <p:txBody>
          <a:bodyPr/>
          <a:lstStyle/>
          <a:p>
            <a:pPr marL="533400" indent="-533400">
              <a:buFontTx/>
              <a:buNone/>
            </a:pPr>
            <a:r>
              <a:rPr lang="en-US" i="1" dirty="0">
                <a:solidFill>
                  <a:srgbClr val="0000FF"/>
                </a:solidFill>
                <a:cs typeface="Times New Roman" charset="0"/>
              </a:rPr>
              <a:t>Consider the following balanced equation:</a:t>
            </a:r>
          </a:p>
          <a:p>
            <a:pPr marL="533400" indent="-533400">
              <a:buFontTx/>
              <a:buNone/>
            </a:pPr>
            <a:r>
              <a:rPr lang="en-US" dirty="0">
                <a:solidFill>
                  <a:srgbClr val="0000FF"/>
                </a:solidFill>
                <a:cs typeface="Times New Roman" charset="0"/>
              </a:rPr>
              <a:t>		Na</a:t>
            </a:r>
            <a:r>
              <a:rPr lang="en-US" baseline="-25000" dirty="0">
                <a:solidFill>
                  <a:srgbClr val="0000FF"/>
                </a:solidFill>
              </a:rPr>
              <a:t>2</a:t>
            </a:r>
            <a:r>
              <a:rPr lang="en-US" dirty="0">
                <a:solidFill>
                  <a:srgbClr val="0000FF"/>
                </a:solidFill>
              </a:rPr>
              <a:t>SiF</a:t>
            </a:r>
            <a:r>
              <a:rPr lang="en-US" baseline="-25000" dirty="0">
                <a:solidFill>
                  <a:srgbClr val="0000FF"/>
                </a:solidFill>
              </a:rPr>
              <a:t>6</a:t>
            </a:r>
            <a:r>
              <a:rPr lang="en-US" dirty="0">
                <a:solidFill>
                  <a:srgbClr val="0000FF"/>
                </a:solidFill>
              </a:rPr>
              <a:t>(</a:t>
            </a:r>
            <a:r>
              <a:rPr lang="en-US" i="1" dirty="0">
                <a:solidFill>
                  <a:srgbClr val="0000FF"/>
                </a:solidFill>
              </a:rPr>
              <a:t>s</a:t>
            </a:r>
            <a:r>
              <a:rPr lang="en-US" dirty="0">
                <a:solidFill>
                  <a:srgbClr val="0000FF"/>
                </a:solidFill>
              </a:rPr>
              <a:t>) + 4Na(</a:t>
            </a:r>
            <a:r>
              <a:rPr lang="en-US" i="1" dirty="0">
                <a:solidFill>
                  <a:srgbClr val="0000FF"/>
                </a:solidFill>
              </a:rPr>
              <a:t>s</a:t>
            </a:r>
            <a:r>
              <a:rPr lang="en-US" dirty="0">
                <a:solidFill>
                  <a:srgbClr val="0000FF"/>
                </a:solidFill>
              </a:rPr>
              <a:t>) </a:t>
            </a:r>
            <a:r>
              <a:rPr lang="en-US" dirty="0">
                <a:solidFill>
                  <a:srgbClr val="0000FF"/>
                </a:solidFill>
                <a:cs typeface="Arial" charset="0"/>
              </a:rPr>
              <a:t>→ Si</a:t>
            </a:r>
            <a:r>
              <a:rPr lang="en-US" dirty="0">
                <a:solidFill>
                  <a:srgbClr val="0000FF"/>
                </a:solidFill>
              </a:rPr>
              <a:t>(</a:t>
            </a:r>
            <a:r>
              <a:rPr lang="en-US" i="1" dirty="0">
                <a:solidFill>
                  <a:srgbClr val="0000FF"/>
                </a:solidFill>
              </a:rPr>
              <a:t>s</a:t>
            </a:r>
            <a:r>
              <a:rPr lang="en-US" dirty="0">
                <a:solidFill>
                  <a:srgbClr val="0000FF"/>
                </a:solidFill>
              </a:rPr>
              <a:t>) + 6NaF(</a:t>
            </a:r>
            <a:r>
              <a:rPr lang="en-US" i="1" dirty="0">
                <a:solidFill>
                  <a:srgbClr val="0000FF"/>
                </a:solidFill>
              </a:rPr>
              <a:t>s</a:t>
            </a:r>
            <a:r>
              <a:rPr lang="en-US" dirty="0">
                <a:solidFill>
                  <a:srgbClr val="0000FF"/>
                </a:solidFill>
              </a:rPr>
              <a:t>)</a:t>
            </a:r>
          </a:p>
          <a:p>
            <a:pPr marL="533400" indent="-533400">
              <a:buFontTx/>
              <a:buNone/>
            </a:pPr>
            <a:r>
              <a:rPr lang="en-US" i="1" dirty="0">
                <a:solidFill>
                  <a:srgbClr val="0000FF"/>
                </a:solidFill>
              </a:rPr>
              <a:t>How many moles of </a:t>
            </a:r>
            <a:r>
              <a:rPr lang="en-US" i="1" dirty="0" err="1">
                <a:solidFill>
                  <a:srgbClr val="0000FF"/>
                </a:solidFill>
              </a:rPr>
              <a:t>NaF</a:t>
            </a:r>
            <a:r>
              <a:rPr lang="en-US" i="1" dirty="0">
                <a:solidFill>
                  <a:srgbClr val="0000FF"/>
                </a:solidFill>
              </a:rPr>
              <a:t> will be produced if 3.50 moles of Na is reacted with excess </a:t>
            </a:r>
            <a:r>
              <a:rPr lang="en-US" i="1" dirty="0">
                <a:solidFill>
                  <a:srgbClr val="0000FF"/>
                </a:solidFill>
                <a:cs typeface="Times New Roman" charset="0"/>
              </a:rPr>
              <a:t>Na</a:t>
            </a:r>
            <a:r>
              <a:rPr lang="en-US" i="1" baseline="-25000" dirty="0">
                <a:solidFill>
                  <a:srgbClr val="0000FF"/>
                </a:solidFill>
              </a:rPr>
              <a:t>2</a:t>
            </a:r>
            <a:r>
              <a:rPr lang="en-US" i="1" dirty="0">
                <a:solidFill>
                  <a:srgbClr val="0000FF"/>
                </a:solidFill>
              </a:rPr>
              <a:t>SiF</a:t>
            </a:r>
            <a:r>
              <a:rPr lang="en-US" i="1" baseline="-25000" dirty="0">
                <a:solidFill>
                  <a:srgbClr val="0000FF"/>
                </a:solidFill>
              </a:rPr>
              <a:t>6</a:t>
            </a:r>
            <a:r>
              <a:rPr lang="en-US" i="1" dirty="0">
                <a:solidFill>
                  <a:srgbClr val="0000FF"/>
                </a:solidFill>
              </a:rPr>
              <a:t>? </a:t>
            </a:r>
          </a:p>
          <a:p>
            <a:pPr marL="0" indent="0">
              <a:buNone/>
            </a:pPr>
            <a:endParaRPr lang="en-US" dirty="0"/>
          </a:p>
          <a:p>
            <a:pPr marL="0" indent="0">
              <a:buNone/>
            </a:pPr>
            <a:r>
              <a:rPr lang="en-US" b="1" dirty="0"/>
              <a:t>Where Are We Going?</a:t>
            </a:r>
          </a:p>
          <a:p>
            <a:r>
              <a:rPr lang="en-US" sz="2200" dirty="0"/>
              <a:t>We want to determine the number of moles of </a:t>
            </a:r>
            <a:r>
              <a:rPr lang="en-US" sz="2200" dirty="0" err="1"/>
              <a:t>NaF</a:t>
            </a:r>
            <a:r>
              <a:rPr lang="en-US" sz="2200" dirty="0"/>
              <a:t> produced when 3.50 moles of Na reacts with excess Na</a:t>
            </a:r>
            <a:r>
              <a:rPr lang="en-US" sz="2200" baseline="-25000" dirty="0"/>
              <a:t>2</a:t>
            </a:r>
            <a:r>
              <a:rPr lang="en-US" sz="2200" dirty="0"/>
              <a:t>SiF</a:t>
            </a:r>
            <a:r>
              <a:rPr lang="en-US" sz="2200" baseline="-25000" dirty="0"/>
              <a:t>6</a:t>
            </a:r>
          </a:p>
          <a:p>
            <a:pPr marL="0" indent="0">
              <a:buNone/>
            </a:pPr>
            <a:r>
              <a:rPr lang="en-US" b="1" dirty="0"/>
              <a:t>What Do We Know?</a:t>
            </a:r>
          </a:p>
          <a:p>
            <a:r>
              <a:rPr lang="en-US" sz="2200" dirty="0"/>
              <a:t>Balanced equation</a:t>
            </a:r>
          </a:p>
          <a:p>
            <a:r>
              <a:rPr lang="en-US" sz="2200" dirty="0"/>
              <a:t>We start with 3.50 </a:t>
            </a:r>
            <a:r>
              <a:rPr lang="en-US" sz="2200" dirty="0" err="1"/>
              <a:t>mol</a:t>
            </a:r>
            <a:r>
              <a:rPr lang="en-US" sz="2200" dirty="0"/>
              <a:t> Na</a:t>
            </a:r>
          </a:p>
        </p:txBody>
      </p:sp>
    </p:spTree>
    <p:extLst>
      <p:ext uri="{BB962C8B-B14F-4D97-AF65-F5344CB8AC3E}">
        <p14:creationId xmlns:p14="http://schemas.microsoft.com/office/powerpoint/2010/main" val="4213315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1" name="Rectangle 3"/>
          <p:cNvSpPr>
            <a:spLocks noGrp="1" noChangeArrowheads="1"/>
          </p:cNvSpPr>
          <p:nvPr>
            <p:ph type="title"/>
          </p:nvPr>
        </p:nvSpPr>
        <p:spPr/>
        <p:txBody>
          <a:bodyPr/>
          <a:lstStyle/>
          <a:p>
            <a:r>
              <a:rPr lang="en-US" dirty="0"/>
              <a:t>Example, 1 </a:t>
            </a:r>
            <a:r>
              <a:rPr lang="en-US" sz="1600" dirty="0"/>
              <a:t>(continued)</a:t>
            </a:r>
          </a:p>
        </p:txBody>
      </p:sp>
      <p:sp>
        <p:nvSpPr>
          <p:cNvPr id="283650" name="Rectangle 2"/>
          <p:cNvSpPr>
            <a:spLocks noGrp="1" noChangeArrowheads="1"/>
          </p:cNvSpPr>
          <p:nvPr>
            <p:ph idx="1"/>
          </p:nvPr>
        </p:nvSpPr>
        <p:spPr>
          <a:xfrm>
            <a:off x="533400" y="1676400"/>
            <a:ext cx="7543800" cy="2603790"/>
          </a:xfrm>
        </p:spPr>
        <p:txBody>
          <a:bodyPr/>
          <a:lstStyle/>
          <a:p>
            <a:pPr marL="533400" indent="-533400">
              <a:buFontTx/>
              <a:buNone/>
            </a:pPr>
            <a:r>
              <a:rPr lang="en-US" i="1" dirty="0">
                <a:solidFill>
                  <a:srgbClr val="0000FF"/>
                </a:solidFill>
                <a:cs typeface="Times New Roman" charset="0"/>
              </a:rPr>
              <a:t>Consider the following balanced equation:</a:t>
            </a:r>
          </a:p>
          <a:p>
            <a:pPr marL="533400" indent="-533400">
              <a:buFontTx/>
              <a:buNone/>
            </a:pPr>
            <a:r>
              <a:rPr lang="en-US" dirty="0">
                <a:solidFill>
                  <a:srgbClr val="0000FF"/>
                </a:solidFill>
                <a:cs typeface="Times New Roman" charset="0"/>
              </a:rPr>
              <a:t>		Na</a:t>
            </a:r>
            <a:r>
              <a:rPr lang="en-US" baseline="-25000" dirty="0">
                <a:solidFill>
                  <a:srgbClr val="0000FF"/>
                </a:solidFill>
              </a:rPr>
              <a:t>2</a:t>
            </a:r>
            <a:r>
              <a:rPr lang="en-US" dirty="0">
                <a:solidFill>
                  <a:srgbClr val="0000FF"/>
                </a:solidFill>
              </a:rPr>
              <a:t>SiF</a:t>
            </a:r>
            <a:r>
              <a:rPr lang="en-US" baseline="-25000" dirty="0">
                <a:solidFill>
                  <a:srgbClr val="0000FF"/>
                </a:solidFill>
              </a:rPr>
              <a:t>6</a:t>
            </a:r>
            <a:r>
              <a:rPr lang="en-US" dirty="0">
                <a:solidFill>
                  <a:srgbClr val="0000FF"/>
                </a:solidFill>
              </a:rPr>
              <a:t>(</a:t>
            </a:r>
            <a:r>
              <a:rPr lang="en-US" i="1" dirty="0">
                <a:solidFill>
                  <a:srgbClr val="0000FF"/>
                </a:solidFill>
              </a:rPr>
              <a:t>s</a:t>
            </a:r>
            <a:r>
              <a:rPr lang="en-US" dirty="0">
                <a:solidFill>
                  <a:srgbClr val="0000FF"/>
                </a:solidFill>
              </a:rPr>
              <a:t>) + 4Na(</a:t>
            </a:r>
            <a:r>
              <a:rPr lang="en-US" i="1" dirty="0">
                <a:solidFill>
                  <a:srgbClr val="0000FF"/>
                </a:solidFill>
              </a:rPr>
              <a:t>s</a:t>
            </a:r>
            <a:r>
              <a:rPr lang="en-US" dirty="0">
                <a:solidFill>
                  <a:srgbClr val="0000FF"/>
                </a:solidFill>
              </a:rPr>
              <a:t>) </a:t>
            </a:r>
            <a:r>
              <a:rPr lang="en-US" dirty="0">
                <a:solidFill>
                  <a:srgbClr val="0000FF"/>
                </a:solidFill>
                <a:cs typeface="Arial" charset="0"/>
              </a:rPr>
              <a:t>→ Si</a:t>
            </a:r>
            <a:r>
              <a:rPr lang="en-US" dirty="0">
                <a:solidFill>
                  <a:srgbClr val="0000FF"/>
                </a:solidFill>
              </a:rPr>
              <a:t>(</a:t>
            </a:r>
            <a:r>
              <a:rPr lang="en-US" i="1" dirty="0">
                <a:solidFill>
                  <a:srgbClr val="0000FF"/>
                </a:solidFill>
              </a:rPr>
              <a:t>s</a:t>
            </a:r>
            <a:r>
              <a:rPr lang="en-US" dirty="0">
                <a:solidFill>
                  <a:srgbClr val="0000FF"/>
                </a:solidFill>
              </a:rPr>
              <a:t>) + 6NaF(</a:t>
            </a:r>
            <a:r>
              <a:rPr lang="en-US" i="1" dirty="0">
                <a:solidFill>
                  <a:srgbClr val="0000FF"/>
                </a:solidFill>
              </a:rPr>
              <a:t>s</a:t>
            </a:r>
            <a:r>
              <a:rPr lang="en-US" dirty="0">
                <a:solidFill>
                  <a:srgbClr val="0000FF"/>
                </a:solidFill>
              </a:rPr>
              <a:t>)</a:t>
            </a:r>
          </a:p>
          <a:p>
            <a:pPr marL="533400" indent="-533400">
              <a:buFontTx/>
              <a:buNone/>
            </a:pPr>
            <a:r>
              <a:rPr lang="en-US" i="1" dirty="0">
                <a:solidFill>
                  <a:srgbClr val="0000FF"/>
                </a:solidFill>
              </a:rPr>
              <a:t>How many moles of </a:t>
            </a:r>
            <a:r>
              <a:rPr lang="en-US" i="1" dirty="0" err="1">
                <a:solidFill>
                  <a:srgbClr val="0000FF"/>
                </a:solidFill>
              </a:rPr>
              <a:t>NaF</a:t>
            </a:r>
            <a:r>
              <a:rPr lang="en-US" i="1" dirty="0">
                <a:solidFill>
                  <a:srgbClr val="0000FF"/>
                </a:solidFill>
              </a:rPr>
              <a:t> will be produced if 3.50 moles of Na is reacted with excess </a:t>
            </a:r>
            <a:r>
              <a:rPr lang="en-US" i="1" dirty="0">
                <a:solidFill>
                  <a:srgbClr val="0000FF"/>
                </a:solidFill>
                <a:cs typeface="Times New Roman" charset="0"/>
              </a:rPr>
              <a:t>Na</a:t>
            </a:r>
            <a:r>
              <a:rPr lang="en-US" i="1" baseline="-25000" dirty="0">
                <a:solidFill>
                  <a:srgbClr val="0000FF"/>
                </a:solidFill>
              </a:rPr>
              <a:t>2</a:t>
            </a:r>
            <a:r>
              <a:rPr lang="en-US" i="1" dirty="0">
                <a:solidFill>
                  <a:srgbClr val="0000FF"/>
                </a:solidFill>
              </a:rPr>
              <a:t>SiF</a:t>
            </a:r>
            <a:r>
              <a:rPr lang="en-US" i="1" baseline="-25000" dirty="0">
                <a:solidFill>
                  <a:srgbClr val="0000FF"/>
                </a:solidFill>
              </a:rPr>
              <a:t>6</a:t>
            </a:r>
            <a:r>
              <a:rPr lang="en-US" i="1" dirty="0">
                <a:solidFill>
                  <a:srgbClr val="0000FF"/>
                </a:solidFill>
              </a:rPr>
              <a:t>? </a:t>
            </a:r>
          </a:p>
          <a:p>
            <a:pPr marL="533400" indent="-533400">
              <a:buFontTx/>
              <a:buNone/>
            </a:pPr>
            <a:endParaRPr lang="en-US" b="1" dirty="0"/>
          </a:p>
          <a:p>
            <a:pPr marL="533400" indent="-533400">
              <a:buFontTx/>
              <a:buNone/>
            </a:pPr>
            <a:r>
              <a:rPr lang="en-US" b="1" dirty="0"/>
              <a:t>How Do We Get There?</a:t>
            </a:r>
          </a:p>
        </p:txBody>
      </p:sp>
      <p:grpSp>
        <p:nvGrpSpPr>
          <p:cNvPr id="2" name="Group 1" descr="3.50 mol N a multiplied by 6 mol N a F divided by 4 mol N a equals 5.25 mol N a F. &#10;mol N a has been scored out in both instances.&#10;There is an arrow pointing toward the term 3.50 mol N a, and the text below it reads starting amount.&#10;There is an arrow pointing toward the term 6 mol N a F divided by 4 mol N a, and the text above it reads mole ratio.&#10;">
            <a:extLst>
              <a:ext uri="{FF2B5EF4-FFF2-40B4-BE49-F238E27FC236}">
                <a16:creationId xmlns:a16="http://schemas.microsoft.com/office/drawing/2014/main" id="{6EFF16E7-EE34-423E-A19C-BC825C6CB106}"/>
              </a:ext>
            </a:extLst>
          </p:cNvPr>
          <p:cNvGrpSpPr/>
          <p:nvPr/>
        </p:nvGrpSpPr>
        <p:grpSpPr>
          <a:xfrm>
            <a:off x="1047750" y="3770649"/>
            <a:ext cx="5829300" cy="2762975"/>
            <a:chOff x="1047750" y="3770649"/>
            <a:chExt cx="5829300" cy="2762975"/>
          </a:xfrm>
        </p:grpSpPr>
        <p:graphicFrame>
          <p:nvGraphicFramePr>
            <p:cNvPr id="283652" name="Object 4" descr="3.50 mol N a multiplied by 6 mol N a F divided by 4 mol N a equals 5.25 mol N a F.&#10;Mol N a has been scored out in both instances."/>
            <p:cNvGraphicFramePr>
              <a:graphicFrameLocks noChangeAspect="1"/>
            </p:cNvGraphicFramePr>
            <p:nvPr>
              <p:extLst>
                <p:ext uri="{D42A27DB-BD31-4B8C-83A1-F6EECF244321}">
                  <p14:modId xmlns:p14="http://schemas.microsoft.com/office/powerpoint/2010/main" val="3348908721"/>
                </p:ext>
              </p:extLst>
            </p:nvPr>
          </p:nvGraphicFramePr>
          <p:xfrm>
            <a:off x="1047750" y="4857750"/>
            <a:ext cx="5829300" cy="800100"/>
          </p:xfrm>
          <a:graphic>
            <a:graphicData uri="http://schemas.openxmlformats.org/presentationml/2006/ole">
              <mc:AlternateContent xmlns:mc="http://schemas.openxmlformats.org/markup-compatibility/2006">
                <mc:Choice xmlns:v="urn:schemas-microsoft-com:vml" Requires="v">
                  <p:oleObj spid="_x0000_s1068" name="Equation" r:id="rId4" imgW="5829120" imgH="799920" progId="Equation.DSMT4">
                    <p:embed/>
                  </p:oleObj>
                </mc:Choice>
                <mc:Fallback>
                  <p:oleObj name="Equation" r:id="rId4" imgW="5829120" imgH="799920" progId="Equation.DSMT4">
                    <p:embed/>
                    <p:pic>
                      <p:nvPicPr>
                        <p:cNvPr id="283652" name="Object 4" descr="3.50 mol N a multiplied by 6 mol N a F divided by 4 mol N a equals 5.25 mol N a F.&#10;Mol N a has been scored out in both instances."/>
                        <p:cNvPicPr>
                          <a:picLocks noChangeAspect="1" noChangeArrowheads="1"/>
                        </p:cNvPicPr>
                        <p:nvPr/>
                      </p:nvPicPr>
                      <p:blipFill>
                        <a:blip r:embed="rId5"/>
                        <a:srcRect/>
                        <a:stretch>
                          <a:fillRect/>
                        </a:stretch>
                      </p:blipFill>
                      <p:spPr bwMode="auto">
                        <a:xfrm>
                          <a:off x="1047750" y="4857750"/>
                          <a:ext cx="5829300" cy="8001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83657" name="Object 9" descr="Upward arrow pointing toward 3.50 mol N a labeled as starting amount. "/>
            <p:cNvGraphicFramePr>
              <a:graphicFrameLocks noChangeAspect="1"/>
            </p:cNvGraphicFramePr>
            <p:nvPr>
              <p:extLst>
                <p:ext uri="{D42A27DB-BD31-4B8C-83A1-F6EECF244321}">
                  <p14:modId xmlns:p14="http://schemas.microsoft.com/office/powerpoint/2010/main" val="770643718"/>
                </p:ext>
              </p:extLst>
            </p:nvPr>
          </p:nvGraphicFramePr>
          <p:xfrm>
            <a:off x="1371600" y="5479524"/>
            <a:ext cx="939800" cy="1054100"/>
          </p:xfrm>
          <a:graphic>
            <a:graphicData uri="http://schemas.openxmlformats.org/presentationml/2006/ole">
              <mc:AlternateContent xmlns:mc="http://schemas.openxmlformats.org/markup-compatibility/2006">
                <mc:Choice xmlns:v="urn:schemas-microsoft-com:vml" Requires="v">
                  <p:oleObj spid="_x0000_s1069" name="Equation" r:id="rId6" imgW="940197" imgH="1054497" progId="Equation.DSMT4">
                    <p:embed/>
                  </p:oleObj>
                </mc:Choice>
                <mc:Fallback>
                  <p:oleObj name="Equation" r:id="rId6" imgW="940197" imgH="1054497" progId="Equation.DSMT4">
                    <p:embed/>
                    <p:pic>
                      <p:nvPicPr>
                        <p:cNvPr id="283657" name="Object 9" descr="Upward arrow pointing toward 3.50 mol N a labeled as starting amount.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5479524"/>
                          <a:ext cx="939800" cy="10541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83658" name="Object 10" descr="Downward arrow pointing toward 6 mol N a F labeled as mole ratio."/>
            <p:cNvGraphicFramePr>
              <a:graphicFrameLocks noChangeAspect="1"/>
            </p:cNvGraphicFramePr>
            <p:nvPr>
              <p:extLst>
                <p:ext uri="{D42A27DB-BD31-4B8C-83A1-F6EECF244321}">
                  <p14:modId xmlns:p14="http://schemas.microsoft.com/office/powerpoint/2010/main" val="2001042150"/>
                </p:ext>
              </p:extLst>
            </p:nvPr>
          </p:nvGraphicFramePr>
          <p:xfrm>
            <a:off x="4095750" y="3770649"/>
            <a:ext cx="622300" cy="1041400"/>
          </p:xfrm>
          <a:graphic>
            <a:graphicData uri="http://schemas.openxmlformats.org/presentationml/2006/ole">
              <mc:AlternateContent xmlns:mc="http://schemas.openxmlformats.org/markup-compatibility/2006">
                <mc:Choice xmlns:v="urn:schemas-microsoft-com:vml" Requires="v">
                  <p:oleObj spid="_x0000_s1070" name="Equation" r:id="rId8" imgW="622080" imgH="1041120" progId="Equation.DSMT4">
                    <p:embed/>
                  </p:oleObj>
                </mc:Choice>
                <mc:Fallback>
                  <p:oleObj name="Equation" r:id="rId8" imgW="622080" imgH="1041120" progId="Equation.DSMT4">
                    <p:embed/>
                    <p:pic>
                      <p:nvPicPr>
                        <p:cNvPr id="283658" name="Object 10" descr="Downward arrow pointing toward 6 mol N a F labeled as mole ratio."/>
                        <p:cNvPicPr>
                          <a:picLocks noChangeAspect="1" noChangeArrowheads="1"/>
                        </p:cNvPicPr>
                        <p:nvPr/>
                      </p:nvPicPr>
                      <p:blipFill>
                        <a:blip r:embed="rId9"/>
                        <a:srcRect/>
                        <a:stretch>
                          <a:fillRect/>
                        </a:stretch>
                      </p:blipFill>
                      <p:spPr bwMode="auto">
                        <a:xfrm>
                          <a:off x="4095750" y="3770649"/>
                          <a:ext cx="622300" cy="1041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Tree>
    <p:extLst>
      <p:ext uri="{BB962C8B-B14F-4D97-AF65-F5344CB8AC3E}">
        <p14:creationId xmlns:p14="http://schemas.microsoft.com/office/powerpoint/2010/main" val="3691051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371600" y="1143000"/>
            <a:ext cx="7315200" cy="533400"/>
          </a:xfrm>
        </p:spPr>
        <p:txBody>
          <a:bodyPr/>
          <a:lstStyle/>
          <a:p>
            <a:r>
              <a:rPr lang="en-US" dirty="0"/>
              <a:t>Exercise, 1</a:t>
            </a:r>
            <a:endParaRPr lang="en-US" dirty="0">
              <a:solidFill>
                <a:srgbClr val="FF0000"/>
              </a:solidFill>
            </a:endParaRPr>
          </a:p>
        </p:txBody>
      </p:sp>
      <p:sp>
        <p:nvSpPr>
          <p:cNvPr id="132099" name="Rectangle 3"/>
          <p:cNvSpPr>
            <a:spLocks noGrp="1" noChangeArrowheads="1"/>
          </p:cNvSpPr>
          <p:nvPr>
            <p:ph type="body" sz="half" idx="1"/>
          </p:nvPr>
        </p:nvSpPr>
        <p:spPr>
          <a:xfrm>
            <a:off x="457200" y="2133600"/>
            <a:ext cx="8077200" cy="4302716"/>
          </a:xfrm>
        </p:spPr>
        <p:txBody>
          <a:bodyPr/>
          <a:lstStyle/>
          <a:p>
            <a:pPr marL="400050" indent="-3175">
              <a:buFontTx/>
              <a:buNone/>
            </a:pPr>
            <a:r>
              <a:rPr lang="en-US" dirty="0"/>
              <a:t>Propane, C</a:t>
            </a:r>
            <a:r>
              <a:rPr lang="en-US" baseline="-25000" dirty="0"/>
              <a:t>3</a:t>
            </a:r>
            <a:r>
              <a:rPr lang="en-US" dirty="0"/>
              <a:t>H</a:t>
            </a:r>
            <a:r>
              <a:rPr lang="en-US" baseline="-25000" dirty="0"/>
              <a:t>8</a:t>
            </a:r>
            <a:r>
              <a:rPr lang="en-US" dirty="0"/>
              <a:t>, is a common fuel used for heating in rural areas. Predict the number of </a:t>
            </a:r>
            <a:r>
              <a:rPr lang="en-US" dirty="0">
                <a:solidFill>
                  <a:srgbClr val="0000FF"/>
                </a:solidFill>
              </a:rPr>
              <a:t>moles of CO</a:t>
            </a:r>
            <a:r>
              <a:rPr lang="en-US" baseline="-25000" dirty="0">
                <a:solidFill>
                  <a:srgbClr val="0000FF"/>
                </a:solidFill>
              </a:rPr>
              <a:t>2</a:t>
            </a:r>
            <a:r>
              <a:rPr lang="en-US" dirty="0"/>
              <a:t> formed when 3.74 moles of propane is burned in excess oxygen.</a:t>
            </a:r>
          </a:p>
          <a:p>
            <a:pPr marL="400050" indent="-3175">
              <a:buFontTx/>
              <a:buNone/>
            </a:pPr>
            <a:r>
              <a:rPr lang="en-US" dirty="0"/>
              <a:t>			C</a:t>
            </a:r>
            <a:r>
              <a:rPr lang="en-US" baseline="-25000" dirty="0"/>
              <a:t>3</a:t>
            </a:r>
            <a:r>
              <a:rPr lang="en-US" dirty="0"/>
              <a:t>H</a:t>
            </a:r>
            <a:r>
              <a:rPr lang="en-US" baseline="-25000" dirty="0"/>
              <a:t>8</a:t>
            </a:r>
            <a:r>
              <a:rPr lang="en-US" dirty="0"/>
              <a:t> + 5O</a:t>
            </a:r>
            <a:r>
              <a:rPr lang="en-US" baseline="-25000" dirty="0"/>
              <a:t>2</a:t>
            </a:r>
            <a:r>
              <a:rPr lang="en-US" dirty="0"/>
              <a:t> </a:t>
            </a:r>
            <a:r>
              <a:rPr lang="en-US" dirty="0">
                <a:cs typeface="Arial" charset="0"/>
              </a:rPr>
              <a:t>→ </a:t>
            </a:r>
            <a:r>
              <a:rPr lang="en-US" dirty="0"/>
              <a:t>3CO</a:t>
            </a:r>
            <a:r>
              <a:rPr lang="en-US" baseline="-25000" dirty="0"/>
              <a:t>2</a:t>
            </a:r>
            <a:r>
              <a:rPr lang="en-US" dirty="0"/>
              <a:t> + 4H</a:t>
            </a:r>
            <a:r>
              <a:rPr lang="en-US" baseline="-25000" dirty="0"/>
              <a:t>2</a:t>
            </a:r>
            <a:r>
              <a:rPr lang="en-US" dirty="0"/>
              <a:t>O</a:t>
            </a:r>
          </a:p>
          <a:p>
            <a:pPr marL="400050" indent="-3175">
              <a:buFontTx/>
              <a:buNone/>
            </a:pPr>
            <a:endParaRPr lang="en-US" sz="2000" dirty="0"/>
          </a:p>
          <a:p>
            <a:pPr marL="917575" indent="-457200">
              <a:buFontTx/>
              <a:buNone/>
            </a:pPr>
            <a:r>
              <a:rPr lang="en-US" sz="2600" dirty="0"/>
              <a:t>a)	</a:t>
            </a:r>
            <a:r>
              <a:rPr lang="en-US" dirty="0"/>
              <a:t>11.2 moles</a:t>
            </a:r>
          </a:p>
          <a:p>
            <a:pPr marL="917575" indent="-457200">
              <a:buFontTx/>
              <a:buNone/>
            </a:pPr>
            <a:r>
              <a:rPr lang="en-US" dirty="0"/>
              <a:t>b)	7.48 moles</a:t>
            </a:r>
          </a:p>
          <a:p>
            <a:pPr marL="917575" indent="-457200">
              <a:buFontTx/>
              <a:buNone/>
            </a:pPr>
            <a:r>
              <a:rPr lang="en-US" dirty="0"/>
              <a:t>c)	3.74 moles</a:t>
            </a:r>
          </a:p>
          <a:p>
            <a:pPr marL="917575" indent="-457200">
              <a:buFontTx/>
              <a:buNone/>
            </a:pPr>
            <a:r>
              <a:rPr lang="en-US" dirty="0"/>
              <a:t>d)	1.25 moles</a:t>
            </a:r>
            <a:endParaRPr lang="en-US" dirty="0">
              <a:solidFill>
                <a:srgbClr val="009900"/>
              </a:solidFill>
            </a:endParaRPr>
          </a:p>
        </p:txBody>
      </p:sp>
      <p:sp>
        <p:nvSpPr>
          <p:cNvPr id="132101" name="Rectangle 5" descr="green box"/>
          <p:cNvSpPr>
            <a:spLocks noChangeArrowheads="1"/>
          </p:cNvSpPr>
          <p:nvPr/>
        </p:nvSpPr>
        <p:spPr bwMode="auto">
          <a:xfrm>
            <a:off x="958149" y="4481634"/>
            <a:ext cx="2133600" cy="4572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aphicFrame>
        <p:nvGraphicFramePr>
          <p:cNvPr id="9" name="Object 8" descr="3.74 moles C subscript 3 H subscript 8 multiplied by 3 moles C O subscript 2 divided by 1 mole C subscript 3 H subscript 8.">
            <a:extLst>
              <a:ext uri="{FF2B5EF4-FFF2-40B4-BE49-F238E27FC236}">
                <a16:creationId xmlns:a16="http://schemas.microsoft.com/office/drawing/2014/main" id="{1DABC58F-28EA-4B33-945F-E4DBAC53A4EF}"/>
              </a:ext>
            </a:extLst>
          </p:cNvPr>
          <p:cNvGraphicFramePr>
            <a:graphicFrameLocks noChangeAspect="1"/>
          </p:cNvGraphicFramePr>
          <p:nvPr>
            <p:extLst>
              <p:ext uri="{D42A27DB-BD31-4B8C-83A1-F6EECF244321}">
                <p14:modId xmlns:p14="http://schemas.microsoft.com/office/powerpoint/2010/main" val="609320660"/>
              </p:ext>
            </p:extLst>
          </p:nvPr>
        </p:nvGraphicFramePr>
        <p:xfrm>
          <a:off x="3930310" y="4924089"/>
          <a:ext cx="4604090" cy="931780"/>
        </p:xfrm>
        <a:graphic>
          <a:graphicData uri="http://schemas.openxmlformats.org/presentationml/2006/ole">
            <mc:AlternateContent xmlns:mc="http://schemas.openxmlformats.org/markup-compatibility/2006">
              <mc:Choice xmlns:v="urn:schemas-microsoft-com:vml" Requires="v">
                <p:oleObj spid="_x0000_s2064" name="Equation" r:id="rId4" imgW="2133360" imgH="431640" progId="Equation.DSMT4">
                  <p:embed/>
                </p:oleObj>
              </mc:Choice>
              <mc:Fallback>
                <p:oleObj name="Equation" r:id="rId4" imgW="2133360" imgH="431640" progId="Equation.DSMT4">
                  <p:embed/>
                  <p:pic>
                    <p:nvPicPr>
                      <p:cNvPr id="9" name="Object 8" descr="3.74 moles C subscript 3 H subscript 8 multiplied by 3 moles C O subscript 2 divided by 1 mole C subscript 3 H subscript 8.">
                        <a:extLst>
                          <a:ext uri="{FF2B5EF4-FFF2-40B4-BE49-F238E27FC236}">
                            <a16:creationId xmlns:a16="http://schemas.microsoft.com/office/drawing/2014/main" id="{1DABC58F-28EA-4B33-945F-E4DBAC53A4EF}"/>
                          </a:ext>
                        </a:extLst>
                      </p:cNvPr>
                      <p:cNvPicPr/>
                      <p:nvPr/>
                    </p:nvPicPr>
                    <p:blipFill>
                      <a:blip r:embed="rId5"/>
                      <a:stretch>
                        <a:fillRect/>
                      </a:stretch>
                    </p:blipFill>
                    <p:spPr>
                      <a:xfrm>
                        <a:off x="3930310" y="4924089"/>
                        <a:ext cx="4604090" cy="931780"/>
                      </a:xfrm>
                      <a:prstGeom prst="rect">
                        <a:avLst/>
                      </a:prstGeom>
                    </p:spPr>
                  </p:pic>
                </p:oleObj>
              </mc:Fallback>
            </mc:AlternateContent>
          </a:graphicData>
        </a:graphic>
      </p:graphicFrame>
    </p:spTree>
    <p:extLst>
      <p:ext uri="{BB962C8B-B14F-4D97-AF65-F5344CB8AC3E}">
        <p14:creationId xmlns:p14="http://schemas.microsoft.com/office/powerpoint/2010/main" val="149237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7747" name="Rectangle 3"/>
          <p:cNvSpPr>
            <a:spLocks noGrp="1" noChangeArrowheads="1"/>
          </p:cNvSpPr>
          <p:nvPr>
            <p:ph type="title"/>
          </p:nvPr>
        </p:nvSpPr>
        <p:spPr/>
        <p:txBody>
          <a:bodyPr/>
          <a:lstStyle/>
          <a:p>
            <a:r>
              <a:rPr lang="en-US" dirty="0"/>
              <a:t>Steps for Calculating the Masses of Reactants and Products in Chemical Reactions</a:t>
            </a:r>
          </a:p>
        </p:txBody>
      </p:sp>
      <p:sp>
        <p:nvSpPr>
          <p:cNvPr id="287746" name="Rectangle 2"/>
          <p:cNvSpPr>
            <a:spLocks noGrp="1" noChangeArrowheads="1"/>
          </p:cNvSpPr>
          <p:nvPr>
            <p:ph idx="1"/>
          </p:nvPr>
        </p:nvSpPr>
        <p:spPr>
          <a:xfrm>
            <a:off x="533400" y="1752600"/>
            <a:ext cx="7543800" cy="3785652"/>
          </a:xfrm>
        </p:spPr>
        <p:txBody>
          <a:bodyPr/>
          <a:lstStyle/>
          <a:p>
            <a:pPr marL="0" indent="0">
              <a:buNone/>
            </a:pPr>
            <a:endParaRPr lang="en-US" sz="1600" dirty="0">
              <a:solidFill>
                <a:srgbClr val="669900"/>
              </a:solidFill>
              <a:cs typeface="Times New Roman" charset="0"/>
            </a:endParaRPr>
          </a:p>
          <a:p>
            <a:r>
              <a:rPr lang="en-US" dirty="0">
                <a:cs typeface="Times New Roman" charset="0"/>
              </a:rPr>
              <a:t>Balance the equation for the reaction </a:t>
            </a:r>
          </a:p>
          <a:p>
            <a:r>
              <a:rPr lang="en-US" dirty="0">
                <a:cs typeface="Times New Roman" charset="0"/>
              </a:rPr>
              <a:t>Convert the masses of reactants or products to moles</a:t>
            </a:r>
          </a:p>
          <a:p>
            <a:r>
              <a:rPr lang="en-US" dirty="0">
                <a:cs typeface="Times New Roman" charset="0"/>
              </a:rPr>
              <a:t>Use the balanced equation to set up the appropriate mole ratio(s)</a:t>
            </a:r>
          </a:p>
          <a:p>
            <a:r>
              <a:rPr lang="en-US" dirty="0">
                <a:cs typeface="Times New Roman" charset="0"/>
              </a:rPr>
              <a:t>Use the mole ratio(s) to calculate the number of moles of the desired reactant or product</a:t>
            </a:r>
          </a:p>
          <a:p>
            <a:r>
              <a:rPr lang="en-US" dirty="0">
                <a:cs typeface="Times New Roman" charset="0"/>
              </a:rPr>
              <a:t>Convert from moles back to masses</a:t>
            </a:r>
          </a:p>
        </p:txBody>
      </p:sp>
    </p:spTree>
    <p:extLst>
      <p:ext uri="{BB962C8B-B14F-4D97-AF65-F5344CB8AC3E}">
        <p14:creationId xmlns:p14="http://schemas.microsoft.com/office/powerpoint/2010/main" val="3075349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9795" name="Rectangle 3"/>
          <p:cNvSpPr>
            <a:spLocks noGrp="1" noChangeArrowheads="1"/>
          </p:cNvSpPr>
          <p:nvPr>
            <p:ph type="title"/>
          </p:nvPr>
        </p:nvSpPr>
        <p:spPr/>
        <p:txBody>
          <a:bodyPr/>
          <a:lstStyle/>
          <a:p>
            <a:r>
              <a:rPr lang="en-US" dirty="0"/>
              <a:t>Stoichiometry</a:t>
            </a:r>
          </a:p>
        </p:txBody>
      </p:sp>
      <p:sp>
        <p:nvSpPr>
          <p:cNvPr id="289794" name="Rectangle 2"/>
          <p:cNvSpPr>
            <a:spLocks noGrp="1" noChangeArrowheads="1"/>
          </p:cNvSpPr>
          <p:nvPr>
            <p:ph idx="1"/>
          </p:nvPr>
        </p:nvSpPr>
        <p:spPr>
          <a:xfrm>
            <a:off x="457200" y="1752600"/>
            <a:ext cx="8229600" cy="1200329"/>
          </a:xfrm>
        </p:spPr>
        <p:txBody>
          <a:bodyPr/>
          <a:lstStyle/>
          <a:p>
            <a:r>
              <a:rPr lang="en-US" dirty="0"/>
              <a:t>Process of using a balanced chemical equation to calculate the relative masses of reactants and products involved in a reaction</a:t>
            </a:r>
          </a:p>
        </p:txBody>
      </p:sp>
    </p:spTree>
    <p:extLst>
      <p:ext uri="{BB962C8B-B14F-4D97-AF65-F5344CB8AC3E}">
        <p14:creationId xmlns:p14="http://schemas.microsoft.com/office/powerpoint/2010/main" val="14283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1843" name="Rectangle 3"/>
          <p:cNvSpPr>
            <a:spLocks noGrp="1" noChangeArrowheads="1"/>
          </p:cNvSpPr>
          <p:nvPr>
            <p:ph type="title"/>
          </p:nvPr>
        </p:nvSpPr>
        <p:spPr/>
        <p:txBody>
          <a:bodyPr/>
          <a:lstStyle/>
          <a:p>
            <a:r>
              <a:rPr lang="en-US" dirty="0"/>
              <a:t>Example, 2</a:t>
            </a:r>
          </a:p>
        </p:txBody>
      </p:sp>
      <p:sp>
        <p:nvSpPr>
          <p:cNvPr id="291842" name="Rectangle 2"/>
          <p:cNvSpPr>
            <a:spLocks noGrp="1" noChangeArrowheads="1"/>
          </p:cNvSpPr>
          <p:nvPr>
            <p:ph idx="1"/>
          </p:nvPr>
        </p:nvSpPr>
        <p:spPr>
          <a:xfrm>
            <a:off x="533400" y="1676400"/>
            <a:ext cx="7543800" cy="3496342"/>
          </a:xfrm>
        </p:spPr>
        <p:txBody>
          <a:bodyPr/>
          <a:lstStyle/>
          <a:p>
            <a:pPr marL="533400" indent="-533400">
              <a:buFontTx/>
              <a:buNone/>
            </a:pPr>
            <a:r>
              <a:rPr lang="en-US" i="1" dirty="0">
                <a:solidFill>
                  <a:srgbClr val="0000FF"/>
                </a:solidFill>
                <a:cs typeface="Times New Roman" charset="0"/>
              </a:rPr>
              <a:t>	For the following unbalanced equation:</a:t>
            </a:r>
          </a:p>
          <a:p>
            <a:pPr marL="533400" indent="-533400">
              <a:buFontTx/>
              <a:buNone/>
            </a:pPr>
            <a:r>
              <a:rPr lang="en-US" dirty="0">
                <a:solidFill>
                  <a:srgbClr val="0000FF"/>
                </a:solidFill>
                <a:cs typeface="Times New Roman" charset="0"/>
              </a:rPr>
              <a:t>			Cr</a:t>
            </a:r>
            <a:r>
              <a:rPr lang="en-US" dirty="0">
                <a:solidFill>
                  <a:srgbClr val="0000FF"/>
                </a:solidFill>
              </a:rPr>
              <a:t>(</a:t>
            </a:r>
            <a:r>
              <a:rPr lang="en-US" i="1" dirty="0">
                <a:solidFill>
                  <a:srgbClr val="0000FF"/>
                </a:solidFill>
              </a:rPr>
              <a:t>s</a:t>
            </a:r>
            <a:r>
              <a:rPr lang="en-US" dirty="0">
                <a:solidFill>
                  <a:srgbClr val="0000FF"/>
                </a:solidFill>
              </a:rPr>
              <a:t>) + O</a:t>
            </a:r>
            <a:r>
              <a:rPr lang="en-US" baseline="-25000" dirty="0">
                <a:solidFill>
                  <a:srgbClr val="0000FF"/>
                </a:solidFill>
              </a:rPr>
              <a:t>2</a:t>
            </a:r>
            <a:r>
              <a:rPr lang="en-US" dirty="0">
                <a:solidFill>
                  <a:srgbClr val="0000FF"/>
                </a:solidFill>
              </a:rPr>
              <a:t>(</a:t>
            </a:r>
            <a:r>
              <a:rPr lang="en-US" i="1" dirty="0">
                <a:solidFill>
                  <a:srgbClr val="0000FF"/>
                </a:solidFill>
              </a:rPr>
              <a:t>g</a:t>
            </a:r>
            <a:r>
              <a:rPr lang="en-US" dirty="0">
                <a:solidFill>
                  <a:srgbClr val="0000FF"/>
                </a:solidFill>
              </a:rPr>
              <a:t>) </a:t>
            </a:r>
            <a:r>
              <a:rPr lang="en-US" dirty="0">
                <a:solidFill>
                  <a:srgbClr val="0000FF"/>
                </a:solidFill>
                <a:cs typeface="Arial" charset="0"/>
              </a:rPr>
              <a:t>→ Cr</a:t>
            </a:r>
            <a:r>
              <a:rPr lang="en-US" baseline="-25000" dirty="0">
                <a:solidFill>
                  <a:srgbClr val="0000FF"/>
                </a:solidFill>
                <a:cs typeface="Arial" charset="0"/>
              </a:rPr>
              <a:t>2</a:t>
            </a:r>
            <a:r>
              <a:rPr lang="en-US" dirty="0">
                <a:solidFill>
                  <a:srgbClr val="0000FF"/>
                </a:solidFill>
                <a:cs typeface="Arial" charset="0"/>
              </a:rPr>
              <a:t>O</a:t>
            </a:r>
            <a:r>
              <a:rPr lang="en-US" baseline="-25000" dirty="0">
                <a:solidFill>
                  <a:srgbClr val="0000FF"/>
                </a:solidFill>
                <a:cs typeface="Arial" charset="0"/>
              </a:rPr>
              <a:t>3</a:t>
            </a:r>
            <a:r>
              <a:rPr lang="en-US" dirty="0">
                <a:solidFill>
                  <a:srgbClr val="0000FF"/>
                </a:solidFill>
              </a:rPr>
              <a:t>(</a:t>
            </a:r>
            <a:r>
              <a:rPr lang="en-US" i="1" dirty="0">
                <a:solidFill>
                  <a:srgbClr val="0000FF"/>
                </a:solidFill>
              </a:rPr>
              <a:t>s</a:t>
            </a:r>
            <a:r>
              <a:rPr lang="en-US" dirty="0">
                <a:solidFill>
                  <a:srgbClr val="0000FF"/>
                </a:solidFill>
              </a:rPr>
              <a:t>) </a:t>
            </a:r>
          </a:p>
          <a:p>
            <a:pPr marL="533400" indent="-533400">
              <a:buFontTx/>
              <a:buNone/>
            </a:pPr>
            <a:r>
              <a:rPr lang="en-US" dirty="0">
                <a:solidFill>
                  <a:srgbClr val="0000FF"/>
                </a:solidFill>
              </a:rPr>
              <a:t>	</a:t>
            </a:r>
            <a:r>
              <a:rPr lang="en-US" i="1" dirty="0">
                <a:solidFill>
                  <a:srgbClr val="0000FF"/>
                </a:solidFill>
              </a:rPr>
              <a:t>How many grams of chromium(III) oxide can be produced from 15.0 g of solid chromium and excess oxygen? </a:t>
            </a:r>
          </a:p>
          <a:p>
            <a:pPr marL="533400" indent="-533400">
              <a:buFontTx/>
              <a:buNone/>
            </a:pPr>
            <a:endParaRPr lang="en-US" sz="1200" b="1" dirty="0"/>
          </a:p>
          <a:p>
            <a:pPr marL="533400" indent="-533400">
              <a:buFontTx/>
              <a:buNone/>
            </a:pPr>
            <a:r>
              <a:rPr lang="en-US" b="1" dirty="0"/>
              <a:t>Where Are We Going?</a:t>
            </a:r>
          </a:p>
          <a:p>
            <a:pPr marL="533400" indent="-533400"/>
            <a:r>
              <a:rPr lang="en-US" sz="2200" dirty="0"/>
              <a:t>We want to determine the mass of </a:t>
            </a:r>
            <a:r>
              <a:rPr lang="en-US" sz="2200" dirty="0">
                <a:cs typeface="Arial" charset="0"/>
              </a:rPr>
              <a:t>Cr</a:t>
            </a:r>
            <a:r>
              <a:rPr lang="en-US" sz="2200" baseline="-25000" dirty="0">
                <a:cs typeface="Arial" charset="0"/>
              </a:rPr>
              <a:t>2</a:t>
            </a:r>
            <a:r>
              <a:rPr lang="en-US" sz="2200" dirty="0">
                <a:cs typeface="Arial" charset="0"/>
              </a:rPr>
              <a:t>O</a:t>
            </a:r>
            <a:r>
              <a:rPr lang="en-US" sz="2200" baseline="-25000" dirty="0">
                <a:cs typeface="Arial" charset="0"/>
              </a:rPr>
              <a:t>3 </a:t>
            </a:r>
            <a:r>
              <a:rPr lang="en-US" sz="2200" dirty="0"/>
              <a:t>produced by the reaction of 15.0 g Cr with excess O</a:t>
            </a:r>
            <a:r>
              <a:rPr lang="en-US" sz="2200" baseline="-25000" dirty="0"/>
              <a:t>2</a:t>
            </a:r>
            <a:endParaRPr lang="en-US" sz="2200" dirty="0"/>
          </a:p>
        </p:txBody>
      </p:sp>
    </p:spTree>
    <p:extLst>
      <p:ext uri="{BB962C8B-B14F-4D97-AF65-F5344CB8AC3E}">
        <p14:creationId xmlns:p14="http://schemas.microsoft.com/office/powerpoint/2010/main" val="2263358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3891" name="Rectangle 3"/>
          <p:cNvSpPr>
            <a:spLocks noGrp="1" noChangeArrowheads="1"/>
          </p:cNvSpPr>
          <p:nvPr>
            <p:ph type="title"/>
          </p:nvPr>
        </p:nvSpPr>
        <p:spPr/>
        <p:txBody>
          <a:bodyPr/>
          <a:lstStyle/>
          <a:p>
            <a:r>
              <a:rPr lang="en-US" dirty="0"/>
              <a:t>Example, 2 </a:t>
            </a:r>
            <a:r>
              <a:rPr lang="en-US" sz="1600" dirty="0"/>
              <a:t>(continued 1)</a:t>
            </a:r>
          </a:p>
        </p:txBody>
      </p:sp>
      <p:sp>
        <p:nvSpPr>
          <p:cNvPr id="293890" name="Rectangle 2"/>
          <p:cNvSpPr>
            <a:spLocks noGrp="1" noChangeArrowheads="1"/>
          </p:cNvSpPr>
          <p:nvPr>
            <p:ph idx="1"/>
          </p:nvPr>
        </p:nvSpPr>
        <p:spPr>
          <a:xfrm>
            <a:off x="533400" y="1676400"/>
            <a:ext cx="7543800" cy="4647426"/>
          </a:xfrm>
        </p:spPr>
        <p:txBody>
          <a:bodyPr/>
          <a:lstStyle/>
          <a:p>
            <a:pPr marL="533400" indent="-533400">
              <a:buFontTx/>
              <a:buNone/>
            </a:pPr>
            <a:r>
              <a:rPr lang="en-US" i="1" dirty="0">
                <a:solidFill>
                  <a:srgbClr val="0000FF"/>
                </a:solidFill>
                <a:cs typeface="Times New Roman" charset="0"/>
              </a:rPr>
              <a:t>	For the following unbalanced equation:</a:t>
            </a:r>
          </a:p>
          <a:p>
            <a:pPr marL="533400" indent="-533400">
              <a:buFontTx/>
              <a:buNone/>
            </a:pPr>
            <a:r>
              <a:rPr lang="en-US" dirty="0">
                <a:solidFill>
                  <a:srgbClr val="0000FF"/>
                </a:solidFill>
                <a:cs typeface="Times New Roman" charset="0"/>
              </a:rPr>
              <a:t>			Cr</a:t>
            </a:r>
            <a:r>
              <a:rPr lang="en-US" dirty="0">
                <a:solidFill>
                  <a:srgbClr val="0000FF"/>
                </a:solidFill>
              </a:rPr>
              <a:t>(</a:t>
            </a:r>
            <a:r>
              <a:rPr lang="en-US" i="1" dirty="0">
                <a:solidFill>
                  <a:srgbClr val="0000FF"/>
                </a:solidFill>
              </a:rPr>
              <a:t>s</a:t>
            </a:r>
            <a:r>
              <a:rPr lang="en-US" dirty="0">
                <a:solidFill>
                  <a:srgbClr val="0000FF"/>
                </a:solidFill>
              </a:rPr>
              <a:t>) + O</a:t>
            </a:r>
            <a:r>
              <a:rPr lang="en-US" baseline="-25000" dirty="0">
                <a:solidFill>
                  <a:srgbClr val="0000FF"/>
                </a:solidFill>
              </a:rPr>
              <a:t>2</a:t>
            </a:r>
            <a:r>
              <a:rPr lang="en-US" dirty="0">
                <a:solidFill>
                  <a:srgbClr val="0000FF"/>
                </a:solidFill>
              </a:rPr>
              <a:t>(</a:t>
            </a:r>
            <a:r>
              <a:rPr lang="en-US" i="1" dirty="0">
                <a:solidFill>
                  <a:srgbClr val="0000FF"/>
                </a:solidFill>
              </a:rPr>
              <a:t>g</a:t>
            </a:r>
            <a:r>
              <a:rPr lang="en-US" dirty="0">
                <a:solidFill>
                  <a:srgbClr val="0000FF"/>
                </a:solidFill>
              </a:rPr>
              <a:t>) </a:t>
            </a:r>
            <a:r>
              <a:rPr lang="en-US" dirty="0">
                <a:solidFill>
                  <a:srgbClr val="0000FF"/>
                </a:solidFill>
                <a:cs typeface="Arial" charset="0"/>
              </a:rPr>
              <a:t>→ Cr</a:t>
            </a:r>
            <a:r>
              <a:rPr lang="en-US" baseline="-25000" dirty="0">
                <a:solidFill>
                  <a:srgbClr val="0000FF"/>
                </a:solidFill>
                <a:cs typeface="Arial" charset="0"/>
              </a:rPr>
              <a:t>2</a:t>
            </a:r>
            <a:r>
              <a:rPr lang="en-US" dirty="0">
                <a:solidFill>
                  <a:srgbClr val="0000FF"/>
                </a:solidFill>
                <a:cs typeface="Arial" charset="0"/>
              </a:rPr>
              <a:t>O</a:t>
            </a:r>
            <a:r>
              <a:rPr lang="en-US" baseline="-25000" dirty="0">
                <a:solidFill>
                  <a:srgbClr val="0000FF"/>
                </a:solidFill>
                <a:cs typeface="Arial" charset="0"/>
              </a:rPr>
              <a:t>3</a:t>
            </a:r>
            <a:r>
              <a:rPr lang="en-US" dirty="0">
                <a:solidFill>
                  <a:srgbClr val="0000FF"/>
                </a:solidFill>
              </a:rPr>
              <a:t>(</a:t>
            </a:r>
            <a:r>
              <a:rPr lang="en-US" i="1" dirty="0">
                <a:solidFill>
                  <a:srgbClr val="0000FF"/>
                </a:solidFill>
              </a:rPr>
              <a:t>s</a:t>
            </a:r>
            <a:r>
              <a:rPr lang="en-US" dirty="0">
                <a:solidFill>
                  <a:srgbClr val="0000FF"/>
                </a:solidFill>
              </a:rPr>
              <a:t>) </a:t>
            </a:r>
          </a:p>
          <a:p>
            <a:pPr marL="533400" indent="-533400">
              <a:buFontTx/>
              <a:buNone/>
            </a:pPr>
            <a:r>
              <a:rPr lang="en-US" dirty="0">
                <a:solidFill>
                  <a:srgbClr val="0000FF"/>
                </a:solidFill>
              </a:rPr>
              <a:t>	</a:t>
            </a:r>
            <a:r>
              <a:rPr lang="en-US" i="1" dirty="0">
                <a:solidFill>
                  <a:srgbClr val="0000FF"/>
                </a:solidFill>
              </a:rPr>
              <a:t>How many grams of chromium(III) oxide can be produced from 15.0 g of solid chromium and excess oxygen? </a:t>
            </a:r>
          </a:p>
          <a:p>
            <a:pPr marL="533400" indent="-533400">
              <a:buFontTx/>
              <a:buNone/>
            </a:pPr>
            <a:endParaRPr lang="en-US" sz="1200" b="1" dirty="0"/>
          </a:p>
          <a:p>
            <a:pPr marL="533400" indent="-533400">
              <a:buFontTx/>
              <a:buNone/>
            </a:pPr>
            <a:r>
              <a:rPr lang="en-US" b="1" dirty="0"/>
              <a:t>What Do We Know?</a:t>
            </a:r>
          </a:p>
          <a:p>
            <a:pPr marL="533400" indent="-533400"/>
            <a:r>
              <a:rPr lang="en-US" sz="2200" dirty="0"/>
              <a:t>Unbalanced equation</a:t>
            </a:r>
          </a:p>
          <a:p>
            <a:pPr marL="533400" indent="-533400"/>
            <a:r>
              <a:rPr lang="en-US" sz="2200" dirty="0"/>
              <a:t>We start with 15.0 g Cr</a:t>
            </a:r>
          </a:p>
          <a:p>
            <a:pPr marL="533400" indent="-533400"/>
            <a:r>
              <a:rPr lang="en-US" sz="2200" dirty="0"/>
              <a:t>We know from the periodic table that the atomic masses of chromium and oxygen are 52.00 g/</a:t>
            </a:r>
            <a:r>
              <a:rPr lang="en-US" sz="2200" dirty="0" err="1"/>
              <a:t>mol</a:t>
            </a:r>
            <a:r>
              <a:rPr lang="en-US" sz="2200" dirty="0"/>
              <a:t> and 16.00 g/</a:t>
            </a:r>
            <a:r>
              <a:rPr lang="en-US" sz="2200" dirty="0" err="1"/>
              <a:t>mol</a:t>
            </a:r>
            <a:r>
              <a:rPr lang="en-US" sz="2200" dirty="0"/>
              <a:t>, respectively</a:t>
            </a:r>
          </a:p>
        </p:txBody>
      </p:sp>
    </p:spTree>
    <p:extLst>
      <p:ext uri="{BB962C8B-B14F-4D97-AF65-F5344CB8AC3E}">
        <p14:creationId xmlns:p14="http://schemas.microsoft.com/office/powerpoint/2010/main" val="1833325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5939" name="Rectangle 3"/>
          <p:cNvSpPr>
            <a:spLocks noGrp="1" noChangeArrowheads="1"/>
          </p:cNvSpPr>
          <p:nvPr>
            <p:ph type="title"/>
          </p:nvPr>
        </p:nvSpPr>
        <p:spPr/>
        <p:txBody>
          <a:bodyPr/>
          <a:lstStyle/>
          <a:p>
            <a:r>
              <a:rPr lang="en-US" dirty="0"/>
              <a:t>Example, 2 </a:t>
            </a:r>
            <a:r>
              <a:rPr lang="en-US" sz="1600" dirty="0"/>
              <a:t>(continued 2)</a:t>
            </a:r>
            <a:endParaRPr lang="en-US" dirty="0"/>
          </a:p>
        </p:txBody>
      </p:sp>
      <p:sp>
        <p:nvSpPr>
          <p:cNvPr id="295938" name="Rectangle 2"/>
          <p:cNvSpPr>
            <a:spLocks noGrp="1" noChangeArrowheads="1"/>
          </p:cNvSpPr>
          <p:nvPr>
            <p:ph idx="1"/>
          </p:nvPr>
        </p:nvSpPr>
        <p:spPr>
          <a:xfrm>
            <a:off x="533400" y="1676400"/>
            <a:ext cx="7543800" cy="4524315"/>
          </a:xfrm>
        </p:spPr>
        <p:txBody>
          <a:bodyPr/>
          <a:lstStyle/>
          <a:p>
            <a:pPr marL="533400" indent="-533400">
              <a:buFontTx/>
              <a:buNone/>
            </a:pPr>
            <a:r>
              <a:rPr lang="en-US" i="1" dirty="0">
                <a:solidFill>
                  <a:srgbClr val="0000FF"/>
                </a:solidFill>
                <a:cs typeface="Times New Roman" charset="0"/>
              </a:rPr>
              <a:t>	For the following unbalanced equation:</a:t>
            </a:r>
          </a:p>
          <a:p>
            <a:pPr marL="533400" indent="-533400">
              <a:buFontTx/>
              <a:buNone/>
            </a:pPr>
            <a:r>
              <a:rPr lang="en-US" dirty="0">
                <a:solidFill>
                  <a:srgbClr val="0000FF"/>
                </a:solidFill>
                <a:cs typeface="Times New Roman" charset="0"/>
              </a:rPr>
              <a:t>			Cr</a:t>
            </a:r>
            <a:r>
              <a:rPr lang="en-US" dirty="0">
                <a:solidFill>
                  <a:srgbClr val="0000FF"/>
                </a:solidFill>
              </a:rPr>
              <a:t>(</a:t>
            </a:r>
            <a:r>
              <a:rPr lang="en-US" i="1" dirty="0">
                <a:solidFill>
                  <a:srgbClr val="0000FF"/>
                </a:solidFill>
              </a:rPr>
              <a:t>s</a:t>
            </a:r>
            <a:r>
              <a:rPr lang="en-US" dirty="0">
                <a:solidFill>
                  <a:srgbClr val="0000FF"/>
                </a:solidFill>
              </a:rPr>
              <a:t>) + O</a:t>
            </a:r>
            <a:r>
              <a:rPr lang="en-US" baseline="-25000" dirty="0">
                <a:solidFill>
                  <a:srgbClr val="0000FF"/>
                </a:solidFill>
              </a:rPr>
              <a:t>2</a:t>
            </a:r>
            <a:r>
              <a:rPr lang="en-US" dirty="0">
                <a:solidFill>
                  <a:srgbClr val="0000FF"/>
                </a:solidFill>
              </a:rPr>
              <a:t>(</a:t>
            </a:r>
            <a:r>
              <a:rPr lang="en-US" i="1" dirty="0">
                <a:solidFill>
                  <a:srgbClr val="0000FF"/>
                </a:solidFill>
              </a:rPr>
              <a:t>g</a:t>
            </a:r>
            <a:r>
              <a:rPr lang="en-US" dirty="0">
                <a:solidFill>
                  <a:srgbClr val="0000FF"/>
                </a:solidFill>
              </a:rPr>
              <a:t>) </a:t>
            </a:r>
            <a:r>
              <a:rPr lang="en-US" dirty="0">
                <a:solidFill>
                  <a:srgbClr val="0000FF"/>
                </a:solidFill>
                <a:cs typeface="Arial" charset="0"/>
              </a:rPr>
              <a:t>→ Cr</a:t>
            </a:r>
            <a:r>
              <a:rPr lang="en-US" baseline="-25000" dirty="0">
                <a:solidFill>
                  <a:srgbClr val="0000FF"/>
                </a:solidFill>
                <a:cs typeface="Arial" charset="0"/>
              </a:rPr>
              <a:t>2</a:t>
            </a:r>
            <a:r>
              <a:rPr lang="en-US" dirty="0">
                <a:solidFill>
                  <a:srgbClr val="0000FF"/>
                </a:solidFill>
                <a:cs typeface="Arial" charset="0"/>
              </a:rPr>
              <a:t>O</a:t>
            </a:r>
            <a:r>
              <a:rPr lang="en-US" baseline="-25000" dirty="0">
                <a:solidFill>
                  <a:srgbClr val="0000FF"/>
                </a:solidFill>
                <a:cs typeface="Arial" charset="0"/>
              </a:rPr>
              <a:t>3</a:t>
            </a:r>
            <a:r>
              <a:rPr lang="en-US" dirty="0">
                <a:solidFill>
                  <a:srgbClr val="0000FF"/>
                </a:solidFill>
              </a:rPr>
              <a:t>(</a:t>
            </a:r>
            <a:r>
              <a:rPr lang="en-US" i="1" dirty="0">
                <a:solidFill>
                  <a:srgbClr val="0000FF"/>
                </a:solidFill>
              </a:rPr>
              <a:t>s</a:t>
            </a:r>
            <a:r>
              <a:rPr lang="en-US" dirty="0">
                <a:solidFill>
                  <a:srgbClr val="0000FF"/>
                </a:solidFill>
              </a:rPr>
              <a:t>) </a:t>
            </a:r>
          </a:p>
          <a:p>
            <a:pPr marL="533400" indent="-533400">
              <a:buFontTx/>
              <a:buNone/>
            </a:pPr>
            <a:r>
              <a:rPr lang="en-US" dirty="0">
                <a:solidFill>
                  <a:srgbClr val="0000FF"/>
                </a:solidFill>
              </a:rPr>
              <a:t>	</a:t>
            </a:r>
            <a:r>
              <a:rPr lang="en-US" i="1" dirty="0">
                <a:solidFill>
                  <a:srgbClr val="0000FF"/>
                </a:solidFill>
              </a:rPr>
              <a:t>How many grams of chromium(III) oxide can be produced from 15.0 g of solid chromium and excess oxygen? </a:t>
            </a:r>
          </a:p>
          <a:p>
            <a:pPr marL="533400" indent="-533400">
              <a:buFontTx/>
              <a:buNone/>
            </a:pPr>
            <a:endParaRPr lang="en-US" sz="1200" b="1" dirty="0"/>
          </a:p>
          <a:p>
            <a:pPr marL="533400" indent="-533400">
              <a:buFontTx/>
              <a:buNone/>
            </a:pPr>
            <a:r>
              <a:rPr lang="en-US" b="1" dirty="0"/>
              <a:t>What Do We Need To Know?</a:t>
            </a:r>
          </a:p>
          <a:p>
            <a:pPr marL="533400" indent="-533400"/>
            <a:r>
              <a:rPr lang="en-US" dirty="0"/>
              <a:t>We need to know the balanced equation</a:t>
            </a:r>
          </a:p>
          <a:p>
            <a:pPr marL="533400" indent="-533400">
              <a:buFontTx/>
              <a:buNone/>
            </a:pPr>
            <a:r>
              <a:rPr lang="en-US" dirty="0"/>
              <a:t>		 </a:t>
            </a:r>
            <a:r>
              <a:rPr lang="en-US" sz="2200" dirty="0"/>
              <a:t>4</a:t>
            </a:r>
            <a:r>
              <a:rPr lang="en-US" sz="2200" dirty="0">
                <a:cs typeface="Times New Roman" charset="0"/>
              </a:rPr>
              <a:t>Cr</a:t>
            </a:r>
            <a:r>
              <a:rPr lang="en-US" sz="2200" dirty="0"/>
              <a:t>(</a:t>
            </a:r>
            <a:r>
              <a:rPr lang="en-US" sz="2200" i="1" dirty="0"/>
              <a:t>s</a:t>
            </a:r>
            <a:r>
              <a:rPr lang="en-US" sz="2200" dirty="0"/>
              <a:t>) + 3O</a:t>
            </a:r>
            <a:r>
              <a:rPr lang="en-US" sz="2200" baseline="-25000" dirty="0"/>
              <a:t>2</a:t>
            </a:r>
            <a:r>
              <a:rPr lang="en-US" sz="2200" dirty="0"/>
              <a:t>(</a:t>
            </a:r>
            <a:r>
              <a:rPr lang="en-US" sz="2200" i="1" dirty="0"/>
              <a:t>g</a:t>
            </a:r>
            <a:r>
              <a:rPr lang="en-US" sz="2200" dirty="0"/>
              <a:t>) </a:t>
            </a:r>
            <a:r>
              <a:rPr lang="en-US" sz="2200" dirty="0">
                <a:cs typeface="Arial" charset="0"/>
              </a:rPr>
              <a:t>→ 2Cr</a:t>
            </a:r>
            <a:r>
              <a:rPr lang="en-US" sz="2200" baseline="-25000" dirty="0">
                <a:cs typeface="Arial" charset="0"/>
              </a:rPr>
              <a:t>2</a:t>
            </a:r>
            <a:r>
              <a:rPr lang="en-US" sz="2200" dirty="0">
                <a:cs typeface="Arial" charset="0"/>
              </a:rPr>
              <a:t>O</a:t>
            </a:r>
            <a:r>
              <a:rPr lang="en-US" sz="2200" baseline="-25000" dirty="0">
                <a:cs typeface="Arial" charset="0"/>
              </a:rPr>
              <a:t>3</a:t>
            </a:r>
            <a:r>
              <a:rPr lang="en-US" sz="2200" dirty="0"/>
              <a:t>(</a:t>
            </a:r>
            <a:r>
              <a:rPr lang="en-US" sz="2200" i="1" dirty="0"/>
              <a:t>s</a:t>
            </a:r>
            <a:r>
              <a:rPr lang="en-US" sz="2200" dirty="0"/>
              <a:t>) </a:t>
            </a:r>
          </a:p>
          <a:p>
            <a:pPr marL="533400" indent="-533400"/>
            <a:r>
              <a:rPr lang="en-US" dirty="0"/>
              <a:t>We need the molar mass of </a:t>
            </a:r>
            <a:r>
              <a:rPr lang="en-US" dirty="0">
                <a:cs typeface="Arial" charset="0"/>
              </a:rPr>
              <a:t>Cr</a:t>
            </a:r>
            <a:r>
              <a:rPr lang="en-US" baseline="-25000" dirty="0">
                <a:cs typeface="Arial" charset="0"/>
              </a:rPr>
              <a:t>2</a:t>
            </a:r>
            <a:r>
              <a:rPr lang="en-US" dirty="0">
                <a:cs typeface="Arial" charset="0"/>
              </a:rPr>
              <a:t>O</a:t>
            </a:r>
            <a:r>
              <a:rPr lang="en-US" baseline="-25000" dirty="0">
                <a:cs typeface="Arial" charset="0"/>
              </a:rPr>
              <a:t>3</a:t>
            </a:r>
            <a:endParaRPr lang="en-US" dirty="0"/>
          </a:p>
          <a:p>
            <a:pPr marL="533400" indent="-533400">
              <a:buFontTx/>
              <a:buNone/>
            </a:pPr>
            <a:r>
              <a:rPr lang="en-US" dirty="0"/>
              <a:t>		</a:t>
            </a:r>
            <a:r>
              <a:rPr lang="en-US" sz="2200" dirty="0"/>
              <a:t>152.00 g/</a:t>
            </a:r>
            <a:r>
              <a:rPr lang="en-US" sz="2200" dirty="0" err="1"/>
              <a:t>mol</a:t>
            </a:r>
            <a:endParaRPr lang="en-US" sz="2200" dirty="0"/>
          </a:p>
        </p:txBody>
      </p:sp>
    </p:spTree>
    <p:extLst>
      <p:ext uri="{BB962C8B-B14F-4D97-AF65-F5344CB8AC3E}">
        <p14:creationId xmlns:p14="http://schemas.microsoft.com/office/powerpoint/2010/main" val="3118845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987" name="Rectangle 3"/>
          <p:cNvSpPr>
            <a:spLocks noGrp="1" noChangeArrowheads="1"/>
          </p:cNvSpPr>
          <p:nvPr>
            <p:ph type="title"/>
          </p:nvPr>
        </p:nvSpPr>
        <p:spPr/>
        <p:txBody>
          <a:bodyPr/>
          <a:lstStyle/>
          <a:p>
            <a:r>
              <a:rPr lang="en-US" dirty="0"/>
              <a:t>Example, 2 </a:t>
            </a:r>
            <a:r>
              <a:rPr lang="en-US" sz="1600" dirty="0"/>
              <a:t>(continued 3)</a:t>
            </a:r>
            <a:endParaRPr lang="en-US" dirty="0"/>
          </a:p>
        </p:txBody>
      </p:sp>
      <p:sp>
        <p:nvSpPr>
          <p:cNvPr id="297986" name="Rectangle 2"/>
          <p:cNvSpPr>
            <a:spLocks noGrp="1" noChangeArrowheads="1"/>
          </p:cNvSpPr>
          <p:nvPr>
            <p:ph idx="1"/>
          </p:nvPr>
        </p:nvSpPr>
        <p:spPr>
          <a:xfrm>
            <a:off x="457200" y="1752600"/>
            <a:ext cx="8229600" cy="3508653"/>
          </a:xfrm>
        </p:spPr>
        <p:txBody>
          <a:bodyPr/>
          <a:lstStyle/>
          <a:p>
            <a:pPr marL="0" indent="0">
              <a:buNone/>
            </a:pPr>
            <a:r>
              <a:rPr lang="en-US" b="1" dirty="0"/>
              <a:t>How Do We Get There?</a:t>
            </a:r>
          </a:p>
          <a:p>
            <a:pPr marL="0" indent="0" algn="ctr">
              <a:buNone/>
            </a:pPr>
            <a:r>
              <a:rPr lang="en-US" dirty="0"/>
              <a:t> 4Cr(</a:t>
            </a:r>
            <a:r>
              <a:rPr lang="en-US" i="1" dirty="0"/>
              <a:t>s</a:t>
            </a:r>
            <a:r>
              <a:rPr lang="en-US" dirty="0"/>
              <a:t>) + 3O</a:t>
            </a:r>
            <a:r>
              <a:rPr lang="en-US" baseline="-25000" dirty="0"/>
              <a:t>2</a:t>
            </a:r>
            <a:r>
              <a:rPr lang="en-US" dirty="0"/>
              <a:t>(</a:t>
            </a:r>
            <a:r>
              <a:rPr lang="en-US" i="1" dirty="0"/>
              <a:t>g</a:t>
            </a:r>
            <a:r>
              <a:rPr lang="en-US" dirty="0"/>
              <a:t>) → 2Cr</a:t>
            </a:r>
            <a:r>
              <a:rPr lang="en-US" baseline="-25000" dirty="0"/>
              <a:t>2</a:t>
            </a:r>
            <a:r>
              <a:rPr lang="en-US" dirty="0"/>
              <a:t>O</a:t>
            </a:r>
            <a:r>
              <a:rPr lang="en-US" baseline="-25000" dirty="0"/>
              <a:t>3</a:t>
            </a:r>
            <a:r>
              <a:rPr lang="en-US" dirty="0"/>
              <a:t>(</a:t>
            </a:r>
            <a:r>
              <a:rPr lang="en-US" i="1" dirty="0"/>
              <a:t>s</a:t>
            </a:r>
            <a:r>
              <a:rPr lang="en-US" dirty="0"/>
              <a:t>) </a:t>
            </a:r>
          </a:p>
          <a:p>
            <a:pPr marL="0" indent="0">
              <a:buNone/>
            </a:pPr>
            <a:endParaRPr lang="en-US" sz="1100" dirty="0"/>
          </a:p>
          <a:p>
            <a:r>
              <a:rPr lang="en-US" dirty="0"/>
              <a:t>Convert the mass of Cr to moles of Cr</a:t>
            </a:r>
          </a:p>
          <a:p>
            <a:endParaRPr lang="en-US" dirty="0"/>
          </a:p>
          <a:p>
            <a:endParaRPr lang="en-US" dirty="0"/>
          </a:p>
          <a:p>
            <a:pPr marL="0" indent="0">
              <a:buNone/>
            </a:pPr>
            <a:endParaRPr lang="en-US" sz="1400" dirty="0"/>
          </a:p>
          <a:p>
            <a:r>
              <a:rPr lang="en-US" dirty="0"/>
              <a:t>Using the mole ratio from the balanced equation, determine the moles of Cr</a:t>
            </a:r>
            <a:r>
              <a:rPr lang="en-US" baseline="-25000" dirty="0"/>
              <a:t>2</a:t>
            </a:r>
            <a:r>
              <a:rPr lang="en-US" dirty="0"/>
              <a:t>O</a:t>
            </a:r>
            <a:r>
              <a:rPr lang="en-US" baseline="-25000" dirty="0"/>
              <a:t>3</a:t>
            </a:r>
            <a:r>
              <a:rPr lang="en-US" dirty="0"/>
              <a:t> produced</a:t>
            </a:r>
          </a:p>
        </p:txBody>
      </p:sp>
      <p:graphicFrame>
        <p:nvGraphicFramePr>
          <p:cNvPr id="297988" name="Object 4" descr="15.0 g C r multiplied by 1 mol C r divided by 52.00 g C r equals 0.288 mol C r. &#10;g C r has been scored out in both instances.&#10;"/>
          <p:cNvGraphicFramePr>
            <a:graphicFrameLocks noChangeAspect="1"/>
          </p:cNvGraphicFramePr>
          <p:nvPr>
            <p:extLst>
              <p:ext uri="{D42A27DB-BD31-4B8C-83A1-F6EECF244321}">
                <p14:modId xmlns:p14="http://schemas.microsoft.com/office/powerpoint/2010/main" val="332151382"/>
              </p:ext>
            </p:extLst>
          </p:nvPr>
        </p:nvGraphicFramePr>
        <p:xfrm>
          <a:off x="1289050" y="3427413"/>
          <a:ext cx="5613400" cy="863600"/>
        </p:xfrm>
        <a:graphic>
          <a:graphicData uri="http://schemas.openxmlformats.org/presentationml/2006/ole">
            <mc:AlternateContent xmlns:mc="http://schemas.openxmlformats.org/markup-compatibility/2006">
              <mc:Choice xmlns:v="urn:schemas-microsoft-com:vml" Requires="v">
                <p:oleObj spid="_x0000_s3102" name="Equation" r:id="rId4" imgW="5613120" imgH="863280" progId="Equation.DSMT4">
                  <p:embed/>
                </p:oleObj>
              </mc:Choice>
              <mc:Fallback>
                <p:oleObj name="Equation" r:id="rId4" imgW="5613120" imgH="863280" progId="Equation.DSMT4">
                  <p:embed/>
                  <p:pic>
                    <p:nvPicPr>
                      <p:cNvPr id="297988" name="Object 4" descr="15.0 g C r multiplied by 1 mol C r divided by 52.00 g C r equals 0.288 mol C r. &#10;g C r has been scored out in both instances.&#10;"/>
                      <p:cNvPicPr>
                        <a:picLocks noChangeAspect="1" noChangeArrowheads="1"/>
                      </p:cNvPicPr>
                      <p:nvPr/>
                    </p:nvPicPr>
                    <p:blipFill>
                      <a:blip r:embed="rId5"/>
                      <a:srcRect/>
                      <a:stretch>
                        <a:fillRect/>
                      </a:stretch>
                    </p:blipFill>
                    <p:spPr bwMode="auto">
                      <a:xfrm>
                        <a:off x="1289050" y="3427413"/>
                        <a:ext cx="5613400" cy="8636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97991" name="Object 7" descr="0.288 mol C r multiplied by 2 mol C r subscript 2 O subscript 3 divided by 4 mol C r equals 0.144 mol C r subscript 2 O subscript 3.&#10;mol C r has been scored out in both instances.&#10;"/>
          <p:cNvGraphicFramePr>
            <a:graphicFrameLocks noChangeAspect="1"/>
          </p:cNvGraphicFramePr>
          <p:nvPr>
            <p:extLst>
              <p:ext uri="{D42A27DB-BD31-4B8C-83A1-F6EECF244321}">
                <p14:modId xmlns:p14="http://schemas.microsoft.com/office/powerpoint/2010/main" val="2454949293"/>
              </p:ext>
            </p:extLst>
          </p:nvPr>
        </p:nvGraphicFramePr>
        <p:xfrm>
          <a:off x="1301750" y="5302250"/>
          <a:ext cx="6692900" cy="863600"/>
        </p:xfrm>
        <a:graphic>
          <a:graphicData uri="http://schemas.openxmlformats.org/presentationml/2006/ole">
            <mc:AlternateContent xmlns:mc="http://schemas.openxmlformats.org/markup-compatibility/2006">
              <mc:Choice xmlns:v="urn:schemas-microsoft-com:vml" Requires="v">
                <p:oleObj spid="_x0000_s3103" name="Equation" r:id="rId6" imgW="6692760" imgH="863280" progId="Equation.DSMT4">
                  <p:embed/>
                </p:oleObj>
              </mc:Choice>
              <mc:Fallback>
                <p:oleObj name="Equation" r:id="rId6" imgW="6692760" imgH="863280" progId="Equation.DSMT4">
                  <p:embed/>
                  <p:pic>
                    <p:nvPicPr>
                      <p:cNvPr id="297991" name="Object 7" descr="0.288 mol C r multiplied by 2 mol C r subscript 2 O subscript 3 divided by 4 mol C r equals 0.144 mol C r subscript 2 O subscript 3.&#10;mol C r has been scored out in both instances.&#10;"/>
                      <p:cNvPicPr>
                        <a:picLocks noChangeAspect="1" noChangeArrowheads="1"/>
                      </p:cNvPicPr>
                      <p:nvPr/>
                    </p:nvPicPr>
                    <p:blipFill>
                      <a:blip r:embed="rId7"/>
                      <a:srcRect/>
                      <a:stretch>
                        <a:fillRect/>
                      </a:stretch>
                    </p:blipFill>
                    <p:spPr bwMode="auto">
                      <a:xfrm>
                        <a:off x="1301750" y="5302250"/>
                        <a:ext cx="6692900" cy="8636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405956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1059" name="Rectangle 3"/>
          <p:cNvSpPr>
            <a:spLocks noGrp="1" noChangeArrowheads="1"/>
          </p:cNvSpPr>
          <p:nvPr>
            <p:ph type="title"/>
          </p:nvPr>
        </p:nvSpPr>
        <p:spPr/>
        <p:txBody>
          <a:bodyPr/>
          <a:lstStyle/>
          <a:p>
            <a:r>
              <a:rPr lang="en-US" dirty="0"/>
              <a:t>Example, 2 </a:t>
            </a:r>
            <a:r>
              <a:rPr lang="en-US" sz="1600" dirty="0"/>
              <a:t>(continued 4)</a:t>
            </a:r>
            <a:endParaRPr lang="en-US" dirty="0"/>
          </a:p>
        </p:txBody>
      </p:sp>
      <p:sp>
        <p:nvSpPr>
          <p:cNvPr id="301058" name="Rectangle 2"/>
          <p:cNvSpPr>
            <a:spLocks noGrp="1" noChangeArrowheads="1"/>
          </p:cNvSpPr>
          <p:nvPr>
            <p:ph idx="1"/>
          </p:nvPr>
        </p:nvSpPr>
        <p:spPr>
          <a:xfrm>
            <a:off x="457200" y="1752600"/>
            <a:ext cx="8229600" cy="3305520"/>
          </a:xfrm>
        </p:spPr>
        <p:txBody>
          <a:bodyPr/>
          <a:lstStyle/>
          <a:p>
            <a:pPr marL="0" indent="0">
              <a:buNone/>
            </a:pPr>
            <a:r>
              <a:rPr lang="en-US" b="1" dirty="0"/>
              <a:t>How Do We Get There?</a:t>
            </a:r>
            <a:r>
              <a:rPr lang="en-US" dirty="0"/>
              <a:t>	 	</a:t>
            </a:r>
          </a:p>
          <a:p>
            <a:pPr marL="0" indent="0" algn="ctr">
              <a:buNone/>
            </a:pPr>
            <a:r>
              <a:rPr lang="en-US" dirty="0"/>
              <a:t>4Cr(</a:t>
            </a:r>
            <a:r>
              <a:rPr lang="en-US" i="1" dirty="0"/>
              <a:t>s</a:t>
            </a:r>
            <a:r>
              <a:rPr lang="en-US" dirty="0"/>
              <a:t>) + 3O</a:t>
            </a:r>
            <a:r>
              <a:rPr lang="en-US" baseline="-25000" dirty="0"/>
              <a:t>2</a:t>
            </a:r>
            <a:r>
              <a:rPr lang="en-US" dirty="0"/>
              <a:t>(</a:t>
            </a:r>
            <a:r>
              <a:rPr lang="en-US" i="1" dirty="0"/>
              <a:t>g</a:t>
            </a:r>
            <a:r>
              <a:rPr lang="en-US" dirty="0"/>
              <a:t>) → 2Cr</a:t>
            </a:r>
            <a:r>
              <a:rPr lang="en-US" baseline="-25000" dirty="0"/>
              <a:t>2</a:t>
            </a:r>
            <a:r>
              <a:rPr lang="en-US" dirty="0"/>
              <a:t>O</a:t>
            </a:r>
            <a:r>
              <a:rPr lang="en-US" baseline="-25000" dirty="0"/>
              <a:t>3</a:t>
            </a:r>
            <a:r>
              <a:rPr lang="en-US" dirty="0"/>
              <a:t>(</a:t>
            </a:r>
            <a:r>
              <a:rPr lang="en-US" i="1" dirty="0"/>
              <a:t>s</a:t>
            </a:r>
            <a:r>
              <a:rPr lang="en-US" dirty="0"/>
              <a:t>) </a:t>
            </a:r>
          </a:p>
          <a:p>
            <a:pPr marL="0" indent="0">
              <a:buNone/>
            </a:pPr>
            <a:endParaRPr lang="en-US" sz="1400" dirty="0"/>
          </a:p>
          <a:p>
            <a:r>
              <a:rPr lang="en-US" dirty="0"/>
              <a:t>Convert moles of Cr</a:t>
            </a:r>
            <a:r>
              <a:rPr lang="en-US" baseline="-25000" dirty="0"/>
              <a:t>2</a:t>
            </a:r>
            <a:r>
              <a:rPr lang="en-US" dirty="0"/>
              <a:t>O</a:t>
            </a:r>
            <a:r>
              <a:rPr lang="en-US" baseline="-25000" dirty="0"/>
              <a:t>3</a:t>
            </a:r>
            <a:r>
              <a:rPr lang="en-US" dirty="0"/>
              <a:t> to grams of Cr</a:t>
            </a:r>
            <a:r>
              <a:rPr lang="en-US" baseline="-25000" dirty="0"/>
              <a:t>2</a:t>
            </a:r>
            <a:r>
              <a:rPr lang="en-US" dirty="0"/>
              <a:t>O</a:t>
            </a:r>
            <a:r>
              <a:rPr lang="en-US" baseline="-25000" dirty="0"/>
              <a:t>3</a:t>
            </a:r>
          </a:p>
          <a:p>
            <a:pPr marL="0" indent="0">
              <a:buNone/>
            </a:pPr>
            <a:endParaRPr lang="en-US" dirty="0"/>
          </a:p>
          <a:p>
            <a:endParaRPr lang="en-US" dirty="0"/>
          </a:p>
          <a:p>
            <a:pPr marL="0" indent="0">
              <a:buNone/>
            </a:pPr>
            <a:endParaRPr lang="en-US" sz="1400" dirty="0"/>
          </a:p>
          <a:p>
            <a:r>
              <a:rPr lang="en-US" dirty="0"/>
              <a:t>Conversion string</a:t>
            </a:r>
          </a:p>
        </p:txBody>
      </p:sp>
      <p:graphicFrame>
        <p:nvGraphicFramePr>
          <p:cNvPr id="301062" name="Object 6" descr="0.144 mol C r subscript 2 O subscript 3 multiplied by 152.00 g C r subscript 2 O subscript 3 divided by 1 mol C r subscript 2 O subscript 3 equals 21.9 g C r subscript 2 O subscript 3. &#10;mol C r subscript 2 O subscript 3 has been scored out in both instances.&#10;"/>
          <p:cNvGraphicFramePr>
            <a:graphicFrameLocks noChangeAspect="1"/>
          </p:cNvGraphicFramePr>
          <p:nvPr>
            <p:extLst>
              <p:ext uri="{D42A27DB-BD31-4B8C-83A1-F6EECF244321}">
                <p14:modId xmlns:p14="http://schemas.microsoft.com/office/powerpoint/2010/main" val="1785037841"/>
              </p:ext>
            </p:extLst>
          </p:nvPr>
        </p:nvGraphicFramePr>
        <p:xfrm>
          <a:off x="1092200" y="3492500"/>
          <a:ext cx="7061200" cy="990600"/>
        </p:xfrm>
        <a:graphic>
          <a:graphicData uri="http://schemas.openxmlformats.org/presentationml/2006/ole">
            <mc:AlternateContent xmlns:mc="http://schemas.openxmlformats.org/markup-compatibility/2006">
              <mc:Choice xmlns:v="urn:schemas-microsoft-com:vml" Requires="v">
                <p:oleObj spid="_x0000_s4126" name="Equation" r:id="rId4" imgW="7061040" imgH="990360" progId="Equation.DSMT4">
                  <p:embed/>
                </p:oleObj>
              </mc:Choice>
              <mc:Fallback>
                <p:oleObj name="Equation" r:id="rId4" imgW="7061040" imgH="990360" progId="Equation.DSMT4">
                  <p:embed/>
                  <p:pic>
                    <p:nvPicPr>
                      <p:cNvPr id="301062" name="Object 6" descr="0.144 mol C r subscript 2 O subscript 3 multiplied by 152.00 g C r subscript 2 O subscript 3 divided by 1 mol C r subscript 2 O subscript 3 equals 21.9 g C r subscript 2 O subscript 3. &#10;mol C r subscript 2 O subscript 3 has been scored out in both instances.&#10;"/>
                      <p:cNvPicPr>
                        <a:picLocks noChangeAspect="1" noChangeArrowheads="1"/>
                      </p:cNvPicPr>
                      <p:nvPr/>
                    </p:nvPicPr>
                    <p:blipFill>
                      <a:blip r:embed="rId5"/>
                      <a:srcRect/>
                      <a:stretch>
                        <a:fillRect/>
                      </a:stretch>
                    </p:blipFill>
                    <p:spPr bwMode="auto">
                      <a:xfrm>
                        <a:off x="1092200" y="3492500"/>
                        <a:ext cx="7061200" cy="9906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01063" name="Object 7" descr="15.0 g C r multiplied by 1 mol C r divided by 52.00 g C r multiplied by 2 mol C r subscript 2 O subscript 3 divided by 4 mol C r multiplied by 152.00 g C r subscript 2 O subscript 3 divided by 1 mol C r subscript 2 O subscript 3 equals 21.9 g C r subscript 2 O subscript 3.&#10;g C r, mol C r, and mol C r subscript 2 O subscript 3 are scored out in all instances.&#10;"/>
          <p:cNvGraphicFramePr>
            <a:graphicFrameLocks noChangeAspect="1"/>
          </p:cNvGraphicFramePr>
          <p:nvPr>
            <p:extLst>
              <p:ext uri="{D42A27DB-BD31-4B8C-83A1-F6EECF244321}">
                <p14:modId xmlns:p14="http://schemas.microsoft.com/office/powerpoint/2010/main" val="565652703"/>
              </p:ext>
            </p:extLst>
          </p:nvPr>
        </p:nvGraphicFramePr>
        <p:xfrm>
          <a:off x="315232" y="5058120"/>
          <a:ext cx="8371568" cy="1102054"/>
        </p:xfrm>
        <a:graphic>
          <a:graphicData uri="http://schemas.openxmlformats.org/presentationml/2006/ole">
            <mc:AlternateContent xmlns:mc="http://schemas.openxmlformats.org/markup-compatibility/2006">
              <mc:Choice xmlns:v="urn:schemas-microsoft-com:vml" Requires="v">
                <p:oleObj spid="_x0000_s4127" name="Equation" r:id="rId6" imgW="8305560" imgH="1091880" progId="Equation.DSMT4">
                  <p:embed/>
                </p:oleObj>
              </mc:Choice>
              <mc:Fallback>
                <p:oleObj name="Equation" r:id="rId6" imgW="8305560" imgH="1091880" progId="Equation.DSMT4">
                  <p:embed/>
                  <p:pic>
                    <p:nvPicPr>
                      <p:cNvPr id="301063" name="Object 7" descr="15.0 g C r multiplied by 1 mol C r divided by 52.00 g C r multiplied by 2 mol C r subscript 2 O subscript 3 divided by 4 mol C r multiplied by 152.00 g C r subscript 2 O subscript 3 divided by 1 mol C r subscript 2 O subscript 3 equals 21.9 g C r subscript 2 O subscript 3.&#10;g C r, mol C r, and mol C r subscript 2 O subscript 3 are scored out in all instances.&#10;"/>
                      <p:cNvPicPr>
                        <a:picLocks noChangeAspect="1" noChangeArrowheads="1"/>
                      </p:cNvPicPr>
                      <p:nvPr/>
                    </p:nvPicPr>
                    <p:blipFill>
                      <a:blip r:embed="rId7"/>
                      <a:srcRect/>
                      <a:stretch>
                        <a:fillRect/>
                      </a:stretch>
                    </p:blipFill>
                    <p:spPr bwMode="auto">
                      <a:xfrm>
                        <a:off x="315232" y="5058120"/>
                        <a:ext cx="8371568" cy="11020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01074" name="Rectangle 18" descr="null"/>
          <p:cNvSpPr>
            <a:spLocks noChangeArrowheads="1"/>
          </p:cNvSpPr>
          <p:nvPr/>
        </p:nvSpPr>
        <p:spPr bwMode="auto">
          <a:xfrm>
            <a:off x="7119255" y="5304347"/>
            <a:ext cx="1600200" cy="6096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2506099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a:xfrm>
            <a:off x="1371600" y="1143000"/>
            <a:ext cx="7315200" cy="533400"/>
          </a:xfrm>
        </p:spPr>
        <p:txBody>
          <a:bodyPr/>
          <a:lstStyle/>
          <a:p>
            <a:r>
              <a:rPr lang="en-US" dirty="0"/>
              <a:t>Exercise, 2</a:t>
            </a:r>
            <a:endParaRPr lang="en-US" dirty="0">
              <a:solidFill>
                <a:srgbClr val="FF0000"/>
              </a:solidFill>
            </a:endParaRPr>
          </a:p>
        </p:txBody>
      </p:sp>
      <p:sp>
        <p:nvSpPr>
          <p:cNvPr id="356355" name="Rectangle 3"/>
          <p:cNvSpPr>
            <a:spLocks noGrp="1" noChangeArrowheads="1"/>
          </p:cNvSpPr>
          <p:nvPr>
            <p:ph type="body" sz="half" idx="1"/>
          </p:nvPr>
        </p:nvSpPr>
        <p:spPr>
          <a:xfrm>
            <a:off x="457200" y="2040321"/>
            <a:ext cx="8077200" cy="4598182"/>
          </a:xfrm>
        </p:spPr>
        <p:txBody>
          <a:bodyPr/>
          <a:lstStyle/>
          <a:p>
            <a:pPr marL="400050" indent="-3175">
              <a:buFontTx/>
              <a:buNone/>
            </a:pPr>
            <a:r>
              <a:rPr lang="en-US" dirty="0"/>
              <a:t>Tin(II) fluoride is added to some dental products to help prevent cavities. Tin(II) fluoride is prepared according to the following equation:</a:t>
            </a:r>
          </a:p>
          <a:p>
            <a:pPr marL="400050" indent="-3175">
              <a:buFontTx/>
              <a:buNone/>
            </a:pPr>
            <a:r>
              <a:rPr lang="en-US" dirty="0"/>
              <a:t>			Sn</a:t>
            </a:r>
            <a:r>
              <a:rPr lang="es-ES_tradnl" dirty="0"/>
              <a:t>(</a:t>
            </a:r>
            <a:r>
              <a:rPr lang="es-ES_tradnl" i="1" dirty="0"/>
              <a:t>s</a:t>
            </a:r>
            <a:r>
              <a:rPr lang="es-ES_tradnl" dirty="0"/>
              <a:t>) + 2HF(</a:t>
            </a:r>
            <a:r>
              <a:rPr lang="es-ES_tradnl" i="1" dirty="0" err="1"/>
              <a:t>aq</a:t>
            </a:r>
            <a:r>
              <a:rPr lang="es-ES_tradnl" dirty="0"/>
              <a:t>) </a:t>
            </a:r>
            <a:r>
              <a:rPr lang="en-US" dirty="0">
                <a:sym typeface="Symbol" charset="0"/>
              </a:rPr>
              <a:t></a:t>
            </a:r>
            <a:r>
              <a:rPr lang="es-ES_tradnl" dirty="0"/>
              <a:t> SnF</a:t>
            </a:r>
            <a:r>
              <a:rPr lang="es-ES_tradnl" baseline="-25000" dirty="0"/>
              <a:t>2</a:t>
            </a:r>
            <a:r>
              <a:rPr lang="es-ES_tradnl" dirty="0"/>
              <a:t>(</a:t>
            </a:r>
            <a:r>
              <a:rPr lang="es-ES_tradnl" i="1" dirty="0" err="1"/>
              <a:t>aq</a:t>
            </a:r>
            <a:r>
              <a:rPr lang="es-ES_tradnl" dirty="0"/>
              <a:t>) + H</a:t>
            </a:r>
            <a:r>
              <a:rPr lang="es-ES_tradnl" baseline="-25000" dirty="0"/>
              <a:t>2</a:t>
            </a:r>
            <a:r>
              <a:rPr lang="es-ES_tradnl" dirty="0"/>
              <a:t>(</a:t>
            </a:r>
            <a:r>
              <a:rPr lang="es-ES_tradnl" i="1" dirty="0"/>
              <a:t>g</a:t>
            </a:r>
            <a:r>
              <a:rPr lang="es-ES_tradnl" dirty="0"/>
              <a:t>)</a:t>
            </a:r>
            <a:endParaRPr lang="es-ES_tradnl" baseline="-25000" dirty="0"/>
          </a:p>
          <a:p>
            <a:pPr marL="400050" indent="-3175">
              <a:buFontTx/>
              <a:buNone/>
            </a:pPr>
            <a:r>
              <a:rPr lang="en-US" dirty="0"/>
              <a:t>How many </a:t>
            </a:r>
            <a:r>
              <a:rPr lang="en-US" dirty="0">
                <a:solidFill>
                  <a:srgbClr val="0000FF"/>
                </a:solidFill>
              </a:rPr>
              <a:t>grams of tin(II) fluoride</a:t>
            </a:r>
            <a:r>
              <a:rPr lang="en-US" dirty="0"/>
              <a:t> can be produced from 55.0 g of hydrogen fluoride if there is plenty of tin available to react?</a:t>
            </a:r>
            <a:endParaRPr lang="es-ES_tradnl" dirty="0"/>
          </a:p>
          <a:p>
            <a:pPr marL="400050" indent="-3175">
              <a:buFontTx/>
              <a:buNone/>
            </a:pPr>
            <a:r>
              <a:rPr lang="en-US" dirty="0"/>
              <a:t>	a)	431 g</a:t>
            </a:r>
          </a:p>
          <a:p>
            <a:pPr marL="400050" indent="-3175">
              <a:buFontTx/>
              <a:buNone/>
            </a:pPr>
            <a:r>
              <a:rPr lang="en-US" dirty="0"/>
              <a:t>b)	215 g</a:t>
            </a:r>
          </a:p>
          <a:p>
            <a:pPr marL="400050" indent="-3175">
              <a:buFontTx/>
              <a:buNone/>
            </a:pPr>
            <a:r>
              <a:rPr lang="en-US" dirty="0"/>
              <a:t>c)	72.6 g</a:t>
            </a:r>
          </a:p>
          <a:p>
            <a:pPr marL="400050" indent="-3175">
              <a:buFontTx/>
              <a:buNone/>
            </a:pPr>
            <a:r>
              <a:rPr lang="en-US" dirty="0"/>
              <a:t>d)	1.37 g</a:t>
            </a:r>
          </a:p>
        </p:txBody>
      </p:sp>
      <p:sp>
        <p:nvSpPr>
          <p:cNvPr id="356357" name="Rectangle 5" descr="green box"/>
          <p:cNvSpPr>
            <a:spLocks noChangeArrowheads="1"/>
          </p:cNvSpPr>
          <p:nvPr/>
        </p:nvSpPr>
        <p:spPr bwMode="auto">
          <a:xfrm>
            <a:off x="781050" y="5235479"/>
            <a:ext cx="1524000" cy="417163"/>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285987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63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7"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a:xfrm>
            <a:off x="1371600" y="1143000"/>
            <a:ext cx="7315200" cy="533400"/>
          </a:xfrm>
        </p:spPr>
        <p:txBody>
          <a:bodyPr/>
          <a:lstStyle/>
          <a:p>
            <a:r>
              <a:rPr lang="en-US" dirty="0"/>
              <a:t>Exercise, 3</a:t>
            </a:r>
            <a:endParaRPr lang="en-US" dirty="0">
              <a:solidFill>
                <a:srgbClr val="FF0000"/>
              </a:solidFill>
            </a:endParaRPr>
          </a:p>
        </p:txBody>
      </p:sp>
      <p:sp>
        <p:nvSpPr>
          <p:cNvPr id="358403" name="Rectangle 3"/>
          <p:cNvSpPr>
            <a:spLocks noGrp="1" noChangeArrowheads="1"/>
          </p:cNvSpPr>
          <p:nvPr>
            <p:ph type="body" sz="half" idx="1"/>
          </p:nvPr>
        </p:nvSpPr>
        <p:spPr>
          <a:xfrm>
            <a:off x="457200" y="2057400"/>
            <a:ext cx="7924800" cy="3490186"/>
          </a:xfrm>
        </p:spPr>
        <p:txBody>
          <a:bodyPr/>
          <a:lstStyle/>
          <a:p>
            <a:pPr marL="400050" indent="-3175">
              <a:buFontTx/>
              <a:buNone/>
            </a:pPr>
            <a:r>
              <a:rPr lang="en-US" dirty="0"/>
              <a:t>Consider the following reaction:</a:t>
            </a:r>
          </a:p>
          <a:p>
            <a:pPr marL="400050" indent="-3175">
              <a:buFontTx/>
              <a:buNone/>
            </a:pPr>
            <a:r>
              <a:rPr lang="en-US" dirty="0"/>
              <a:t>			PCl</a:t>
            </a:r>
            <a:r>
              <a:rPr lang="en-US" baseline="-25000" dirty="0"/>
              <a:t>3</a:t>
            </a:r>
            <a:r>
              <a:rPr lang="es-ES_tradnl" dirty="0"/>
              <a:t> + 3H</a:t>
            </a:r>
            <a:r>
              <a:rPr lang="es-ES_tradnl" baseline="-25000" dirty="0"/>
              <a:t>2</a:t>
            </a:r>
            <a:r>
              <a:rPr lang="es-ES_tradnl" dirty="0"/>
              <a:t>O </a:t>
            </a:r>
            <a:r>
              <a:rPr lang="en-US" dirty="0">
                <a:sym typeface="Symbol" charset="0"/>
              </a:rPr>
              <a:t></a:t>
            </a:r>
            <a:r>
              <a:rPr lang="es-ES_tradnl" dirty="0"/>
              <a:t> H</a:t>
            </a:r>
            <a:r>
              <a:rPr lang="es-ES_tradnl" baseline="-25000" dirty="0"/>
              <a:t>3</a:t>
            </a:r>
            <a:r>
              <a:rPr lang="es-ES_tradnl" dirty="0"/>
              <a:t>PO</a:t>
            </a:r>
            <a:r>
              <a:rPr lang="es-ES_tradnl" baseline="-25000" dirty="0"/>
              <a:t>3</a:t>
            </a:r>
            <a:r>
              <a:rPr lang="es-ES_tradnl" dirty="0"/>
              <a:t> + 3HCl</a:t>
            </a:r>
            <a:endParaRPr lang="es-ES_tradnl" baseline="-25000" dirty="0"/>
          </a:p>
          <a:p>
            <a:pPr marL="400050" indent="-3175">
              <a:buFontTx/>
              <a:buNone/>
            </a:pPr>
            <a:r>
              <a:rPr lang="en-US" dirty="0"/>
              <a:t>What </a:t>
            </a:r>
            <a:r>
              <a:rPr lang="en-US" dirty="0">
                <a:solidFill>
                  <a:srgbClr val="0000FF"/>
                </a:solidFill>
              </a:rPr>
              <a:t>mass of H</a:t>
            </a:r>
            <a:r>
              <a:rPr lang="en-US" baseline="-25000" dirty="0">
                <a:solidFill>
                  <a:srgbClr val="0000FF"/>
                </a:solidFill>
              </a:rPr>
              <a:t>2</a:t>
            </a:r>
            <a:r>
              <a:rPr lang="en-US" dirty="0">
                <a:solidFill>
                  <a:srgbClr val="0000FF"/>
                </a:solidFill>
              </a:rPr>
              <a:t>O</a:t>
            </a:r>
            <a:r>
              <a:rPr lang="en-US" dirty="0"/>
              <a:t> is needed to completely react with 20.0 g of PCl</a:t>
            </a:r>
            <a:r>
              <a:rPr lang="en-US" baseline="-25000" dirty="0"/>
              <a:t>3</a:t>
            </a:r>
            <a:r>
              <a:rPr lang="en-US" dirty="0"/>
              <a:t>?</a:t>
            </a:r>
          </a:p>
          <a:p>
            <a:pPr marL="400050" indent="-3175">
              <a:buFontTx/>
              <a:buAutoNum type="alphaLcParenR"/>
            </a:pPr>
            <a:r>
              <a:rPr lang="en-US" dirty="0"/>
              <a:t> 7.87 g</a:t>
            </a:r>
          </a:p>
          <a:p>
            <a:pPr marL="400050" indent="-3175">
              <a:buFontTx/>
              <a:buAutoNum type="alphaLcParenR"/>
            </a:pPr>
            <a:r>
              <a:rPr lang="en-US" dirty="0"/>
              <a:t> 0.875 g</a:t>
            </a:r>
          </a:p>
          <a:p>
            <a:pPr marL="400050" indent="-3175">
              <a:buFontTx/>
              <a:buAutoNum type="alphaLcParenR"/>
            </a:pPr>
            <a:r>
              <a:rPr lang="en-US" dirty="0"/>
              <a:t> 5.24 g</a:t>
            </a:r>
          </a:p>
          <a:p>
            <a:pPr marL="400050" indent="-3175">
              <a:buFontTx/>
              <a:buAutoNum type="alphaLcParenR"/>
            </a:pPr>
            <a:r>
              <a:rPr lang="en-US" dirty="0"/>
              <a:t> 2.62 g</a:t>
            </a:r>
          </a:p>
        </p:txBody>
      </p:sp>
      <p:sp>
        <p:nvSpPr>
          <p:cNvPr id="358405" name="Rectangle 5" descr="green box"/>
          <p:cNvSpPr>
            <a:spLocks noChangeArrowheads="1"/>
          </p:cNvSpPr>
          <p:nvPr/>
        </p:nvSpPr>
        <p:spPr bwMode="auto">
          <a:xfrm>
            <a:off x="819796" y="3825081"/>
            <a:ext cx="1524000" cy="3810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16497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5"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a:xfrm>
            <a:off x="1371600" y="1143000"/>
            <a:ext cx="7315200" cy="533400"/>
          </a:xfrm>
        </p:spPr>
        <p:txBody>
          <a:bodyPr/>
          <a:lstStyle/>
          <a:p>
            <a:r>
              <a:rPr lang="en-US" dirty="0"/>
              <a:t>Exercise, 4</a:t>
            </a:r>
            <a:endParaRPr lang="en-US" dirty="0">
              <a:solidFill>
                <a:srgbClr val="FF0000"/>
              </a:solidFill>
            </a:endParaRPr>
          </a:p>
        </p:txBody>
      </p:sp>
      <p:sp>
        <p:nvSpPr>
          <p:cNvPr id="364547" name="Rectangle 3"/>
          <p:cNvSpPr>
            <a:spLocks noGrp="1" noChangeArrowheads="1"/>
          </p:cNvSpPr>
          <p:nvPr>
            <p:ph type="body" sz="half" idx="1"/>
          </p:nvPr>
        </p:nvSpPr>
        <p:spPr>
          <a:xfrm>
            <a:off x="457200" y="2133600"/>
            <a:ext cx="7848600" cy="3859518"/>
          </a:xfrm>
        </p:spPr>
        <p:txBody>
          <a:bodyPr/>
          <a:lstStyle/>
          <a:p>
            <a:pPr marL="400050" indent="-3175">
              <a:buFontTx/>
              <a:buNone/>
            </a:pPr>
            <a:r>
              <a:rPr lang="en-US" dirty="0"/>
              <a:t>Consider the following reaction where X represents an unknown element:</a:t>
            </a:r>
          </a:p>
          <a:p>
            <a:pPr marL="400050" indent="-3175">
              <a:buFontTx/>
              <a:buNone/>
            </a:pPr>
            <a:r>
              <a:rPr lang="en-US" dirty="0"/>
              <a:t>		6X(</a:t>
            </a:r>
            <a:r>
              <a:rPr lang="en-US" i="1" dirty="0"/>
              <a:t>s</a:t>
            </a:r>
            <a:r>
              <a:rPr lang="en-US" dirty="0"/>
              <a:t>)  +  2B</a:t>
            </a:r>
            <a:r>
              <a:rPr lang="en-US" baseline="-25000" dirty="0"/>
              <a:t>2</a:t>
            </a:r>
            <a:r>
              <a:rPr lang="en-US" dirty="0"/>
              <a:t>O</a:t>
            </a:r>
            <a:r>
              <a:rPr lang="en-US" baseline="-25000" dirty="0"/>
              <a:t>3</a:t>
            </a:r>
            <a:r>
              <a:rPr lang="en-US" dirty="0"/>
              <a:t>(</a:t>
            </a:r>
            <a:r>
              <a:rPr lang="en-US" i="1" dirty="0"/>
              <a:t>s</a:t>
            </a:r>
            <a:r>
              <a:rPr lang="en-US" dirty="0"/>
              <a:t>)  </a:t>
            </a:r>
            <a:r>
              <a:rPr lang="en-US" dirty="0">
                <a:sym typeface="Symbol" charset="0"/>
              </a:rPr>
              <a:t></a:t>
            </a:r>
            <a:r>
              <a:rPr lang="en-US" dirty="0"/>
              <a:t>  B</a:t>
            </a:r>
            <a:r>
              <a:rPr lang="en-US" baseline="-25000" dirty="0"/>
              <a:t>4</a:t>
            </a:r>
            <a:r>
              <a:rPr lang="en-US" dirty="0"/>
              <a:t>X</a:t>
            </a:r>
            <a:r>
              <a:rPr lang="en-US" baseline="-25000" dirty="0"/>
              <a:t>3</a:t>
            </a:r>
            <a:r>
              <a:rPr lang="en-US" dirty="0"/>
              <a:t>(</a:t>
            </a:r>
            <a:r>
              <a:rPr lang="en-US" i="1" dirty="0"/>
              <a:t>s</a:t>
            </a:r>
            <a:r>
              <a:rPr lang="en-US" dirty="0"/>
              <a:t>)  +  3XO</a:t>
            </a:r>
            <a:r>
              <a:rPr lang="en-US" baseline="-25000" dirty="0"/>
              <a:t>2</a:t>
            </a:r>
            <a:r>
              <a:rPr lang="en-US" dirty="0"/>
              <a:t>(</a:t>
            </a:r>
            <a:r>
              <a:rPr lang="en-US" i="1" dirty="0"/>
              <a:t>g</a:t>
            </a:r>
            <a:r>
              <a:rPr lang="en-US" dirty="0"/>
              <a:t>)</a:t>
            </a:r>
          </a:p>
          <a:p>
            <a:pPr marL="400050" indent="-3175">
              <a:buFontTx/>
              <a:buNone/>
            </a:pPr>
            <a:r>
              <a:rPr lang="en-US" dirty="0"/>
              <a:t>If 175 g of X reacts with </a:t>
            </a:r>
            <a:r>
              <a:rPr lang="en-US" dirty="0" err="1"/>
              <a:t>diboron</a:t>
            </a:r>
            <a:r>
              <a:rPr lang="en-US" dirty="0"/>
              <a:t> trioxide to produce 2.43 moles of B</a:t>
            </a:r>
            <a:r>
              <a:rPr lang="en-US" baseline="-25000" dirty="0"/>
              <a:t>4</a:t>
            </a:r>
            <a:r>
              <a:rPr lang="en-US" dirty="0"/>
              <a:t>X</a:t>
            </a:r>
            <a:r>
              <a:rPr lang="en-US" baseline="-25000" dirty="0"/>
              <a:t>3</a:t>
            </a:r>
            <a:r>
              <a:rPr lang="en-US" dirty="0"/>
              <a:t>, what element does X represent?</a:t>
            </a:r>
          </a:p>
          <a:p>
            <a:pPr marL="400050" indent="-3175">
              <a:buFontTx/>
              <a:buNone/>
            </a:pPr>
            <a:r>
              <a:rPr lang="es-ES_tradnl" dirty="0"/>
              <a:t>a)	Ge	</a:t>
            </a:r>
          </a:p>
          <a:p>
            <a:pPr marL="400050" indent="-3175">
              <a:buFontTx/>
              <a:buNone/>
            </a:pPr>
            <a:r>
              <a:rPr lang="es-ES_tradnl" dirty="0"/>
              <a:t>b)	Mg	</a:t>
            </a:r>
          </a:p>
          <a:p>
            <a:pPr marL="400050" indent="-3175">
              <a:buFontTx/>
              <a:buNone/>
            </a:pPr>
            <a:r>
              <a:rPr lang="es-ES_tradnl" dirty="0"/>
              <a:t>c)	Si	</a:t>
            </a:r>
          </a:p>
          <a:p>
            <a:pPr marL="400050" indent="-3175">
              <a:buFontTx/>
              <a:buNone/>
            </a:pPr>
            <a:r>
              <a:rPr lang="es-ES_tradnl" dirty="0"/>
              <a:t>d)	C</a:t>
            </a:r>
            <a:endParaRPr lang="en-US" dirty="0"/>
          </a:p>
        </p:txBody>
      </p:sp>
      <p:sp>
        <p:nvSpPr>
          <p:cNvPr id="364549" name="Rectangle 5" descr="greem box"/>
          <p:cNvSpPr>
            <a:spLocks noChangeArrowheads="1"/>
          </p:cNvSpPr>
          <p:nvPr/>
        </p:nvSpPr>
        <p:spPr bwMode="auto">
          <a:xfrm>
            <a:off x="876300" y="5516716"/>
            <a:ext cx="990600" cy="3810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266331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45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9"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3107" name="Rectangle 3"/>
          <p:cNvSpPr>
            <a:spLocks noGrp="1" noChangeArrowheads="1"/>
          </p:cNvSpPr>
          <p:nvPr>
            <p:ph type="title"/>
          </p:nvPr>
        </p:nvSpPr>
        <p:spPr/>
        <p:txBody>
          <a:bodyPr/>
          <a:lstStyle/>
          <a:p>
            <a:r>
              <a:rPr lang="en-US" dirty="0"/>
              <a:t>Stoichiometric Mixture</a:t>
            </a:r>
          </a:p>
        </p:txBody>
      </p:sp>
      <p:sp>
        <p:nvSpPr>
          <p:cNvPr id="303106" name="Rectangle 2"/>
          <p:cNvSpPr>
            <a:spLocks noGrp="1" noChangeArrowheads="1"/>
          </p:cNvSpPr>
          <p:nvPr>
            <p:ph idx="1"/>
          </p:nvPr>
        </p:nvSpPr>
        <p:spPr>
          <a:xfrm>
            <a:off x="533400" y="1676400"/>
            <a:ext cx="7543800" cy="1335088"/>
          </a:xfrm>
        </p:spPr>
        <p:txBody>
          <a:bodyPr/>
          <a:lstStyle/>
          <a:p>
            <a:pPr marL="533400" indent="-533400"/>
            <a:r>
              <a:rPr lang="en-US" dirty="0">
                <a:cs typeface="Times New Roman" charset="0"/>
              </a:rPr>
              <a:t>Contains the relative amounts of reactants that match the numbers in a balanced equation</a:t>
            </a:r>
          </a:p>
          <a:p>
            <a:pPr marL="533400" indent="-533400">
              <a:buFontTx/>
              <a:buNone/>
            </a:pPr>
            <a:r>
              <a:rPr lang="en-US" dirty="0">
                <a:cs typeface="Times New Roman" charset="0"/>
              </a:rPr>
              <a:t>	</a:t>
            </a:r>
            <a:r>
              <a:rPr lang="en-US" sz="2800" dirty="0">
                <a:cs typeface="Times New Roman" charset="0"/>
              </a:rPr>
              <a:t>N</a:t>
            </a:r>
            <a:r>
              <a:rPr lang="en-US" sz="2800" baseline="-30000" dirty="0">
                <a:cs typeface="Times New Roman" charset="0"/>
              </a:rPr>
              <a:t>2</a:t>
            </a:r>
            <a:r>
              <a:rPr lang="en-US" sz="2800" dirty="0">
                <a:cs typeface="Times New Roman" charset="0"/>
              </a:rPr>
              <a:t>(</a:t>
            </a:r>
            <a:r>
              <a:rPr lang="en-US" sz="2800" i="1" dirty="0">
                <a:cs typeface="Times New Roman" charset="0"/>
              </a:rPr>
              <a:t>g</a:t>
            </a:r>
            <a:r>
              <a:rPr lang="en-US" sz="2800" dirty="0">
                <a:cs typeface="Times New Roman" charset="0"/>
              </a:rPr>
              <a:t>)  +  3H</a:t>
            </a:r>
            <a:r>
              <a:rPr lang="en-US" sz="2800" baseline="-30000" dirty="0">
                <a:cs typeface="Times New Roman" charset="0"/>
              </a:rPr>
              <a:t>2</a:t>
            </a:r>
            <a:r>
              <a:rPr lang="en-US" sz="2800" dirty="0">
                <a:cs typeface="Times New Roman" charset="0"/>
              </a:rPr>
              <a:t>(</a:t>
            </a:r>
            <a:r>
              <a:rPr lang="en-US" sz="2800" i="1" dirty="0">
                <a:cs typeface="Times New Roman" charset="0"/>
              </a:rPr>
              <a:t>g</a:t>
            </a:r>
            <a:r>
              <a:rPr lang="en-US" sz="2800" dirty="0">
                <a:cs typeface="Times New Roman" charset="0"/>
              </a:rPr>
              <a:t>)  </a:t>
            </a:r>
            <a:r>
              <a:rPr lang="en-US" sz="2800" dirty="0">
                <a:latin typeface="Times New Roman" charset="0"/>
                <a:cs typeface="Times New Roman" charset="0"/>
                <a:sym typeface="Symbol" charset="0"/>
              </a:rPr>
              <a:t></a:t>
            </a:r>
            <a:r>
              <a:rPr lang="en-US" sz="2800" dirty="0">
                <a:cs typeface="Times New Roman" charset="0"/>
              </a:rPr>
              <a:t>  2NH</a:t>
            </a:r>
            <a:r>
              <a:rPr lang="en-US" sz="2800" baseline="-30000" dirty="0">
                <a:cs typeface="Times New Roman" charset="0"/>
              </a:rPr>
              <a:t>3</a:t>
            </a:r>
            <a:r>
              <a:rPr lang="en-US" sz="2800" dirty="0">
                <a:cs typeface="Times New Roman" charset="0"/>
              </a:rPr>
              <a:t>(</a:t>
            </a:r>
            <a:r>
              <a:rPr lang="en-US" sz="2800" i="1" dirty="0">
                <a:cs typeface="Times New Roman" charset="0"/>
              </a:rPr>
              <a:t>g</a:t>
            </a:r>
            <a:r>
              <a:rPr lang="en-US" sz="2800" dirty="0">
                <a:cs typeface="Times New Roman" charset="0"/>
              </a:rPr>
              <a:t>)</a:t>
            </a:r>
            <a:endParaRPr lang="en-US" sz="2800" dirty="0">
              <a:solidFill>
                <a:srgbClr val="FF0000"/>
              </a:solidFill>
              <a:cs typeface="Times New Roman" charset="0"/>
            </a:endParaRPr>
          </a:p>
        </p:txBody>
      </p:sp>
      <p:pic>
        <p:nvPicPr>
          <p:cNvPr id="3" name="Picture 2" descr="An illustration shows a closed glass container with 5 diatomic molecules of nitrogen (N subscript 2) and 15 diatomic molecules of hydrogen (H subscript 2) in free motion. Accompanying key represents the following: diatomic nitrogen molecule shows two blue spheres bonded together and diatomic hydrogen molecule shows two white bonded togeth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4347" y="3166471"/>
            <a:ext cx="3808593" cy="3311820"/>
          </a:xfrm>
          <a:prstGeom prst="rect">
            <a:avLst/>
          </a:prstGeom>
        </p:spPr>
      </p:pic>
    </p:spTree>
    <p:extLst>
      <p:ext uri="{BB962C8B-B14F-4D97-AF65-F5344CB8AC3E}">
        <p14:creationId xmlns:p14="http://schemas.microsoft.com/office/powerpoint/2010/main" val="3088304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5155" name="Rectangle 3"/>
          <p:cNvSpPr>
            <a:spLocks noGrp="1" noChangeArrowheads="1"/>
          </p:cNvSpPr>
          <p:nvPr>
            <p:ph type="title"/>
          </p:nvPr>
        </p:nvSpPr>
        <p:spPr/>
        <p:txBody>
          <a:bodyPr/>
          <a:lstStyle/>
          <a:p>
            <a:r>
              <a:rPr lang="en-US" dirty="0"/>
              <a:t>Limiting Reactant Mixture</a:t>
            </a:r>
          </a:p>
        </p:txBody>
      </p:sp>
      <p:sp>
        <p:nvSpPr>
          <p:cNvPr id="305154" name="Rectangle 2"/>
          <p:cNvSpPr>
            <a:spLocks noGrp="1" noChangeArrowheads="1"/>
          </p:cNvSpPr>
          <p:nvPr>
            <p:ph idx="1"/>
          </p:nvPr>
        </p:nvSpPr>
        <p:spPr>
          <a:xfrm>
            <a:off x="533400" y="1676400"/>
            <a:ext cx="7543800" cy="519113"/>
          </a:xfrm>
        </p:spPr>
        <p:txBody>
          <a:bodyPr/>
          <a:lstStyle/>
          <a:p>
            <a:pPr marL="533400" indent="-533400">
              <a:buFontTx/>
              <a:buNone/>
            </a:pPr>
            <a:r>
              <a:rPr lang="en-US" dirty="0">
                <a:cs typeface="Times New Roman" charset="0"/>
              </a:rPr>
              <a:t>	</a:t>
            </a:r>
            <a:r>
              <a:rPr lang="en-US" sz="2800" dirty="0">
                <a:cs typeface="Times New Roman" charset="0"/>
              </a:rPr>
              <a:t>N</a:t>
            </a:r>
            <a:r>
              <a:rPr lang="en-US" sz="2800" baseline="-30000" dirty="0">
                <a:cs typeface="Times New Roman" charset="0"/>
              </a:rPr>
              <a:t>2</a:t>
            </a:r>
            <a:r>
              <a:rPr lang="en-US" sz="2800" dirty="0">
                <a:cs typeface="Times New Roman" charset="0"/>
              </a:rPr>
              <a:t>(</a:t>
            </a:r>
            <a:r>
              <a:rPr lang="en-US" sz="2800" i="1" dirty="0">
                <a:cs typeface="Times New Roman" charset="0"/>
              </a:rPr>
              <a:t>g</a:t>
            </a:r>
            <a:r>
              <a:rPr lang="en-US" sz="2800" dirty="0">
                <a:cs typeface="Times New Roman" charset="0"/>
              </a:rPr>
              <a:t>)  +  3H</a:t>
            </a:r>
            <a:r>
              <a:rPr lang="en-US" sz="2800" baseline="-30000" dirty="0">
                <a:cs typeface="Times New Roman" charset="0"/>
              </a:rPr>
              <a:t>2</a:t>
            </a:r>
            <a:r>
              <a:rPr lang="en-US" sz="2800" dirty="0">
                <a:cs typeface="Times New Roman" charset="0"/>
              </a:rPr>
              <a:t>(</a:t>
            </a:r>
            <a:r>
              <a:rPr lang="en-US" sz="2800" i="1" dirty="0">
                <a:cs typeface="Times New Roman" charset="0"/>
              </a:rPr>
              <a:t>g</a:t>
            </a:r>
            <a:r>
              <a:rPr lang="en-US" sz="2800" dirty="0">
                <a:cs typeface="Times New Roman" charset="0"/>
              </a:rPr>
              <a:t>)  </a:t>
            </a:r>
            <a:r>
              <a:rPr lang="en-US" sz="2800" dirty="0">
                <a:latin typeface="Times New Roman" charset="0"/>
                <a:cs typeface="Times New Roman" charset="0"/>
                <a:sym typeface="Symbol" charset="0"/>
              </a:rPr>
              <a:t></a:t>
            </a:r>
            <a:r>
              <a:rPr lang="en-US" sz="2800" dirty="0">
                <a:cs typeface="Times New Roman" charset="0"/>
              </a:rPr>
              <a:t>  2NH</a:t>
            </a:r>
            <a:r>
              <a:rPr lang="en-US" sz="2800" baseline="-30000" dirty="0">
                <a:cs typeface="Times New Roman" charset="0"/>
              </a:rPr>
              <a:t>3</a:t>
            </a:r>
            <a:r>
              <a:rPr lang="en-US" sz="2800" dirty="0">
                <a:cs typeface="Times New Roman" charset="0"/>
              </a:rPr>
              <a:t>(</a:t>
            </a:r>
            <a:r>
              <a:rPr lang="en-US" sz="2800" i="1" dirty="0">
                <a:cs typeface="Times New Roman" charset="0"/>
              </a:rPr>
              <a:t>g</a:t>
            </a:r>
            <a:r>
              <a:rPr lang="en-US" sz="2800" dirty="0">
                <a:cs typeface="Times New Roman" charset="0"/>
              </a:rPr>
              <a:t>)</a:t>
            </a:r>
            <a:endParaRPr lang="en-US" sz="2800" dirty="0">
              <a:solidFill>
                <a:srgbClr val="FF0000"/>
              </a:solidFill>
              <a:cs typeface="Times New Roman" charset="0"/>
            </a:endParaRPr>
          </a:p>
        </p:txBody>
      </p:sp>
      <p:pic>
        <p:nvPicPr>
          <p:cNvPr id="2" name="Picture 1" descr="An illustration shows a closed glass container, before and after the reaction. Before the reaction, the glass container shows five groups of molecules (circled in red), each containing diatomic molecules of nitrogen and four diatomic molecules of hydrogen. After the reaction, the five groups contain two ammonia molecules each. Accompanying key represents the following: diatomic nitrogen molecule shows two blue spheres bonded together; diatomic hydrogen molecule shows two white bonded together; ammonia molecule shows one blue sphere bonded to three white spher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354" y="2396991"/>
            <a:ext cx="7621292" cy="3923091"/>
          </a:xfrm>
          <a:prstGeom prst="rect">
            <a:avLst/>
          </a:prstGeom>
        </p:spPr>
      </p:pic>
    </p:spTree>
    <p:extLst>
      <p:ext uri="{BB962C8B-B14F-4D97-AF65-F5344CB8AC3E}">
        <p14:creationId xmlns:p14="http://schemas.microsoft.com/office/powerpoint/2010/main" val="3846871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03" name="Rectangle 3"/>
          <p:cNvSpPr>
            <a:spLocks noGrp="1" noChangeArrowheads="1"/>
          </p:cNvSpPr>
          <p:nvPr>
            <p:ph type="title"/>
          </p:nvPr>
        </p:nvSpPr>
        <p:spPr/>
        <p:txBody>
          <a:bodyPr/>
          <a:lstStyle/>
          <a:p>
            <a:r>
              <a:rPr lang="en-US" dirty="0"/>
              <a:t>Limiting Reactant Mixture </a:t>
            </a:r>
            <a:r>
              <a:rPr lang="en-US" sz="1600" dirty="0"/>
              <a:t>(continued)</a:t>
            </a:r>
          </a:p>
        </p:txBody>
      </p:sp>
      <p:sp>
        <p:nvSpPr>
          <p:cNvPr id="307202" name="Rectangle 2"/>
          <p:cNvSpPr>
            <a:spLocks noGrp="1" noChangeArrowheads="1"/>
          </p:cNvSpPr>
          <p:nvPr>
            <p:ph idx="1"/>
          </p:nvPr>
        </p:nvSpPr>
        <p:spPr>
          <a:xfrm>
            <a:off x="533400" y="1676400"/>
            <a:ext cx="7543800" cy="2966966"/>
          </a:xfrm>
        </p:spPr>
        <p:txBody>
          <a:bodyPr/>
          <a:lstStyle/>
          <a:p>
            <a:pPr marL="533400" indent="-533400">
              <a:buFontTx/>
              <a:buNone/>
            </a:pPr>
            <a:r>
              <a:rPr lang="en-US" dirty="0">
                <a:cs typeface="Times New Roman" charset="0"/>
              </a:rPr>
              <a:t>	</a:t>
            </a:r>
            <a:r>
              <a:rPr lang="en-US" sz="2800" dirty="0">
                <a:cs typeface="Times New Roman" charset="0"/>
              </a:rPr>
              <a:t>N</a:t>
            </a:r>
            <a:r>
              <a:rPr lang="en-US" sz="2800" baseline="-30000" dirty="0">
                <a:cs typeface="Times New Roman" charset="0"/>
              </a:rPr>
              <a:t>2</a:t>
            </a:r>
            <a:r>
              <a:rPr lang="en-US" sz="2800" dirty="0">
                <a:cs typeface="Times New Roman" charset="0"/>
              </a:rPr>
              <a:t>(</a:t>
            </a:r>
            <a:r>
              <a:rPr lang="en-US" sz="2800" i="1" dirty="0">
                <a:cs typeface="Times New Roman" charset="0"/>
              </a:rPr>
              <a:t>g</a:t>
            </a:r>
            <a:r>
              <a:rPr lang="en-US" sz="2800" dirty="0">
                <a:cs typeface="Times New Roman" charset="0"/>
              </a:rPr>
              <a:t>)  +  3H</a:t>
            </a:r>
            <a:r>
              <a:rPr lang="en-US" sz="2800" baseline="-30000" dirty="0">
                <a:cs typeface="Times New Roman" charset="0"/>
              </a:rPr>
              <a:t>2</a:t>
            </a:r>
            <a:r>
              <a:rPr lang="en-US" sz="2800" dirty="0">
                <a:cs typeface="Times New Roman" charset="0"/>
              </a:rPr>
              <a:t>(</a:t>
            </a:r>
            <a:r>
              <a:rPr lang="en-US" sz="2800" i="1" dirty="0">
                <a:cs typeface="Times New Roman" charset="0"/>
              </a:rPr>
              <a:t>g</a:t>
            </a:r>
            <a:r>
              <a:rPr lang="en-US" sz="2800" dirty="0">
                <a:cs typeface="Times New Roman" charset="0"/>
              </a:rPr>
              <a:t>)  </a:t>
            </a:r>
            <a:r>
              <a:rPr lang="en-US" sz="2800" dirty="0">
                <a:latin typeface="Times New Roman" charset="0"/>
                <a:cs typeface="Times New Roman" charset="0"/>
                <a:sym typeface="Symbol" charset="0"/>
              </a:rPr>
              <a:t></a:t>
            </a:r>
            <a:r>
              <a:rPr lang="en-US" sz="2800" dirty="0">
                <a:cs typeface="Times New Roman" charset="0"/>
              </a:rPr>
              <a:t>  2NH</a:t>
            </a:r>
            <a:r>
              <a:rPr lang="en-US" sz="2800" baseline="-30000" dirty="0">
                <a:cs typeface="Times New Roman" charset="0"/>
              </a:rPr>
              <a:t>3</a:t>
            </a:r>
            <a:r>
              <a:rPr lang="en-US" sz="2800" dirty="0">
                <a:cs typeface="Times New Roman" charset="0"/>
              </a:rPr>
              <a:t>(</a:t>
            </a:r>
            <a:r>
              <a:rPr lang="en-US" sz="2800" i="1" dirty="0">
                <a:cs typeface="Times New Roman" charset="0"/>
              </a:rPr>
              <a:t>g</a:t>
            </a:r>
            <a:r>
              <a:rPr lang="en-US" sz="2800" dirty="0">
                <a:cs typeface="Times New Roman" charset="0"/>
              </a:rPr>
              <a:t>)</a:t>
            </a:r>
          </a:p>
          <a:p>
            <a:pPr marL="533400" indent="-533400">
              <a:buFontTx/>
              <a:buNone/>
            </a:pPr>
            <a:endParaRPr lang="en-US" sz="2800" dirty="0">
              <a:cs typeface="Times New Roman" charset="0"/>
            </a:endParaRPr>
          </a:p>
          <a:p>
            <a:pPr marL="533400" indent="-533400"/>
            <a:r>
              <a:rPr lang="en-US" dirty="0"/>
              <a:t>Limiting reactant or reagent is the reactant that runs out first and thus limits the amounts of products that can form</a:t>
            </a:r>
          </a:p>
          <a:p>
            <a:pPr lvl="1">
              <a:buFont typeface="Arial" panose="020B0604020202020204" pitchFamily="34" charset="0"/>
              <a:buChar char="–"/>
            </a:pPr>
            <a:r>
              <a:rPr lang="en-US" dirty="0"/>
              <a:t>H</a:t>
            </a:r>
            <a:r>
              <a:rPr lang="en-US" baseline="-25000" dirty="0"/>
              <a:t>2 </a:t>
            </a:r>
            <a:r>
              <a:rPr lang="en-US" dirty="0"/>
              <a:t>is the limiting reactant for the reaction shown above</a:t>
            </a:r>
            <a:endParaRPr lang="en-US" baseline="-25000" dirty="0"/>
          </a:p>
        </p:txBody>
      </p:sp>
    </p:spTree>
    <p:extLst>
      <p:ext uri="{BB962C8B-B14F-4D97-AF65-F5344CB8AC3E}">
        <p14:creationId xmlns:p14="http://schemas.microsoft.com/office/powerpoint/2010/main" val="1781991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Limiting Reactants</a:t>
            </a:r>
            <a:endParaRPr lang="en-IN" dirty="0"/>
          </a:p>
        </p:txBody>
      </p:sp>
      <p:sp>
        <p:nvSpPr>
          <p:cNvPr id="309250" name="Rectangle 2"/>
          <p:cNvSpPr>
            <a:spLocks noGrp="1" noChangeArrowheads="1"/>
          </p:cNvSpPr>
          <p:nvPr>
            <p:ph idx="1"/>
          </p:nvPr>
        </p:nvSpPr>
        <p:spPr>
          <a:xfrm>
            <a:off x="457200" y="1752600"/>
            <a:ext cx="8229600" cy="2677656"/>
          </a:xfrm>
        </p:spPr>
        <p:txBody>
          <a:bodyPr/>
          <a:lstStyle/>
          <a:p>
            <a:r>
              <a:rPr lang="en-US" dirty="0"/>
              <a:t>Determine which reactant is limiting to calculate the amounts of products that will be formed</a:t>
            </a:r>
          </a:p>
          <a:p>
            <a:r>
              <a:rPr lang="en-US" dirty="0"/>
              <a:t>Methane and water will react to form products according to the following equation:</a:t>
            </a:r>
          </a:p>
          <a:p>
            <a:pPr marL="533400" indent="-533400">
              <a:buFontTx/>
              <a:buNone/>
            </a:pPr>
            <a:endParaRPr lang="en-US" sz="2800" dirty="0"/>
          </a:p>
          <a:p>
            <a:pPr marL="533400" indent="-533400">
              <a:buFontTx/>
              <a:buNone/>
            </a:pPr>
            <a:r>
              <a:rPr lang="en-US" sz="2800" dirty="0"/>
              <a:t>			</a:t>
            </a:r>
            <a:r>
              <a:rPr lang="en-US" dirty="0">
                <a:solidFill>
                  <a:srgbClr val="0000FF"/>
                </a:solidFill>
              </a:rPr>
              <a:t>CH</a:t>
            </a:r>
            <a:r>
              <a:rPr lang="en-US" baseline="-25000" dirty="0">
                <a:solidFill>
                  <a:srgbClr val="0000FF"/>
                </a:solidFill>
              </a:rPr>
              <a:t>4</a:t>
            </a:r>
            <a:r>
              <a:rPr lang="en-US" dirty="0">
                <a:solidFill>
                  <a:srgbClr val="0000FF"/>
                </a:solidFill>
              </a:rPr>
              <a:t> + H</a:t>
            </a:r>
            <a:r>
              <a:rPr lang="en-US" baseline="-25000" dirty="0">
                <a:solidFill>
                  <a:srgbClr val="0000FF"/>
                </a:solidFill>
              </a:rPr>
              <a:t>2</a:t>
            </a:r>
            <a:r>
              <a:rPr lang="en-US" dirty="0">
                <a:solidFill>
                  <a:srgbClr val="0000FF"/>
                </a:solidFill>
              </a:rPr>
              <a:t>O </a:t>
            </a:r>
            <a:r>
              <a:rPr lang="en-US" dirty="0">
                <a:solidFill>
                  <a:srgbClr val="0000FF"/>
                </a:solidFill>
                <a:latin typeface="Symbol" charset="0"/>
              </a:rPr>
              <a:t></a:t>
            </a:r>
            <a:r>
              <a:rPr lang="en-US" dirty="0">
                <a:solidFill>
                  <a:srgbClr val="0000FF"/>
                </a:solidFill>
              </a:rPr>
              <a:t> 3H</a:t>
            </a:r>
            <a:r>
              <a:rPr lang="en-US" baseline="-25000" dirty="0">
                <a:solidFill>
                  <a:srgbClr val="0000FF"/>
                </a:solidFill>
              </a:rPr>
              <a:t>2</a:t>
            </a:r>
            <a:r>
              <a:rPr lang="en-US" dirty="0">
                <a:solidFill>
                  <a:srgbClr val="0000FF"/>
                </a:solidFill>
              </a:rPr>
              <a:t> + CO</a:t>
            </a:r>
          </a:p>
        </p:txBody>
      </p:sp>
    </p:spTree>
    <p:extLst>
      <p:ext uri="{BB962C8B-B14F-4D97-AF65-F5344CB8AC3E}">
        <p14:creationId xmlns:p14="http://schemas.microsoft.com/office/powerpoint/2010/main" val="2196650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3347" name="Rectangle 3"/>
          <p:cNvSpPr>
            <a:spLocks noGrp="1" noChangeArrowheads="1"/>
          </p:cNvSpPr>
          <p:nvPr>
            <p:ph type="title"/>
          </p:nvPr>
        </p:nvSpPr>
        <p:spPr/>
        <p:txBody>
          <a:bodyPr/>
          <a:lstStyle/>
          <a:p>
            <a:r>
              <a:rPr lang="en-US" dirty="0"/>
              <a:t>Limiting Reactants </a:t>
            </a:r>
            <a:r>
              <a:rPr lang="en-US" sz="1600" dirty="0"/>
              <a:t>(continued 1)</a:t>
            </a:r>
            <a:endParaRPr lang="en-US" dirty="0"/>
          </a:p>
        </p:txBody>
      </p:sp>
      <p:pic>
        <p:nvPicPr>
          <p:cNvPr id="3" name="Picture 2" descr="An illustration shows molecular model of CH subscript 4 and H subscript 2 O mixture: three CH subscript 4 molecules react with H subscript 2 O to form three groups of 3H subscript 2 plus CO, leaving two CH subscript 4 unreacted.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8857" y="1676400"/>
            <a:ext cx="5292885" cy="3731797"/>
          </a:xfrm>
          <a:prstGeom prst="rect">
            <a:avLst/>
          </a:prstGeom>
        </p:spPr>
      </p:pic>
      <p:sp>
        <p:nvSpPr>
          <p:cNvPr id="313346" name="Rectangle 2"/>
          <p:cNvSpPr>
            <a:spLocks noGrp="1" noChangeArrowheads="1"/>
          </p:cNvSpPr>
          <p:nvPr>
            <p:ph idx="1"/>
          </p:nvPr>
        </p:nvSpPr>
        <p:spPr>
          <a:xfrm>
            <a:off x="533400" y="5705960"/>
            <a:ext cx="7543800" cy="830997"/>
          </a:xfrm>
        </p:spPr>
        <p:txBody>
          <a:bodyPr/>
          <a:lstStyle/>
          <a:p>
            <a:r>
              <a:rPr lang="en-US" dirty="0"/>
              <a:t>H</a:t>
            </a:r>
            <a:r>
              <a:rPr lang="en-US" baseline="-25000" dirty="0"/>
              <a:t>2</a:t>
            </a:r>
            <a:r>
              <a:rPr lang="en-US" dirty="0"/>
              <a:t>O molecules are used up first, leaving two unreacted CH</a:t>
            </a:r>
            <a:r>
              <a:rPr lang="en-US" baseline="-25000" dirty="0"/>
              <a:t>4</a:t>
            </a:r>
            <a:r>
              <a:rPr lang="en-US" dirty="0"/>
              <a:t> molecules</a:t>
            </a:r>
          </a:p>
        </p:txBody>
      </p:sp>
    </p:spTree>
    <p:extLst>
      <p:ext uri="{BB962C8B-B14F-4D97-AF65-F5344CB8AC3E}">
        <p14:creationId xmlns:p14="http://schemas.microsoft.com/office/powerpoint/2010/main" val="3552120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15395" name="Rectangle 3"/>
          <p:cNvSpPr>
            <a:spLocks noGrp="1" noChangeArrowheads="1"/>
          </p:cNvSpPr>
          <p:nvPr>
            <p:ph type="title"/>
          </p:nvPr>
        </p:nvSpPr>
        <p:spPr/>
        <p:txBody>
          <a:bodyPr/>
          <a:lstStyle/>
          <a:p>
            <a:r>
              <a:rPr lang="en-US" dirty="0"/>
              <a:t>Limiting Reactants </a:t>
            </a:r>
            <a:r>
              <a:rPr lang="en-US" sz="1600" dirty="0"/>
              <a:t>(continued 2)</a:t>
            </a:r>
            <a:endParaRPr lang="en-US" dirty="0"/>
          </a:p>
        </p:txBody>
      </p:sp>
      <p:sp>
        <p:nvSpPr>
          <p:cNvPr id="315394" name="Rectangle 2"/>
          <p:cNvSpPr>
            <a:spLocks noGrp="1" noChangeArrowheads="1"/>
          </p:cNvSpPr>
          <p:nvPr>
            <p:ph idx="1"/>
          </p:nvPr>
        </p:nvSpPr>
        <p:spPr>
          <a:xfrm>
            <a:off x="533400" y="1676400"/>
            <a:ext cx="7543800" cy="1717393"/>
          </a:xfrm>
        </p:spPr>
        <p:txBody>
          <a:bodyPr/>
          <a:lstStyle/>
          <a:p>
            <a:pPr marL="533400" indent="-533400"/>
            <a:r>
              <a:rPr lang="en-US" dirty="0"/>
              <a:t>Amount of products that can form is limited by the water</a:t>
            </a:r>
          </a:p>
          <a:p>
            <a:pPr marL="533400" indent="-533400"/>
            <a:r>
              <a:rPr lang="en-US" dirty="0"/>
              <a:t>Water is the limiting reactant</a:t>
            </a:r>
          </a:p>
          <a:p>
            <a:pPr marL="533400" indent="-533400"/>
            <a:r>
              <a:rPr lang="en-US" dirty="0"/>
              <a:t>Methane is in excess</a:t>
            </a:r>
          </a:p>
        </p:txBody>
      </p:sp>
    </p:spTree>
    <p:extLst>
      <p:ext uri="{BB962C8B-B14F-4D97-AF65-F5344CB8AC3E}">
        <p14:creationId xmlns:p14="http://schemas.microsoft.com/office/powerpoint/2010/main" val="946173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43" name="Rectangle 3"/>
          <p:cNvSpPr>
            <a:spLocks noGrp="1" noChangeArrowheads="1"/>
          </p:cNvSpPr>
          <p:nvPr>
            <p:ph type="title"/>
          </p:nvPr>
        </p:nvSpPr>
        <p:spPr/>
        <p:txBody>
          <a:bodyPr/>
          <a:lstStyle/>
          <a:p>
            <a:r>
              <a:rPr lang="en-US" sz="2000" dirty="0"/>
              <a:t>Steps for Solving Stoichiometry Problems Involving Limiting Reactants by Solving for Limiting Reactant First (Approach A)</a:t>
            </a:r>
          </a:p>
        </p:txBody>
      </p:sp>
      <p:sp>
        <p:nvSpPr>
          <p:cNvPr id="317442" name="Rectangle 2"/>
          <p:cNvSpPr>
            <a:spLocks noGrp="1" noChangeArrowheads="1"/>
          </p:cNvSpPr>
          <p:nvPr>
            <p:ph idx="1"/>
          </p:nvPr>
        </p:nvSpPr>
        <p:spPr>
          <a:xfrm>
            <a:off x="533400" y="1752600"/>
            <a:ext cx="8077200" cy="4081117"/>
          </a:xfrm>
        </p:spPr>
        <p:txBody>
          <a:bodyPr/>
          <a:lstStyle/>
          <a:p>
            <a:pPr>
              <a:buFont typeface="Arial" panose="020B0604020202020204" pitchFamily="34" charset="0"/>
              <a:buChar char="•"/>
            </a:pPr>
            <a:r>
              <a:rPr lang="en-US" dirty="0"/>
              <a:t>Write and balance the equation for the reaction</a:t>
            </a:r>
          </a:p>
          <a:p>
            <a:pPr>
              <a:buFont typeface="Arial" panose="020B0604020202020204" pitchFamily="34" charset="0"/>
              <a:buChar char="•"/>
            </a:pPr>
            <a:r>
              <a:rPr lang="en-US" dirty="0"/>
              <a:t>Convert known masses of reactants to moles</a:t>
            </a:r>
          </a:p>
          <a:p>
            <a:pPr>
              <a:buFont typeface="Arial" panose="020B0604020202020204" pitchFamily="34" charset="0"/>
              <a:buChar char="•"/>
            </a:pPr>
            <a:r>
              <a:rPr lang="en-US" dirty="0"/>
              <a:t>Using the numbers of moles of reactants and the appropriate mole ratios, determine which reactant is limiting</a:t>
            </a:r>
          </a:p>
          <a:p>
            <a:pPr>
              <a:buFont typeface="Arial" panose="020B0604020202020204" pitchFamily="34" charset="0"/>
              <a:buChar char="•"/>
            </a:pPr>
            <a:r>
              <a:rPr lang="en-US" dirty="0"/>
              <a:t>Using the amount of the limiting reactant and the appropriate mole ratio, compute the number of moles of the desired product</a:t>
            </a:r>
          </a:p>
          <a:p>
            <a:pPr>
              <a:buFont typeface="Arial" panose="020B0604020202020204" pitchFamily="34" charset="0"/>
              <a:buChar char="•"/>
            </a:pPr>
            <a:r>
              <a:rPr lang="en-US" dirty="0"/>
              <a:t>Convert from moles of product to grams of product, using the molar mass, if this is required by the problem</a:t>
            </a:r>
          </a:p>
        </p:txBody>
      </p:sp>
    </p:spTree>
    <p:extLst>
      <p:ext uri="{BB962C8B-B14F-4D97-AF65-F5344CB8AC3E}">
        <p14:creationId xmlns:p14="http://schemas.microsoft.com/office/powerpoint/2010/main" val="3011684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1539" name="Rectangle 3"/>
          <p:cNvSpPr>
            <a:spLocks noGrp="1" noChangeArrowheads="1"/>
          </p:cNvSpPr>
          <p:nvPr>
            <p:ph type="title"/>
          </p:nvPr>
        </p:nvSpPr>
        <p:spPr/>
        <p:txBody>
          <a:bodyPr/>
          <a:lstStyle/>
          <a:p>
            <a:r>
              <a:rPr lang="en-US" dirty="0"/>
              <a:t>Example, 3, Approach A</a:t>
            </a:r>
          </a:p>
        </p:txBody>
      </p:sp>
      <p:sp>
        <p:nvSpPr>
          <p:cNvPr id="321538" name="Rectangle 2"/>
          <p:cNvSpPr>
            <a:spLocks noGrp="1" noChangeArrowheads="1"/>
          </p:cNvSpPr>
          <p:nvPr>
            <p:ph idx="1"/>
          </p:nvPr>
        </p:nvSpPr>
        <p:spPr>
          <a:xfrm>
            <a:off x="533400" y="1676400"/>
            <a:ext cx="7543800" cy="1988237"/>
          </a:xfrm>
        </p:spPr>
        <p:txBody>
          <a:bodyPr/>
          <a:lstStyle/>
          <a:p>
            <a:pPr marL="533400" indent="-533400"/>
            <a:r>
              <a:rPr lang="en-US" i="1" dirty="0">
                <a:solidFill>
                  <a:srgbClr val="0000FF"/>
                </a:solidFill>
              </a:rPr>
              <a:t>You know that chemical A reacts with chemical B </a:t>
            </a:r>
          </a:p>
          <a:p>
            <a:pPr marL="533400" indent="-533400"/>
            <a:r>
              <a:rPr lang="en-US" i="1" dirty="0">
                <a:solidFill>
                  <a:srgbClr val="0000FF"/>
                </a:solidFill>
              </a:rPr>
              <a:t>You react 10.0 g of A with 10.0 g of B</a:t>
            </a:r>
          </a:p>
          <a:p>
            <a:pPr lvl="1">
              <a:buFont typeface="Arial" panose="020B0604020202020204" pitchFamily="34" charset="0"/>
              <a:buChar char="−"/>
            </a:pPr>
            <a:r>
              <a:rPr lang="en-US" dirty="0"/>
              <a:t>What information do you need to know in order to determine the amount of product that will be produced?</a:t>
            </a:r>
          </a:p>
        </p:txBody>
      </p:sp>
    </p:spTree>
    <p:extLst>
      <p:ext uri="{BB962C8B-B14F-4D97-AF65-F5344CB8AC3E}">
        <p14:creationId xmlns:p14="http://schemas.microsoft.com/office/powerpoint/2010/main" val="682002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3587" name="Rectangle 3"/>
          <p:cNvSpPr>
            <a:spLocks noGrp="1" noChangeArrowheads="1"/>
          </p:cNvSpPr>
          <p:nvPr>
            <p:ph type="title"/>
          </p:nvPr>
        </p:nvSpPr>
        <p:spPr/>
        <p:txBody>
          <a:bodyPr/>
          <a:lstStyle/>
          <a:p>
            <a:r>
              <a:rPr lang="en-US" i="1" dirty="0"/>
              <a:t>Let</a:t>
            </a:r>
            <a:r>
              <a:rPr lang="ja-JP" altLang="en-US" i="1" dirty="0">
                <a:latin typeface="Arial"/>
              </a:rPr>
              <a:t>’</a:t>
            </a:r>
            <a:r>
              <a:rPr lang="en-US" i="1" dirty="0"/>
              <a:t>s Think About It (Approach A) </a:t>
            </a:r>
          </a:p>
        </p:txBody>
      </p:sp>
      <p:sp>
        <p:nvSpPr>
          <p:cNvPr id="323586" name="Rectangle 2"/>
          <p:cNvSpPr>
            <a:spLocks noGrp="1" noChangeArrowheads="1"/>
          </p:cNvSpPr>
          <p:nvPr>
            <p:ph idx="1"/>
          </p:nvPr>
        </p:nvSpPr>
        <p:spPr>
          <a:xfrm>
            <a:off x="533400" y="1676400"/>
            <a:ext cx="7543800" cy="3139321"/>
          </a:xfrm>
        </p:spPr>
        <p:txBody>
          <a:bodyPr/>
          <a:lstStyle/>
          <a:p>
            <a:pPr marL="533400" indent="-533400"/>
            <a:r>
              <a:rPr lang="en-US" b="1" dirty="0"/>
              <a:t>Where Are We Going?</a:t>
            </a:r>
          </a:p>
          <a:p>
            <a:pPr lvl="1">
              <a:buFont typeface="Arial" panose="020B0604020202020204" pitchFamily="34" charset="0"/>
              <a:buChar char="−"/>
            </a:pPr>
            <a:r>
              <a:rPr lang="en-US" dirty="0"/>
              <a:t>To determine the mass of product that will be produced when you react 10.0 g of A with 10.0 g of B </a:t>
            </a:r>
          </a:p>
          <a:p>
            <a:pPr marL="533400" indent="-533400"/>
            <a:r>
              <a:rPr lang="en-US" b="1" dirty="0"/>
              <a:t>What Do We Need To Know?</a:t>
            </a:r>
          </a:p>
          <a:p>
            <a:pPr lvl="1">
              <a:buFont typeface="Arial" panose="020B0604020202020204" pitchFamily="34" charset="0"/>
              <a:buChar char="−"/>
            </a:pPr>
            <a:r>
              <a:rPr lang="en-US" dirty="0"/>
              <a:t>Mole ratio between the reactants and the products</a:t>
            </a:r>
          </a:p>
          <a:p>
            <a:pPr lvl="2"/>
            <a:r>
              <a:rPr lang="en-US" dirty="0"/>
              <a:t>In other words, we need to know the balanced equation</a:t>
            </a:r>
          </a:p>
          <a:p>
            <a:pPr lvl="1">
              <a:buFont typeface="Arial" panose="020B0604020202020204" pitchFamily="34" charset="0"/>
              <a:buChar char="−"/>
            </a:pPr>
            <a:r>
              <a:rPr lang="en-US" dirty="0"/>
              <a:t>Molar masses of A, B, and the product they form</a:t>
            </a:r>
          </a:p>
        </p:txBody>
      </p:sp>
    </p:spTree>
    <p:extLst>
      <p:ext uri="{BB962C8B-B14F-4D97-AF65-F5344CB8AC3E}">
        <p14:creationId xmlns:p14="http://schemas.microsoft.com/office/powerpoint/2010/main" val="2188736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5635" name="Rectangle 3"/>
          <p:cNvSpPr>
            <a:spLocks noGrp="1" noChangeArrowheads="1"/>
          </p:cNvSpPr>
          <p:nvPr>
            <p:ph type="title"/>
          </p:nvPr>
        </p:nvSpPr>
        <p:spPr/>
        <p:txBody>
          <a:bodyPr/>
          <a:lstStyle/>
          <a:p>
            <a:r>
              <a:rPr lang="en-US" dirty="0"/>
              <a:t>Example, 3, Approach A </a:t>
            </a:r>
            <a:r>
              <a:rPr lang="en-US" sz="1600" dirty="0"/>
              <a:t>(continued 1)</a:t>
            </a:r>
          </a:p>
        </p:txBody>
      </p:sp>
      <p:sp>
        <p:nvSpPr>
          <p:cNvPr id="325634" name="Rectangle 2"/>
          <p:cNvSpPr>
            <a:spLocks noGrp="1" noChangeArrowheads="1"/>
          </p:cNvSpPr>
          <p:nvPr>
            <p:ph idx="1"/>
          </p:nvPr>
        </p:nvSpPr>
        <p:spPr>
          <a:xfrm>
            <a:off x="533400" y="1676400"/>
            <a:ext cx="8153400" cy="2862322"/>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cs typeface="+mn-cs"/>
              </a:rPr>
              <a:t>They</a:t>
            </a:r>
            <a:r>
              <a:rPr lang="en-IN" dirty="0">
                <a:solidFill>
                  <a:srgbClr val="000000"/>
                </a:solidFill>
              </a:rPr>
              <a:t> </a:t>
            </a:r>
            <a:r>
              <a:rPr lang="en-IN" dirty="0">
                <a:solidFill>
                  <a:srgbClr val="0000FF"/>
                </a:solidFill>
                <a:cs typeface="+mn-cs"/>
              </a:rPr>
              <a:t>react according to the equation:</a:t>
            </a:r>
            <a:endParaRPr lang="en-US" dirty="0">
              <a:solidFill>
                <a:srgbClr val="0000FF"/>
              </a:solidFill>
              <a:cs typeface="+mn-cs"/>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buFontTx/>
              <a:buNone/>
            </a:pPr>
            <a:endParaRPr lang="en-US" dirty="0">
              <a:solidFill>
                <a:srgbClr val="0000FF"/>
              </a:solidFill>
            </a:endParaRPr>
          </a:p>
        </p:txBody>
      </p:sp>
    </p:spTree>
    <p:extLst>
      <p:ext uri="{BB962C8B-B14F-4D97-AF65-F5344CB8AC3E}">
        <p14:creationId xmlns:p14="http://schemas.microsoft.com/office/powerpoint/2010/main" val="2770917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1779" name="Rectangle 3"/>
          <p:cNvSpPr>
            <a:spLocks noGrp="1" noChangeArrowheads="1"/>
          </p:cNvSpPr>
          <p:nvPr>
            <p:ph type="title"/>
          </p:nvPr>
        </p:nvSpPr>
        <p:spPr/>
        <p:txBody>
          <a:bodyPr/>
          <a:lstStyle/>
          <a:p>
            <a:r>
              <a:rPr lang="en-US" dirty="0"/>
              <a:t>Example, 3, Approach A </a:t>
            </a:r>
            <a:r>
              <a:rPr lang="en-US" sz="1600" dirty="0"/>
              <a:t>(continued 2)</a:t>
            </a:r>
          </a:p>
        </p:txBody>
      </p:sp>
      <p:sp>
        <p:nvSpPr>
          <p:cNvPr id="331778" name="Rectangle 2"/>
          <p:cNvSpPr>
            <a:spLocks noGrp="1" noChangeArrowheads="1"/>
          </p:cNvSpPr>
          <p:nvPr>
            <p:ph idx="1"/>
          </p:nvPr>
        </p:nvSpPr>
        <p:spPr>
          <a:xfrm>
            <a:off x="533400" y="1676400"/>
            <a:ext cx="8153400" cy="3711785"/>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r>
              <a:rPr lang="en-US" b="1" dirty="0">
                <a:sym typeface="Symbol" charset="0"/>
              </a:rPr>
              <a:t>How Do We Get There? </a:t>
            </a:r>
          </a:p>
          <a:p>
            <a:pPr lvl="1">
              <a:buFont typeface="Arial" panose="020B0604020202020204" pitchFamily="34" charset="0"/>
              <a:buChar char="−"/>
            </a:pPr>
            <a:r>
              <a:rPr lang="en-US" dirty="0">
                <a:sym typeface="Symbol" charset="0"/>
              </a:rPr>
              <a:t>Convert known masses of reactants to moles</a:t>
            </a:r>
          </a:p>
          <a:p>
            <a:pPr marL="533400" indent="-533400">
              <a:buFontTx/>
              <a:buNone/>
            </a:pPr>
            <a:endParaRPr lang="en-US" dirty="0">
              <a:solidFill>
                <a:srgbClr val="0000FF"/>
              </a:solidFill>
            </a:endParaRPr>
          </a:p>
        </p:txBody>
      </p:sp>
      <p:graphicFrame>
        <p:nvGraphicFramePr>
          <p:cNvPr id="331780" name="Object 4" descr="10.0 g A multiplied by 1 mol A divided by 10.0 g A equals 1.00 mol A."/>
          <p:cNvGraphicFramePr>
            <a:graphicFrameLocks noChangeAspect="1"/>
          </p:cNvGraphicFramePr>
          <p:nvPr>
            <p:extLst>
              <p:ext uri="{D42A27DB-BD31-4B8C-83A1-F6EECF244321}">
                <p14:modId xmlns:p14="http://schemas.microsoft.com/office/powerpoint/2010/main" val="506344093"/>
              </p:ext>
            </p:extLst>
          </p:nvPr>
        </p:nvGraphicFramePr>
        <p:xfrm>
          <a:off x="2057400" y="4904875"/>
          <a:ext cx="3962400" cy="673100"/>
        </p:xfrm>
        <a:graphic>
          <a:graphicData uri="http://schemas.openxmlformats.org/presentationml/2006/ole">
            <mc:AlternateContent xmlns:mc="http://schemas.openxmlformats.org/markup-compatibility/2006">
              <mc:Choice xmlns:v="urn:schemas-microsoft-com:vml" Requires="v">
                <p:oleObj spid="_x0000_s8222" name="Equation" r:id="rId4" imgW="3962160" imgH="672840" progId="Equation.DSMT4">
                  <p:embed/>
                </p:oleObj>
              </mc:Choice>
              <mc:Fallback>
                <p:oleObj name="Equation" r:id="rId4" imgW="3962160" imgH="672840" progId="Equation.DSMT4">
                  <p:embed/>
                  <p:pic>
                    <p:nvPicPr>
                      <p:cNvPr id="331780" name="Object 4" descr="10.0 g A multiplied by 1 mol A divided by 10.0 g A equals 1.00 mol A."/>
                      <p:cNvPicPr>
                        <a:picLocks noChangeAspect="1" noChangeArrowheads="1"/>
                      </p:cNvPicPr>
                      <p:nvPr/>
                    </p:nvPicPr>
                    <p:blipFill>
                      <a:blip r:embed="rId5"/>
                      <a:srcRect/>
                      <a:stretch>
                        <a:fillRect/>
                      </a:stretch>
                    </p:blipFill>
                    <p:spPr bwMode="auto">
                      <a:xfrm>
                        <a:off x="2057400" y="4904875"/>
                        <a:ext cx="3962400" cy="6731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 name="Object 5" descr="10.0 g B multiplied by 1 mol B divided by 20.0 g B equals 0.500 mol B.">
            <a:extLst>
              <a:ext uri="{FF2B5EF4-FFF2-40B4-BE49-F238E27FC236}">
                <a16:creationId xmlns:a16="http://schemas.microsoft.com/office/drawing/2014/main" id="{09747494-90CC-473E-BFAF-FD7FFB4E0FBC}"/>
              </a:ext>
            </a:extLst>
          </p:cNvPr>
          <p:cNvGraphicFramePr>
            <a:graphicFrameLocks noChangeAspect="1"/>
          </p:cNvGraphicFramePr>
          <p:nvPr>
            <p:extLst>
              <p:ext uri="{D42A27DB-BD31-4B8C-83A1-F6EECF244321}">
                <p14:modId xmlns:p14="http://schemas.microsoft.com/office/powerpoint/2010/main" val="1853144123"/>
              </p:ext>
            </p:extLst>
          </p:nvPr>
        </p:nvGraphicFramePr>
        <p:xfrm>
          <a:off x="2057400" y="5767765"/>
          <a:ext cx="4102100" cy="673100"/>
        </p:xfrm>
        <a:graphic>
          <a:graphicData uri="http://schemas.openxmlformats.org/presentationml/2006/ole">
            <mc:AlternateContent xmlns:mc="http://schemas.openxmlformats.org/markup-compatibility/2006">
              <mc:Choice xmlns:v="urn:schemas-microsoft-com:vml" Requires="v">
                <p:oleObj spid="_x0000_s8223" name="Equation" r:id="rId6" imgW="4101840" imgH="672840" progId="Equation.DSMT4">
                  <p:embed/>
                </p:oleObj>
              </mc:Choice>
              <mc:Fallback>
                <p:oleObj name="Equation" r:id="rId6" imgW="4101840" imgH="672840" progId="Equation.DSMT4">
                  <p:embed/>
                  <p:pic>
                    <p:nvPicPr>
                      <p:cNvPr id="6" name="Object 5" descr="10.0 g B multiplied by 1 mol B divided by 20.0 g B equals 0.500 mol B.">
                        <a:extLst>
                          <a:ext uri="{FF2B5EF4-FFF2-40B4-BE49-F238E27FC236}">
                            <a16:creationId xmlns:a16="http://schemas.microsoft.com/office/drawing/2014/main" id="{09747494-90CC-473E-BFAF-FD7FFB4E0FBC}"/>
                          </a:ext>
                        </a:extLst>
                      </p:cNvPr>
                      <p:cNvPicPr/>
                      <p:nvPr/>
                    </p:nvPicPr>
                    <p:blipFill>
                      <a:blip r:embed="rId7"/>
                      <a:stretch>
                        <a:fillRect/>
                      </a:stretch>
                    </p:blipFill>
                    <p:spPr>
                      <a:xfrm>
                        <a:off x="2057400" y="5767765"/>
                        <a:ext cx="4102100" cy="673100"/>
                      </a:xfrm>
                      <a:prstGeom prst="rect">
                        <a:avLst/>
                      </a:prstGeom>
                    </p:spPr>
                  </p:pic>
                </p:oleObj>
              </mc:Fallback>
            </mc:AlternateContent>
          </a:graphicData>
        </a:graphic>
      </p:graphicFrame>
    </p:spTree>
    <p:extLst>
      <p:ext uri="{BB962C8B-B14F-4D97-AF65-F5344CB8AC3E}">
        <p14:creationId xmlns:p14="http://schemas.microsoft.com/office/powerpoint/2010/main" val="4070571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3827" name="Rectangle 3"/>
          <p:cNvSpPr>
            <a:spLocks noGrp="1" noChangeArrowheads="1"/>
          </p:cNvSpPr>
          <p:nvPr>
            <p:ph type="title"/>
          </p:nvPr>
        </p:nvSpPr>
        <p:spPr/>
        <p:txBody>
          <a:bodyPr/>
          <a:lstStyle/>
          <a:p>
            <a:r>
              <a:rPr lang="en-US" dirty="0"/>
              <a:t>Example, 3, Approach A </a:t>
            </a:r>
            <a:r>
              <a:rPr lang="en-US" sz="1600" dirty="0"/>
              <a:t>(continued 3)</a:t>
            </a:r>
          </a:p>
        </p:txBody>
      </p:sp>
      <p:sp>
        <p:nvSpPr>
          <p:cNvPr id="333826" name="Rectangle 2"/>
          <p:cNvSpPr>
            <a:spLocks noGrp="1" noChangeArrowheads="1"/>
          </p:cNvSpPr>
          <p:nvPr>
            <p:ph idx="1"/>
          </p:nvPr>
        </p:nvSpPr>
        <p:spPr>
          <a:xfrm>
            <a:off x="533400" y="1676400"/>
            <a:ext cx="8153400" cy="4985980"/>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r>
              <a:rPr lang="en-US" b="1" dirty="0">
                <a:sym typeface="Symbol" charset="0"/>
              </a:rPr>
              <a:t>How Do We Get There? </a:t>
            </a:r>
          </a:p>
          <a:p>
            <a:pPr lvl="1">
              <a:buFont typeface="Arial" panose="020B0604020202020204" pitchFamily="34" charset="0"/>
              <a:buChar char="−"/>
            </a:pPr>
            <a:r>
              <a:rPr lang="en-US" dirty="0">
                <a:sym typeface="Symbol" charset="0"/>
              </a:rPr>
              <a:t>Determine which reactant is limiting</a:t>
            </a:r>
          </a:p>
          <a:p>
            <a:pPr marL="914400" lvl="1" indent="-457200">
              <a:buFont typeface="Wingdings" charset="0"/>
              <a:buNone/>
            </a:pPr>
            <a:endParaRPr lang="en-US" sz="900" dirty="0">
              <a:solidFill>
                <a:srgbClr val="0000FF"/>
              </a:solidFill>
            </a:endParaRPr>
          </a:p>
          <a:p>
            <a:pPr marL="914400" lvl="1" indent="-457200">
              <a:buFont typeface="Wingdings" charset="0"/>
              <a:buNone/>
            </a:pPr>
            <a:r>
              <a:rPr lang="en-US" sz="2000" dirty="0"/>
              <a:t>					</a:t>
            </a:r>
          </a:p>
          <a:p>
            <a:pPr marL="914400" lvl="1" indent="-457200">
              <a:buFont typeface="Wingdings" charset="0"/>
              <a:buNone/>
            </a:pPr>
            <a:r>
              <a:rPr lang="en-US" sz="2000" dirty="0"/>
              <a:t>				</a:t>
            </a:r>
            <a:endParaRPr lang="en-US" dirty="0"/>
          </a:p>
          <a:p>
            <a:pPr lvl="2">
              <a:buFont typeface="Arial" panose="020B0604020202020204" pitchFamily="34" charset="0"/>
              <a:buChar char="−"/>
            </a:pPr>
            <a:r>
              <a:rPr lang="en-US" sz="2400" dirty="0"/>
              <a:t>Only 0.500 </a:t>
            </a:r>
            <a:r>
              <a:rPr lang="en-US" sz="2400" dirty="0" err="1"/>
              <a:t>mol</a:t>
            </a:r>
            <a:r>
              <a:rPr lang="en-US" sz="2400" dirty="0"/>
              <a:t> B is available, so B is the limiting reactant</a:t>
            </a:r>
          </a:p>
        </p:txBody>
      </p:sp>
      <p:graphicFrame>
        <p:nvGraphicFramePr>
          <p:cNvPr id="333828" name="Object 4" descr="1.00 mol A multiplied by 3 mol B divided by 1 mol A equals 3.00 mol B is required to react with all of the A."/>
          <p:cNvGraphicFramePr>
            <a:graphicFrameLocks noChangeAspect="1"/>
          </p:cNvGraphicFramePr>
          <p:nvPr>
            <p:extLst>
              <p:ext uri="{D42A27DB-BD31-4B8C-83A1-F6EECF244321}">
                <p14:modId xmlns:p14="http://schemas.microsoft.com/office/powerpoint/2010/main" val="1102074982"/>
              </p:ext>
            </p:extLst>
          </p:nvPr>
        </p:nvGraphicFramePr>
        <p:xfrm>
          <a:off x="1122363" y="5005387"/>
          <a:ext cx="7564437" cy="577850"/>
        </p:xfrm>
        <a:graphic>
          <a:graphicData uri="http://schemas.openxmlformats.org/presentationml/2006/ole">
            <mc:AlternateContent xmlns:mc="http://schemas.openxmlformats.org/markup-compatibility/2006">
              <mc:Choice xmlns:v="urn:schemas-microsoft-com:vml" Requires="v">
                <p:oleObj spid="_x0000_s9232" name="Equation" r:id="rId4" imgW="8153280" imgH="622080" progId="Equation.DSMT4">
                  <p:embed/>
                </p:oleObj>
              </mc:Choice>
              <mc:Fallback>
                <p:oleObj name="Equation" r:id="rId4" imgW="8153280" imgH="622080" progId="Equation.DSMT4">
                  <p:embed/>
                  <p:pic>
                    <p:nvPicPr>
                      <p:cNvPr id="333828" name="Object 4" descr="1.00 mol A multiplied by 3 mol B divided by 1 mol A equals 3.00 mol B is required to react with all of the A."/>
                      <p:cNvPicPr>
                        <a:picLocks noChangeAspect="1" noChangeArrowheads="1"/>
                      </p:cNvPicPr>
                      <p:nvPr/>
                    </p:nvPicPr>
                    <p:blipFill>
                      <a:blip r:embed="rId5"/>
                      <a:srcRect/>
                      <a:stretch>
                        <a:fillRect/>
                      </a:stretch>
                    </p:blipFill>
                    <p:spPr bwMode="auto">
                      <a:xfrm>
                        <a:off x="1122363" y="5005387"/>
                        <a:ext cx="7564437" cy="5778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874723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5875" name="Rectangle 3"/>
          <p:cNvSpPr>
            <a:spLocks noGrp="1" noChangeArrowheads="1"/>
          </p:cNvSpPr>
          <p:nvPr>
            <p:ph type="title"/>
          </p:nvPr>
        </p:nvSpPr>
        <p:spPr/>
        <p:txBody>
          <a:bodyPr/>
          <a:lstStyle/>
          <a:p>
            <a:r>
              <a:rPr lang="en-US" dirty="0"/>
              <a:t>Example, 3, Approach A </a:t>
            </a:r>
            <a:r>
              <a:rPr lang="en-US" sz="1600" dirty="0"/>
              <a:t>(continued 4)</a:t>
            </a:r>
          </a:p>
        </p:txBody>
      </p:sp>
      <p:sp>
        <p:nvSpPr>
          <p:cNvPr id="335874" name="Rectangle 2"/>
          <p:cNvSpPr>
            <a:spLocks noGrp="1" noChangeArrowheads="1"/>
          </p:cNvSpPr>
          <p:nvPr>
            <p:ph idx="1"/>
          </p:nvPr>
        </p:nvSpPr>
        <p:spPr>
          <a:xfrm>
            <a:off x="533400" y="1676400"/>
            <a:ext cx="8153400" cy="3268587"/>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cs typeface="+mn-cs"/>
              </a:rPr>
              <a:t>They</a:t>
            </a:r>
            <a:r>
              <a:rPr lang="en-IN" dirty="0">
                <a:solidFill>
                  <a:srgbClr val="000000"/>
                </a:solidFill>
              </a:rPr>
              <a:t> </a:t>
            </a:r>
            <a:r>
              <a:rPr lang="en-IN" dirty="0">
                <a:solidFill>
                  <a:srgbClr val="0000FF"/>
                </a:solidFill>
                <a:cs typeface="+mn-cs"/>
              </a:rPr>
              <a:t>react according to the equation:</a:t>
            </a:r>
            <a:endParaRPr lang="en-US" dirty="0">
              <a:solidFill>
                <a:srgbClr val="0000FF"/>
              </a:solidFill>
              <a:cs typeface="+mn-cs"/>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r>
              <a:rPr lang="en-US" b="1" dirty="0">
                <a:sym typeface="Symbol" charset="0"/>
              </a:rPr>
              <a:t>How Do We Get There? </a:t>
            </a:r>
          </a:p>
          <a:p>
            <a:pPr lvl="1">
              <a:buFont typeface="Arial" panose="020B0604020202020204" pitchFamily="34" charset="0"/>
              <a:buChar char="−"/>
            </a:pPr>
            <a:r>
              <a:rPr lang="en-US" dirty="0">
                <a:sym typeface="Symbol" charset="0"/>
              </a:rPr>
              <a:t>Compute the number of moles of C produced</a:t>
            </a:r>
            <a:endParaRPr lang="en-US" dirty="0"/>
          </a:p>
        </p:txBody>
      </p:sp>
      <p:graphicFrame>
        <p:nvGraphicFramePr>
          <p:cNvPr id="5" name="Object 4" descr="0.500 mol B multiplied by 2 mol C divided 3 mol B equals 0.333 mol C is produced.">
            <a:extLst>
              <a:ext uri="{FF2B5EF4-FFF2-40B4-BE49-F238E27FC236}">
                <a16:creationId xmlns:a16="http://schemas.microsoft.com/office/drawing/2014/main" id="{E5EA074E-BA69-45E2-B8D2-06E2FE50538E}"/>
              </a:ext>
            </a:extLst>
          </p:cNvPr>
          <p:cNvGraphicFramePr>
            <a:graphicFrameLocks noChangeAspect="1"/>
          </p:cNvGraphicFramePr>
          <p:nvPr>
            <p:extLst>
              <p:ext uri="{D42A27DB-BD31-4B8C-83A1-F6EECF244321}">
                <p14:modId xmlns:p14="http://schemas.microsoft.com/office/powerpoint/2010/main" val="3639957496"/>
              </p:ext>
            </p:extLst>
          </p:nvPr>
        </p:nvGraphicFramePr>
        <p:xfrm>
          <a:off x="1492250" y="5076825"/>
          <a:ext cx="5810250" cy="714375"/>
        </p:xfrm>
        <a:graphic>
          <a:graphicData uri="http://schemas.openxmlformats.org/presentationml/2006/ole">
            <mc:AlternateContent xmlns:mc="http://schemas.openxmlformats.org/markup-compatibility/2006">
              <mc:Choice xmlns:v="urn:schemas-microsoft-com:vml" Requires="v">
                <p:oleObj spid="_x0000_s10256" name="Equation" r:id="rId4" imgW="3200400" imgH="393480" progId="Equation.DSMT4">
                  <p:embed/>
                </p:oleObj>
              </mc:Choice>
              <mc:Fallback>
                <p:oleObj name="Equation" r:id="rId4" imgW="3200400" imgH="393480" progId="Equation.DSMT4">
                  <p:embed/>
                  <p:pic>
                    <p:nvPicPr>
                      <p:cNvPr id="5" name="Object 4" descr="0.500 mol B multiplied by 2 mol C divided 3 mol B equals 0.333 mol C is produced.">
                        <a:extLst>
                          <a:ext uri="{FF2B5EF4-FFF2-40B4-BE49-F238E27FC236}">
                            <a16:creationId xmlns:a16="http://schemas.microsoft.com/office/drawing/2014/main" id="{E5EA074E-BA69-45E2-B8D2-06E2FE50538E}"/>
                          </a:ext>
                        </a:extLst>
                      </p:cNvPr>
                      <p:cNvPicPr/>
                      <p:nvPr/>
                    </p:nvPicPr>
                    <p:blipFill>
                      <a:blip r:embed="rId5"/>
                      <a:stretch>
                        <a:fillRect/>
                      </a:stretch>
                    </p:blipFill>
                    <p:spPr>
                      <a:xfrm>
                        <a:off x="1492250" y="5076825"/>
                        <a:ext cx="5810250" cy="714375"/>
                      </a:xfrm>
                      <a:prstGeom prst="rect">
                        <a:avLst/>
                      </a:prstGeom>
                    </p:spPr>
                  </p:pic>
                </p:oleObj>
              </mc:Fallback>
            </mc:AlternateContent>
          </a:graphicData>
        </a:graphic>
      </p:graphicFrame>
    </p:spTree>
    <p:extLst>
      <p:ext uri="{BB962C8B-B14F-4D97-AF65-F5344CB8AC3E}">
        <p14:creationId xmlns:p14="http://schemas.microsoft.com/office/powerpoint/2010/main" val="2434904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7923" name="Rectangle 3"/>
          <p:cNvSpPr>
            <a:spLocks noGrp="1" noChangeArrowheads="1"/>
          </p:cNvSpPr>
          <p:nvPr>
            <p:ph type="title"/>
          </p:nvPr>
        </p:nvSpPr>
        <p:spPr/>
        <p:txBody>
          <a:bodyPr/>
          <a:lstStyle/>
          <a:p>
            <a:r>
              <a:rPr lang="en-US" dirty="0"/>
              <a:t>Example, 3, Approach A </a:t>
            </a:r>
            <a:r>
              <a:rPr lang="en-US" sz="1600" dirty="0"/>
              <a:t>(continued 5)</a:t>
            </a:r>
          </a:p>
        </p:txBody>
      </p:sp>
      <p:sp>
        <p:nvSpPr>
          <p:cNvPr id="337922" name="Rectangle 2"/>
          <p:cNvSpPr>
            <a:spLocks noGrp="1" noChangeArrowheads="1"/>
          </p:cNvSpPr>
          <p:nvPr>
            <p:ph idx="1"/>
          </p:nvPr>
        </p:nvSpPr>
        <p:spPr>
          <a:xfrm>
            <a:off x="533400" y="1676400"/>
            <a:ext cx="8153400" cy="3342453"/>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mass of product will be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r>
              <a:rPr lang="en-US" b="1" dirty="0">
                <a:sym typeface="Symbol" charset="0"/>
              </a:rPr>
              <a:t>How Do We Get There? </a:t>
            </a:r>
          </a:p>
          <a:p>
            <a:pPr lvl="1">
              <a:buFont typeface="Arial" panose="020B0604020202020204" pitchFamily="34" charset="0"/>
              <a:buChar char="−"/>
            </a:pPr>
            <a:r>
              <a:rPr lang="en-US" dirty="0">
                <a:sym typeface="Symbol" charset="0"/>
              </a:rPr>
              <a:t>Convert from moles of C to grams of C using the molar mass</a:t>
            </a:r>
            <a:endParaRPr lang="en-US" dirty="0"/>
          </a:p>
        </p:txBody>
      </p:sp>
      <p:graphicFrame>
        <p:nvGraphicFramePr>
          <p:cNvPr id="5" name="Object 4" descr="0.333 mol C multiplied by 25.0 g C divided by 1 mol C equals 8.33 g C.">
            <a:extLst>
              <a:ext uri="{FF2B5EF4-FFF2-40B4-BE49-F238E27FC236}">
                <a16:creationId xmlns:a16="http://schemas.microsoft.com/office/drawing/2014/main" id="{E9B61140-5AD5-4C9F-9FC5-265819E144D0}"/>
              </a:ext>
            </a:extLst>
          </p:cNvPr>
          <p:cNvGraphicFramePr>
            <a:graphicFrameLocks noChangeAspect="1"/>
          </p:cNvGraphicFramePr>
          <p:nvPr>
            <p:extLst>
              <p:ext uri="{D42A27DB-BD31-4B8C-83A1-F6EECF244321}">
                <p14:modId xmlns:p14="http://schemas.microsoft.com/office/powerpoint/2010/main" val="532300393"/>
              </p:ext>
            </p:extLst>
          </p:nvPr>
        </p:nvGraphicFramePr>
        <p:xfrm>
          <a:off x="2262537" y="5048250"/>
          <a:ext cx="4246751" cy="743781"/>
        </p:xfrm>
        <a:graphic>
          <a:graphicData uri="http://schemas.openxmlformats.org/presentationml/2006/ole">
            <mc:AlternateContent xmlns:mc="http://schemas.openxmlformats.org/markup-compatibility/2006">
              <mc:Choice xmlns:v="urn:schemas-microsoft-com:vml" Requires="v">
                <p:oleObj spid="_x0000_s11280" name="Equation" r:id="rId4" imgW="2247840" imgH="393480" progId="Equation.DSMT4">
                  <p:embed/>
                </p:oleObj>
              </mc:Choice>
              <mc:Fallback>
                <p:oleObj name="Equation" r:id="rId4" imgW="2247840" imgH="393480" progId="Equation.DSMT4">
                  <p:embed/>
                  <p:pic>
                    <p:nvPicPr>
                      <p:cNvPr id="5" name="Object 4" descr="0.333 mol C multiplied by 25.0 g C divided by 1 mol C equals 8.33 g C.">
                        <a:extLst>
                          <a:ext uri="{FF2B5EF4-FFF2-40B4-BE49-F238E27FC236}">
                            <a16:creationId xmlns:a16="http://schemas.microsoft.com/office/drawing/2014/main" id="{E9B61140-5AD5-4C9F-9FC5-265819E144D0}"/>
                          </a:ext>
                        </a:extLst>
                      </p:cNvPr>
                      <p:cNvPicPr/>
                      <p:nvPr/>
                    </p:nvPicPr>
                    <p:blipFill>
                      <a:blip r:embed="rId5"/>
                      <a:stretch>
                        <a:fillRect/>
                      </a:stretch>
                    </p:blipFill>
                    <p:spPr>
                      <a:xfrm>
                        <a:off x="2262537" y="5048250"/>
                        <a:ext cx="4246751" cy="743781"/>
                      </a:xfrm>
                      <a:prstGeom prst="rect">
                        <a:avLst/>
                      </a:prstGeom>
                    </p:spPr>
                  </p:pic>
                </p:oleObj>
              </mc:Fallback>
            </mc:AlternateContent>
          </a:graphicData>
        </a:graphic>
      </p:graphicFrame>
    </p:spTree>
    <p:extLst>
      <p:ext uri="{BB962C8B-B14F-4D97-AF65-F5344CB8AC3E}">
        <p14:creationId xmlns:p14="http://schemas.microsoft.com/office/powerpoint/2010/main" val="10960081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19491" name="Rectangle 3"/>
          <p:cNvSpPr>
            <a:spLocks noGrp="1" noChangeArrowheads="1"/>
          </p:cNvSpPr>
          <p:nvPr>
            <p:ph type="title"/>
          </p:nvPr>
        </p:nvSpPr>
        <p:spPr/>
        <p:txBody>
          <a:bodyPr/>
          <a:lstStyle/>
          <a:p>
            <a:r>
              <a:rPr lang="en-US"/>
              <a:t>Notice</a:t>
            </a:r>
          </a:p>
        </p:txBody>
      </p:sp>
      <p:sp>
        <p:nvSpPr>
          <p:cNvPr id="319490" name="Rectangle 2"/>
          <p:cNvSpPr>
            <a:spLocks noGrp="1" noChangeArrowheads="1"/>
          </p:cNvSpPr>
          <p:nvPr>
            <p:ph idx="1"/>
          </p:nvPr>
        </p:nvSpPr>
        <p:spPr>
          <a:xfrm>
            <a:off x="533400" y="1676400"/>
            <a:ext cx="7543800" cy="2382191"/>
          </a:xfrm>
        </p:spPr>
        <p:txBody>
          <a:bodyPr/>
          <a:lstStyle/>
          <a:p>
            <a:pPr marL="533400" indent="-533400"/>
            <a:r>
              <a:rPr lang="en-US" dirty="0"/>
              <a:t>We cannot simply add the total moles of all the reactants to decide which reactant mixture makes the most product</a:t>
            </a:r>
          </a:p>
          <a:p>
            <a:pPr marL="533400" indent="-533400"/>
            <a:r>
              <a:rPr lang="en-US" dirty="0"/>
              <a:t>We must always think about how much product can be formed by using what we are given and the ratio in the balanced equation </a:t>
            </a:r>
          </a:p>
        </p:txBody>
      </p:sp>
    </p:spTree>
    <p:extLst>
      <p:ext uri="{BB962C8B-B14F-4D97-AF65-F5344CB8AC3E}">
        <p14:creationId xmlns:p14="http://schemas.microsoft.com/office/powerpoint/2010/main" val="4222118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17443" name="Rectangle 3"/>
          <p:cNvSpPr>
            <a:spLocks noGrp="1" noChangeArrowheads="1"/>
          </p:cNvSpPr>
          <p:nvPr>
            <p:ph type="title"/>
          </p:nvPr>
        </p:nvSpPr>
        <p:spPr>
          <a:xfrm>
            <a:off x="457200" y="1409700"/>
            <a:ext cx="8229600" cy="533400"/>
          </a:xfrm>
        </p:spPr>
        <p:txBody>
          <a:bodyPr/>
          <a:lstStyle/>
          <a:p>
            <a:r>
              <a:rPr lang="en-US" dirty="0"/>
              <a:t>Steps for Solving Stoichiometry Problems Involving Limiting Reactants by Determining the Number of Moles of Product First, Approach B</a:t>
            </a:r>
          </a:p>
        </p:txBody>
      </p:sp>
      <p:sp>
        <p:nvSpPr>
          <p:cNvPr id="317442" name="Rectangle 2"/>
          <p:cNvSpPr>
            <a:spLocks noGrp="1" noChangeArrowheads="1"/>
          </p:cNvSpPr>
          <p:nvPr>
            <p:ph idx="1"/>
          </p:nvPr>
        </p:nvSpPr>
        <p:spPr>
          <a:xfrm>
            <a:off x="533400" y="2014883"/>
            <a:ext cx="8077200" cy="3748719"/>
          </a:xfrm>
        </p:spPr>
        <p:txBody>
          <a:bodyPr/>
          <a:lstStyle/>
          <a:p>
            <a:pPr marL="0" indent="0">
              <a:buNone/>
            </a:pPr>
            <a:endParaRPr lang="en-US" dirty="0">
              <a:solidFill>
                <a:srgbClr val="669900"/>
              </a:solidFill>
            </a:endParaRPr>
          </a:p>
          <a:p>
            <a:r>
              <a:rPr lang="en-US" dirty="0"/>
              <a:t>Write and balance the equation for the reaction</a:t>
            </a:r>
          </a:p>
          <a:p>
            <a:r>
              <a:rPr lang="en-US" dirty="0"/>
              <a:t>Convert known masses of reactants to moles</a:t>
            </a:r>
          </a:p>
          <a:p>
            <a:r>
              <a:rPr lang="en-US" dirty="0"/>
              <a:t>Using the appropriate mole ratios, compute the numbers of moles of product formed if each reactant were consumed</a:t>
            </a:r>
          </a:p>
          <a:p>
            <a:pPr lvl="1"/>
            <a:r>
              <a:rPr lang="en-US" dirty="0"/>
              <a:t>Choose the least number of moles of product formed </a:t>
            </a:r>
          </a:p>
          <a:p>
            <a:r>
              <a:rPr lang="en-US" dirty="0"/>
              <a:t>Convert from moles of product to grams of product, using the molar mass, if this is required by the problem</a:t>
            </a:r>
          </a:p>
        </p:txBody>
      </p:sp>
    </p:spTree>
    <p:extLst>
      <p:ext uri="{BB962C8B-B14F-4D97-AF65-F5344CB8AC3E}">
        <p14:creationId xmlns:p14="http://schemas.microsoft.com/office/powerpoint/2010/main" val="3288599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1539" name="Rectangle 3"/>
          <p:cNvSpPr>
            <a:spLocks noGrp="1" noChangeArrowheads="1"/>
          </p:cNvSpPr>
          <p:nvPr>
            <p:ph type="title"/>
          </p:nvPr>
        </p:nvSpPr>
        <p:spPr/>
        <p:txBody>
          <a:bodyPr/>
          <a:lstStyle/>
          <a:p>
            <a:r>
              <a:rPr lang="en-US" dirty="0"/>
              <a:t>Example, 3, Approach B</a:t>
            </a:r>
          </a:p>
        </p:txBody>
      </p:sp>
      <p:sp>
        <p:nvSpPr>
          <p:cNvPr id="321538" name="Rectangle 2"/>
          <p:cNvSpPr>
            <a:spLocks noGrp="1" noChangeArrowheads="1"/>
          </p:cNvSpPr>
          <p:nvPr>
            <p:ph idx="1"/>
          </p:nvPr>
        </p:nvSpPr>
        <p:spPr>
          <a:xfrm>
            <a:off x="533400" y="1676400"/>
            <a:ext cx="7543800" cy="1988237"/>
          </a:xfrm>
        </p:spPr>
        <p:txBody>
          <a:bodyPr/>
          <a:lstStyle/>
          <a:p>
            <a:pPr marL="533400" indent="-533400"/>
            <a:r>
              <a:rPr lang="en-US" i="1" dirty="0">
                <a:solidFill>
                  <a:srgbClr val="0000FF"/>
                </a:solidFill>
              </a:rPr>
              <a:t>You know that chemical A reacts with chemical B</a:t>
            </a:r>
          </a:p>
          <a:p>
            <a:pPr marL="533400" indent="-533400"/>
            <a:r>
              <a:rPr lang="en-US" i="1" dirty="0">
                <a:solidFill>
                  <a:srgbClr val="0000FF"/>
                </a:solidFill>
              </a:rPr>
              <a:t>You react 10.0 g of A with 10.0 g of B</a:t>
            </a:r>
          </a:p>
          <a:p>
            <a:pPr lvl="1">
              <a:buFont typeface="Arial" panose="020B0604020202020204" pitchFamily="34" charset="0"/>
              <a:buChar char="−"/>
            </a:pPr>
            <a:r>
              <a:rPr lang="en-US" dirty="0"/>
              <a:t>What information do you need to know in order to determine the amount of product that will be produced?</a:t>
            </a:r>
          </a:p>
        </p:txBody>
      </p:sp>
    </p:spTree>
    <p:extLst>
      <p:ext uri="{BB962C8B-B14F-4D97-AF65-F5344CB8AC3E}">
        <p14:creationId xmlns:p14="http://schemas.microsoft.com/office/powerpoint/2010/main" val="37596437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3587" name="Rectangle 3"/>
          <p:cNvSpPr>
            <a:spLocks noGrp="1" noChangeArrowheads="1"/>
          </p:cNvSpPr>
          <p:nvPr>
            <p:ph type="title"/>
          </p:nvPr>
        </p:nvSpPr>
        <p:spPr/>
        <p:txBody>
          <a:bodyPr/>
          <a:lstStyle/>
          <a:p>
            <a:r>
              <a:rPr lang="en-US" i="1" dirty="0"/>
              <a:t>Let</a:t>
            </a:r>
            <a:r>
              <a:rPr lang="ja-JP" altLang="en-US" i="1" dirty="0">
                <a:latin typeface="Arial"/>
              </a:rPr>
              <a:t>’</a:t>
            </a:r>
            <a:r>
              <a:rPr lang="en-US" i="1" dirty="0"/>
              <a:t>s Think About It (Approach B)</a:t>
            </a:r>
          </a:p>
        </p:txBody>
      </p:sp>
      <p:sp>
        <p:nvSpPr>
          <p:cNvPr id="323586" name="Rectangle 2"/>
          <p:cNvSpPr>
            <a:spLocks noGrp="1" noChangeArrowheads="1"/>
          </p:cNvSpPr>
          <p:nvPr>
            <p:ph idx="1"/>
          </p:nvPr>
        </p:nvSpPr>
        <p:spPr>
          <a:xfrm>
            <a:off x="533400" y="1676400"/>
            <a:ext cx="7543800" cy="3139321"/>
          </a:xfrm>
        </p:spPr>
        <p:txBody>
          <a:bodyPr/>
          <a:lstStyle/>
          <a:p>
            <a:pPr marL="533400" indent="-533400"/>
            <a:r>
              <a:rPr lang="en-US" b="1" dirty="0"/>
              <a:t>Where Are We Going?</a:t>
            </a:r>
          </a:p>
          <a:p>
            <a:pPr lvl="1">
              <a:buFont typeface="Arial" panose="020B0604020202020204" pitchFamily="34" charset="0"/>
              <a:buChar char="−"/>
            </a:pPr>
            <a:r>
              <a:rPr lang="en-US" dirty="0"/>
              <a:t>To determine the mass of product that will be produced when you react 10.0 g of A with 10.0 g of B </a:t>
            </a:r>
          </a:p>
          <a:p>
            <a:pPr marL="533400" indent="-533400"/>
            <a:r>
              <a:rPr lang="en-US" b="1" dirty="0"/>
              <a:t>What Do We Need To Know?</a:t>
            </a:r>
          </a:p>
          <a:p>
            <a:pPr lvl="1">
              <a:buFont typeface="Arial" panose="020B0604020202020204" pitchFamily="34" charset="0"/>
              <a:buChar char="−"/>
            </a:pPr>
            <a:r>
              <a:rPr lang="en-US" dirty="0"/>
              <a:t>Mole ratio between the reactants and the products</a:t>
            </a:r>
          </a:p>
          <a:p>
            <a:pPr marL="1314450" lvl="2" indent="-457200">
              <a:buFont typeface="Arial" panose="020B0604020202020204" pitchFamily="34" charset="0"/>
              <a:buChar char="•"/>
            </a:pPr>
            <a:r>
              <a:rPr lang="en-US" dirty="0"/>
              <a:t>In other words, we need to know the reaction’s balanced equation</a:t>
            </a:r>
          </a:p>
          <a:p>
            <a:pPr lvl="1">
              <a:buFont typeface="Arial" panose="020B0604020202020204" pitchFamily="34" charset="0"/>
              <a:buChar char="−"/>
            </a:pPr>
            <a:r>
              <a:rPr lang="en-US" dirty="0"/>
              <a:t>Molar masses of A, B, and the product they form</a:t>
            </a:r>
          </a:p>
        </p:txBody>
      </p:sp>
    </p:spTree>
    <p:extLst>
      <p:ext uri="{BB962C8B-B14F-4D97-AF65-F5344CB8AC3E}">
        <p14:creationId xmlns:p14="http://schemas.microsoft.com/office/powerpoint/2010/main" val="39145727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25635" name="Rectangle 3"/>
          <p:cNvSpPr>
            <a:spLocks noGrp="1" noChangeArrowheads="1"/>
          </p:cNvSpPr>
          <p:nvPr>
            <p:ph type="title"/>
          </p:nvPr>
        </p:nvSpPr>
        <p:spPr/>
        <p:txBody>
          <a:bodyPr/>
          <a:lstStyle/>
          <a:p>
            <a:r>
              <a:rPr lang="en-US" dirty="0"/>
              <a:t>Example, 3, Approach B </a:t>
            </a:r>
            <a:r>
              <a:rPr lang="en-US" sz="1600" dirty="0"/>
              <a:t>(continued 1)</a:t>
            </a:r>
          </a:p>
        </p:txBody>
      </p:sp>
      <p:sp>
        <p:nvSpPr>
          <p:cNvPr id="325634" name="Rectangle 2"/>
          <p:cNvSpPr>
            <a:spLocks noGrp="1" noChangeArrowheads="1"/>
          </p:cNvSpPr>
          <p:nvPr>
            <p:ph idx="1"/>
          </p:nvPr>
        </p:nvSpPr>
        <p:spPr>
          <a:xfrm>
            <a:off x="533400" y="1676400"/>
            <a:ext cx="8153400" cy="2862322"/>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buFontTx/>
              <a:buNone/>
            </a:pPr>
            <a:endParaRPr lang="en-US" dirty="0">
              <a:solidFill>
                <a:srgbClr val="0000FF"/>
              </a:solidFill>
            </a:endParaRPr>
          </a:p>
        </p:txBody>
      </p:sp>
    </p:spTree>
    <p:extLst>
      <p:ext uri="{BB962C8B-B14F-4D97-AF65-F5344CB8AC3E}">
        <p14:creationId xmlns:p14="http://schemas.microsoft.com/office/powerpoint/2010/main" val="28991877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1779" name="Rectangle 3"/>
          <p:cNvSpPr>
            <a:spLocks noGrp="1" noChangeArrowheads="1"/>
          </p:cNvSpPr>
          <p:nvPr>
            <p:ph type="title"/>
          </p:nvPr>
        </p:nvSpPr>
        <p:spPr/>
        <p:txBody>
          <a:bodyPr/>
          <a:lstStyle/>
          <a:p>
            <a:r>
              <a:rPr lang="en-US" dirty="0"/>
              <a:t>Example, 3, Approach B </a:t>
            </a:r>
            <a:r>
              <a:rPr lang="en-US" sz="1600" dirty="0"/>
              <a:t>(continued 2)</a:t>
            </a:r>
          </a:p>
        </p:txBody>
      </p:sp>
      <p:sp>
        <p:nvSpPr>
          <p:cNvPr id="331778" name="Rectangle 2"/>
          <p:cNvSpPr>
            <a:spLocks noGrp="1" noChangeArrowheads="1"/>
          </p:cNvSpPr>
          <p:nvPr>
            <p:ph idx="1"/>
          </p:nvPr>
        </p:nvSpPr>
        <p:spPr>
          <a:xfrm>
            <a:off x="533400" y="1676400"/>
            <a:ext cx="8153400" cy="3711785"/>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r>
              <a:rPr lang="en-US" b="1" dirty="0">
                <a:sym typeface="Symbol" charset="0"/>
              </a:rPr>
              <a:t>How Do We Get There? </a:t>
            </a:r>
          </a:p>
          <a:p>
            <a:pPr lvl="1">
              <a:buFont typeface="Arial" panose="020B0604020202020204" pitchFamily="34" charset="0"/>
              <a:buChar char="−"/>
            </a:pPr>
            <a:r>
              <a:rPr lang="en-US" dirty="0">
                <a:sym typeface="Symbol" charset="0"/>
              </a:rPr>
              <a:t>Convert known masses of reactants to moles</a:t>
            </a:r>
          </a:p>
          <a:p>
            <a:pPr marL="533400" indent="-533400">
              <a:buFontTx/>
              <a:buNone/>
            </a:pPr>
            <a:endParaRPr lang="en-US" dirty="0">
              <a:solidFill>
                <a:srgbClr val="0000FF"/>
              </a:solidFill>
            </a:endParaRPr>
          </a:p>
        </p:txBody>
      </p:sp>
      <p:graphicFrame>
        <p:nvGraphicFramePr>
          <p:cNvPr id="331780" name="Object 4" descr="10.0 g A multiplied by 1 mol A divided by 10.0 g A equals 1.00 mol A."/>
          <p:cNvGraphicFramePr>
            <a:graphicFrameLocks noChangeAspect="1"/>
          </p:cNvGraphicFramePr>
          <p:nvPr>
            <p:extLst>
              <p:ext uri="{D42A27DB-BD31-4B8C-83A1-F6EECF244321}">
                <p14:modId xmlns:p14="http://schemas.microsoft.com/office/powerpoint/2010/main" val="3313679813"/>
              </p:ext>
            </p:extLst>
          </p:nvPr>
        </p:nvGraphicFramePr>
        <p:xfrm>
          <a:off x="2057400" y="5051635"/>
          <a:ext cx="3962400" cy="673100"/>
        </p:xfrm>
        <a:graphic>
          <a:graphicData uri="http://schemas.openxmlformats.org/presentationml/2006/ole">
            <mc:AlternateContent xmlns:mc="http://schemas.openxmlformats.org/markup-compatibility/2006">
              <mc:Choice xmlns:v="urn:schemas-microsoft-com:vml" Requires="v">
                <p:oleObj spid="_x0000_s12318" name="Equation" r:id="rId4" imgW="3962796" imgH="673497" progId="Equation.DSMT4">
                  <p:embed/>
                </p:oleObj>
              </mc:Choice>
              <mc:Fallback>
                <p:oleObj name="Equation" r:id="rId4" imgW="3962796" imgH="673497" progId="Equation.DSMT4">
                  <p:embed/>
                  <p:pic>
                    <p:nvPicPr>
                      <p:cNvPr id="331780" name="Object 4" descr="10.0 g A multiplied by 1 mol A divided by 10.0 g A equals 1.00 mol 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5051635"/>
                        <a:ext cx="3962400" cy="6731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 name="Object 5" descr="10.0 g B multiplied by 1 mol B divided by 20.0 g B equals 0.500 mol B.">
            <a:extLst>
              <a:ext uri="{FF2B5EF4-FFF2-40B4-BE49-F238E27FC236}">
                <a16:creationId xmlns:a16="http://schemas.microsoft.com/office/drawing/2014/main" id="{C05A0B9F-5456-49C0-B2CE-06342E8511CF}"/>
              </a:ext>
            </a:extLst>
          </p:cNvPr>
          <p:cNvGraphicFramePr>
            <a:graphicFrameLocks noChangeAspect="1"/>
          </p:cNvGraphicFramePr>
          <p:nvPr>
            <p:extLst>
              <p:ext uri="{D42A27DB-BD31-4B8C-83A1-F6EECF244321}">
                <p14:modId xmlns:p14="http://schemas.microsoft.com/office/powerpoint/2010/main" val="1685449795"/>
              </p:ext>
            </p:extLst>
          </p:nvPr>
        </p:nvGraphicFramePr>
        <p:xfrm>
          <a:off x="2057400" y="5754176"/>
          <a:ext cx="4102100" cy="673100"/>
        </p:xfrm>
        <a:graphic>
          <a:graphicData uri="http://schemas.openxmlformats.org/presentationml/2006/ole">
            <mc:AlternateContent xmlns:mc="http://schemas.openxmlformats.org/markup-compatibility/2006">
              <mc:Choice xmlns:v="urn:schemas-microsoft-com:vml" Requires="v">
                <p:oleObj spid="_x0000_s12319" name="Equation" r:id="rId6" imgW="4101840" imgH="672840" progId="Equation.DSMT4">
                  <p:embed/>
                </p:oleObj>
              </mc:Choice>
              <mc:Fallback>
                <p:oleObj name="Equation" r:id="rId6" imgW="4101840" imgH="672840" progId="Equation.DSMT4">
                  <p:embed/>
                  <p:pic>
                    <p:nvPicPr>
                      <p:cNvPr id="6" name="Object 5" descr="10.0 g B multiplied by 1 mol B divided by 20.0 g B equals 0.500 mol B.">
                        <a:extLst>
                          <a:ext uri="{FF2B5EF4-FFF2-40B4-BE49-F238E27FC236}">
                            <a16:creationId xmlns:a16="http://schemas.microsoft.com/office/drawing/2014/main" id="{C05A0B9F-5456-49C0-B2CE-06342E8511CF}"/>
                          </a:ext>
                        </a:extLst>
                      </p:cNvPr>
                      <p:cNvPicPr/>
                      <p:nvPr/>
                    </p:nvPicPr>
                    <p:blipFill>
                      <a:blip r:embed="rId7"/>
                      <a:stretch>
                        <a:fillRect/>
                      </a:stretch>
                    </p:blipFill>
                    <p:spPr>
                      <a:xfrm>
                        <a:off x="2057400" y="5754176"/>
                        <a:ext cx="4102100" cy="673100"/>
                      </a:xfrm>
                      <a:prstGeom prst="rect">
                        <a:avLst/>
                      </a:prstGeom>
                    </p:spPr>
                  </p:pic>
                </p:oleObj>
              </mc:Fallback>
            </mc:AlternateContent>
          </a:graphicData>
        </a:graphic>
      </p:graphicFrame>
    </p:spTree>
    <p:extLst>
      <p:ext uri="{BB962C8B-B14F-4D97-AF65-F5344CB8AC3E}">
        <p14:creationId xmlns:p14="http://schemas.microsoft.com/office/powerpoint/2010/main" val="39279226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3827" name="Rectangle 3"/>
          <p:cNvSpPr>
            <a:spLocks noGrp="1" noChangeArrowheads="1"/>
          </p:cNvSpPr>
          <p:nvPr>
            <p:ph type="title"/>
          </p:nvPr>
        </p:nvSpPr>
        <p:spPr/>
        <p:txBody>
          <a:bodyPr/>
          <a:lstStyle/>
          <a:p>
            <a:r>
              <a:rPr lang="en-US" dirty="0"/>
              <a:t>Example, 3, Approach B </a:t>
            </a:r>
            <a:r>
              <a:rPr lang="en-US" sz="1600" dirty="0"/>
              <a:t>(continued 3)</a:t>
            </a:r>
          </a:p>
        </p:txBody>
      </p:sp>
      <p:sp>
        <p:nvSpPr>
          <p:cNvPr id="333826" name="Rectangle 2"/>
          <p:cNvSpPr>
            <a:spLocks noGrp="1" noChangeArrowheads="1"/>
          </p:cNvSpPr>
          <p:nvPr>
            <p:ph idx="1"/>
          </p:nvPr>
        </p:nvSpPr>
        <p:spPr>
          <a:xfrm>
            <a:off x="533400" y="1676400"/>
            <a:ext cx="8153400" cy="4512004"/>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r>
              <a:rPr lang="en-US" b="1" dirty="0">
                <a:sym typeface="Symbol" charset="0"/>
              </a:rPr>
              <a:t>How Do We Get There? </a:t>
            </a:r>
          </a:p>
          <a:p>
            <a:pPr lvl="1">
              <a:buFont typeface="Arial" panose="020B0604020202020204" pitchFamily="34" charset="0"/>
              <a:buChar char="−"/>
            </a:pPr>
            <a:r>
              <a:rPr lang="en-US" dirty="0">
                <a:sym typeface="Symbol" charset="0"/>
              </a:rPr>
              <a:t>Compute the number of moles of product formed from each reactant</a:t>
            </a:r>
          </a:p>
          <a:p>
            <a:pPr marL="914400" lvl="1" indent="-457200">
              <a:buFont typeface="Wingdings" charset="0"/>
              <a:buNone/>
            </a:pPr>
            <a:endParaRPr lang="en-US" sz="900" dirty="0">
              <a:solidFill>
                <a:srgbClr val="0000FF"/>
              </a:solidFill>
            </a:endParaRPr>
          </a:p>
          <a:p>
            <a:pPr marL="914400" lvl="1" indent="-457200">
              <a:buNone/>
            </a:pPr>
            <a:r>
              <a:rPr lang="en-US" sz="2000" dirty="0"/>
              <a:t>				</a:t>
            </a:r>
          </a:p>
          <a:p>
            <a:pPr marL="914400" lvl="1" indent="-457200">
              <a:buFont typeface="Wingdings" charset="0"/>
              <a:buNone/>
            </a:pPr>
            <a:r>
              <a:rPr lang="en-US" sz="2000" dirty="0"/>
              <a:t>					</a:t>
            </a:r>
          </a:p>
        </p:txBody>
      </p:sp>
      <p:graphicFrame>
        <p:nvGraphicFramePr>
          <p:cNvPr id="6" name="Object 5" descr="1.00 mol A multiplied by 2 mol C divided by 1 mol A equals 2.00 mol C.">
            <a:extLst>
              <a:ext uri="{FF2B5EF4-FFF2-40B4-BE49-F238E27FC236}">
                <a16:creationId xmlns:a16="http://schemas.microsoft.com/office/drawing/2014/main" id="{F73227C0-B204-4BF8-B775-F1D42938C4E1}"/>
              </a:ext>
            </a:extLst>
          </p:cNvPr>
          <p:cNvGraphicFramePr>
            <a:graphicFrameLocks noChangeAspect="1"/>
          </p:cNvGraphicFramePr>
          <p:nvPr>
            <p:extLst>
              <p:ext uri="{D42A27DB-BD31-4B8C-83A1-F6EECF244321}">
                <p14:modId xmlns:p14="http://schemas.microsoft.com/office/powerpoint/2010/main" val="3263878261"/>
              </p:ext>
            </p:extLst>
          </p:nvPr>
        </p:nvGraphicFramePr>
        <p:xfrm>
          <a:off x="2489200" y="5117175"/>
          <a:ext cx="4165600" cy="622300"/>
        </p:xfrm>
        <a:graphic>
          <a:graphicData uri="http://schemas.openxmlformats.org/presentationml/2006/ole">
            <mc:AlternateContent xmlns:mc="http://schemas.openxmlformats.org/markup-compatibility/2006">
              <mc:Choice xmlns:v="urn:schemas-microsoft-com:vml" Requires="v">
                <p:oleObj spid="_x0000_s13342" name="Equation" r:id="rId4" imgW="4165560" imgH="622080" progId="Equation.DSMT4">
                  <p:embed/>
                </p:oleObj>
              </mc:Choice>
              <mc:Fallback>
                <p:oleObj name="Equation" r:id="rId4" imgW="4165560" imgH="622080" progId="Equation.DSMT4">
                  <p:embed/>
                  <p:pic>
                    <p:nvPicPr>
                      <p:cNvPr id="6" name="Object 5" descr="1.00 mol A multiplied by 2 mol C divided by 1 mol A equals 2.00 mol C.">
                        <a:extLst>
                          <a:ext uri="{FF2B5EF4-FFF2-40B4-BE49-F238E27FC236}">
                            <a16:creationId xmlns:a16="http://schemas.microsoft.com/office/drawing/2014/main" id="{F73227C0-B204-4BF8-B775-F1D42938C4E1}"/>
                          </a:ext>
                        </a:extLst>
                      </p:cNvPr>
                      <p:cNvPicPr/>
                      <p:nvPr/>
                    </p:nvPicPr>
                    <p:blipFill>
                      <a:blip r:embed="rId5"/>
                      <a:stretch>
                        <a:fillRect/>
                      </a:stretch>
                    </p:blipFill>
                    <p:spPr>
                      <a:xfrm>
                        <a:off x="2489200" y="5117175"/>
                        <a:ext cx="4165600" cy="622300"/>
                      </a:xfrm>
                      <a:prstGeom prst="rect">
                        <a:avLst/>
                      </a:prstGeom>
                    </p:spPr>
                  </p:pic>
                </p:oleObj>
              </mc:Fallback>
            </mc:AlternateContent>
          </a:graphicData>
        </a:graphic>
      </p:graphicFrame>
      <p:graphicFrame>
        <p:nvGraphicFramePr>
          <p:cNvPr id="8" name="Object 7" descr="0.500 mol B multiplied by 2 mol C divided by 3 mol B equals 0.333 mol C.">
            <a:extLst>
              <a:ext uri="{FF2B5EF4-FFF2-40B4-BE49-F238E27FC236}">
                <a16:creationId xmlns:a16="http://schemas.microsoft.com/office/drawing/2014/main" id="{97DC120B-85FB-4F37-AEC4-8CB02309102E}"/>
              </a:ext>
            </a:extLst>
          </p:cNvPr>
          <p:cNvGraphicFramePr>
            <a:graphicFrameLocks noChangeAspect="1"/>
          </p:cNvGraphicFramePr>
          <p:nvPr>
            <p:extLst>
              <p:ext uri="{D42A27DB-BD31-4B8C-83A1-F6EECF244321}">
                <p14:modId xmlns:p14="http://schemas.microsoft.com/office/powerpoint/2010/main" val="1118016953"/>
              </p:ext>
            </p:extLst>
          </p:nvPr>
        </p:nvGraphicFramePr>
        <p:xfrm>
          <a:off x="2336800" y="5790569"/>
          <a:ext cx="4470400" cy="622300"/>
        </p:xfrm>
        <a:graphic>
          <a:graphicData uri="http://schemas.openxmlformats.org/presentationml/2006/ole">
            <mc:AlternateContent xmlns:mc="http://schemas.openxmlformats.org/markup-compatibility/2006">
              <mc:Choice xmlns:v="urn:schemas-microsoft-com:vml" Requires="v">
                <p:oleObj spid="_x0000_s13343" name="Equation" r:id="rId6" imgW="4470120" imgH="622080" progId="Equation.DSMT4">
                  <p:embed/>
                </p:oleObj>
              </mc:Choice>
              <mc:Fallback>
                <p:oleObj name="Equation" r:id="rId6" imgW="4470120" imgH="622080" progId="Equation.DSMT4">
                  <p:embed/>
                  <p:pic>
                    <p:nvPicPr>
                      <p:cNvPr id="8" name="Object 7" descr="0.500 mol B multiplied by 2 mol C divided by 3 mol B equals 0.333 mol C.">
                        <a:extLst>
                          <a:ext uri="{FF2B5EF4-FFF2-40B4-BE49-F238E27FC236}">
                            <a16:creationId xmlns:a16="http://schemas.microsoft.com/office/drawing/2014/main" id="{97DC120B-85FB-4F37-AEC4-8CB02309102E}"/>
                          </a:ext>
                        </a:extLst>
                      </p:cNvPr>
                      <p:cNvPicPr/>
                      <p:nvPr/>
                    </p:nvPicPr>
                    <p:blipFill>
                      <a:blip r:embed="rId7"/>
                      <a:stretch>
                        <a:fillRect/>
                      </a:stretch>
                    </p:blipFill>
                    <p:spPr>
                      <a:xfrm>
                        <a:off x="2336800" y="5790569"/>
                        <a:ext cx="4470400" cy="622300"/>
                      </a:xfrm>
                      <a:prstGeom prst="rect">
                        <a:avLst/>
                      </a:prstGeom>
                    </p:spPr>
                  </p:pic>
                </p:oleObj>
              </mc:Fallback>
            </mc:AlternateContent>
          </a:graphicData>
        </a:graphic>
      </p:graphicFrame>
    </p:spTree>
    <p:extLst>
      <p:ext uri="{BB962C8B-B14F-4D97-AF65-F5344CB8AC3E}">
        <p14:creationId xmlns:p14="http://schemas.microsoft.com/office/powerpoint/2010/main" val="14991013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5875" name="Rectangle 3"/>
          <p:cNvSpPr>
            <a:spLocks noGrp="1" noChangeArrowheads="1"/>
          </p:cNvSpPr>
          <p:nvPr>
            <p:ph type="title"/>
          </p:nvPr>
        </p:nvSpPr>
        <p:spPr/>
        <p:txBody>
          <a:bodyPr/>
          <a:lstStyle/>
          <a:p>
            <a:r>
              <a:rPr lang="en-US" dirty="0"/>
              <a:t>Example, 3, Approach B </a:t>
            </a:r>
            <a:r>
              <a:rPr lang="en-US" sz="1600" dirty="0"/>
              <a:t>(continued 4)</a:t>
            </a:r>
          </a:p>
        </p:txBody>
      </p:sp>
      <p:sp>
        <p:nvSpPr>
          <p:cNvPr id="335874" name="Rectangle 2"/>
          <p:cNvSpPr>
            <a:spLocks noGrp="1" noChangeArrowheads="1"/>
          </p:cNvSpPr>
          <p:nvPr>
            <p:ph idx="1"/>
          </p:nvPr>
        </p:nvSpPr>
        <p:spPr>
          <a:xfrm>
            <a:off x="533400" y="1676400"/>
            <a:ext cx="8153400" cy="3268587"/>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r>
              <a:rPr lang="en-US" b="1" dirty="0">
                <a:sym typeface="Symbol" charset="0"/>
              </a:rPr>
              <a:t>How Do We Get There? </a:t>
            </a:r>
          </a:p>
          <a:p>
            <a:pPr lvl="1">
              <a:buFont typeface="Arial" panose="020B0604020202020204" pitchFamily="34" charset="0"/>
              <a:buChar char="−"/>
            </a:pPr>
            <a:r>
              <a:rPr lang="en-US" dirty="0">
                <a:sym typeface="Symbol" charset="0"/>
              </a:rPr>
              <a:t>Choose the least number of moles of product formed</a:t>
            </a:r>
            <a:endParaRPr lang="en-US" dirty="0"/>
          </a:p>
        </p:txBody>
      </p:sp>
      <p:graphicFrame>
        <p:nvGraphicFramePr>
          <p:cNvPr id="5" name="Object 4" descr="0.500 mol B multiplied by 2 mol C divided by 3 mol B equals 0.333 mol C.">
            <a:extLst>
              <a:ext uri="{FF2B5EF4-FFF2-40B4-BE49-F238E27FC236}">
                <a16:creationId xmlns:a16="http://schemas.microsoft.com/office/drawing/2014/main" id="{B8D9337E-2AB0-44E8-8263-AEC6D4FA06D0}"/>
              </a:ext>
            </a:extLst>
          </p:cNvPr>
          <p:cNvGraphicFramePr>
            <a:graphicFrameLocks noChangeAspect="1"/>
          </p:cNvGraphicFramePr>
          <p:nvPr>
            <p:extLst>
              <p:ext uri="{D42A27DB-BD31-4B8C-83A1-F6EECF244321}">
                <p14:modId xmlns:p14="http://schemas.microsoft.com/office/powerpoint/2010/main" val="283405100"/>
              </p:ext>
            </p:extLst>
          </p:nvPr>
        </p:nvGraphicFramePr>
        <p:xfrm>
          <a:off x="2336800" y="5072122"/>
          <a:ext cx="4470400" cy="622300"/>
        </p:xfrm>
        <a:graphic>
          <a:graphicData uri="http://schemas.openxmlformats.org/presentationml/2006/ole">
            <mc:AlternateContent xmlns:mc="http://schemas.openxmlformats.org/markup-compatibility/2006">
              <mc:Choice xmlns:v="urn:schemas-microsoft-com:vml" Requires="v">
                <p:oleObj spid="_x0000_s14352" name="Equation" r:id="rId4" imgW="4470120" imgH="622080" progId="Equation.DSMT4">
                  <p:embed/>
                </p:oleObj>
              </mc:Choice>
              <mc:Fallback>
                <p:oleObj name="Equation" r:id="rId4" imgW="4470120" imgH="622080" progId="Equation.DSMT4">
                  <p:embed/>
                  <p:pic>
                    <p:nvPicPr>
                      <p:cNvPr id="5" name="Object 4" descr="0.500 mol B multiplied by 2 mol C divided by 3 mol B equals 0.333 mol C.">
                        <a:extLst>
                          <a:ext uri="{FF2B5EF4-FFF2-40B4-BE49-F238E27FC236}">
                            <a16:creationId xmlns:a16="http://schemas.microsoft.com/office/drawing/2014/main" id="{B8D9337E-2AB0-44E8-8263-AEC6D4FA06D0}"/>
                          </a:ext>
                        </a:extLst>
                      </p:cNvPr>
                      <p:cNvPicPr/>
                      <p:nvPr/>
                    </p:nvPicPr>
                    <p:blipFill>
                      <a:blip r:embed="rId5"/>
                      <a:stretch>
                        <a:fillRect/>
                      </a:stretch>
                    </p:blipFill>
                    <p:spPr>
                      <a:xfrm>
                        <a:off x="2336800" y="5072122"/>
                        <a:ext cx="4470400" cy="622300"/>
                      </a:xfrm>
                      <a:prstGeom prst="rect">
                        <a:avLst/>
                      </a:prstGeom>
                    </p:spPr>
                  </p:pic>
                </p:oleObj>
              </mc:Fallback>
            </mc:AlternateContent>
          </a:graphicData>
        </a:graphic>
      </p:graphicFrame>
    </p:spTree>
    <p:extLst>
      <p:ext uri="{BB962C8B-B14F-4D97-AF65-F5344CB8AC3E}">
        <p14:creationId xmlns:p14="http://schemas.microsoft.com/office/powerpoint/2010/main" val="25451501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7923" name="Rectangle 3"/>
          <p:cNvSpPr>
            <a:spLocks noGrp="1" noChangeArrowheads="1"/>
          </p:cNvSpPr>
          <p:nvPr>
            <p:ph type="title"/>
          </p:nvPr>
        </p:nvSpPr>
        <p:spPr/>
        <p:txBody>
          <a:bodyPr/>
          <a:lstStyle/>
          <a:p>
            <a:r>
              <a:rPr lang="en-US" dirty="0"/>
              <a:t>Example, 3, Approach B </a:t>
            </a:r>
            <a:r>
              <a:rPr lang="en-US" sz="1600" dirty="0"/>
              <a:t>(continued 5)</a:t>
            </a:r>
          </a:p>
        </p:txBody>
      </p:sp>
      <p:sp>
        <p:nvSpPr>
          <p:cNvPr id="337922" name="Rectangle 2"/>
          <p:cNvSpPr>
            <a:spLocks noGrp="1" noChangeArrowheads="1"/>
          </p:cNvSpPr>
          <p:nvPr>
            <p:ph idx="1"/>
          </p:nvPr>
        </p:nvSpPr>
        <p:spPr>
          <a:xfrm>
            <a:off x="533400" y="1676400"/>
            <a:ext cx="8153400" cy="3607141"/>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pPr marL="533400" indent="-533400"/>
            <a:r>
              <a:rPr lang="en-US" b="1" dirty="0">
                <a:sym typeface="Symbol" charset="0"/>
              </a:rPr>
              <a:t>How DO We Get There? </a:t>
            </a:r>
          </a:p>
          <a:p>
            <a:pPr lvl="1">
              <a:buFont typeface="Arial" panose="020B0604020202020204" pitchFamily="34" charset="0"/>
              <a:buChar char="−"/>
            </a:pPr>
            <a:r>
              <a:rPr lang="en-US" dirty="0">
                <a:sym typeface="Symbol" charset="0"/>
              </a:rPr>
              <a:t>Convert from moles of C to grams of C using the molar mass</a:t>
            </a:r>
            <a:endParaRPr lang="en-US" dirty="0"/>
          </a:p>
        </p:txBody>
      </p:sp>
      <p:graphicFrame>
        <p:nvGraphicFramePr>
          <p:cNvPr id="5" name="Object 4" descr="0.333 mol C multiplied by 25.0 g C divided by 1 mol C equals 8.33 g C.">
            <a:extLst>
              <a:ext uri="{FF2B5EF4-FFF2-40B4-BE49-F238E27FC236}">
                <a16:creationId xmlns:a16="http://schemas.microsoft.com/office/drawing/2014/main" id="{FAD9F43A-9AD5-4343-A95F-40F30750F0AB}"/>
              </a:ext>
            </a:extLst>
          </p:cNvPr>
          <p:cNvGraphicFramePr>
            <a:graphicFrameLocks noChangeAspect="1"/>
          </p:cNvGraphicFramePr>
          <p:nvPr>
            <p:extLst>
              <p:ext uri="{D42A27DB-BD31-4B8C-83A1-F6EECF244321}">
                <p14:modId xmlns:p14="http://schemas.microsoft.com/office/powerpoint/2010/main" val="3962264305"/>
              </p:ext>
            </p:extLst>
          </p:nvPr>
        </p:nvGraphicFramePr>
        <p:xfrm>
          <a:off x="2248007" y="5283541"/>
          <a:ext cx="4152900" cy="622300"/>
        </p:xfrm>
        <a:graphic>
          <a:graphicData uri="http://schemas.openxmlformats.org/presentationml/2006/ole">
            <mc:AlternateContent xmlns:mc="http://schemas.openxmlformats.org/markup-compatibility/2006">
              <mc:Choice xmlns:v="urn:schemas-microsoft-com:vml" Requires="v">
                <p:oleObj spid="_x0000_s15376" name="Equation" r:id="rId4" imgW="4152600" imgH="622080" progId="Equation.DSMT4">
                  <p:embed/>
                </p:oleObj>
              </mc:Choice>
              <mc:Fallback>
                <p:oleObj name="Equation" r:id="rId4" imgW="4152600" imgH="622080" progId="Equation.DSMT4">
                  <p:embed/>
                  <p:pic>
                    <p:nvPicPr>
                      <p:cNvPr id="5" name="Object 4" descr="0.333 mol C multiplied by 25.0 g C divided by 1 mol C equals 8.33 g C.">
                        <a:extLst>
                          <a:ext uri="{FF2B5EF4-FFF2-40B4-BE49-F238E27FC236}">
                            <a16:creationId xmlns:a16="http://schemas.microsoft.com/office/drawing/2014/main" id="{FAD9F43A-9AD5-4343-A95F-40F30750F0AB}"/>
                          </a:ext>
                        </a:extLst>
                      </p:cNvPr>
                      <p:cNvPicPr/>
                      <p:nvPr/>
                    </p:nvPicPr>
                    <p:blipFill>
                      <a:blip r:embed="rId5"/>
                      <a:stretch>
                        <a:fillRect/>
                      </a:stretch>
                    </p:blipFill>
                    <p:spPr>
                      <a:xfrm>
                        <a:off x="2248007" y="5283541"/>
                        <a:ext cx="4152900" cy="622300"/>
                      </a:xfrm>
                      <a:prstGeom prst="rect">
                        <a:avLst/>
                      </a:prstGeom>
                    </p:spPr>
                  </p:pic>
                </p:oleObj>
              </mc:Fallback>
            </mc:AlternateContent>
          </a:graphicData>
        </a:graphic>
      </p:graphicFrame>
    </p:spTree>
    <p:extLst>
      <p:ext uri="{BB962C8B-B14F-4D97-AF65-F5344CB8AC3E}">
        <p14:creationId xmlns:p14="http://schemas.microsoft.com/office/powerpoint/2010/main" val="20981065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a:xfrm>
            <a:off x="1524000" y="1143000"/>
            <a:ext cx="6781800" cy="533400"/>
          </a:xfrm>
        </p:spPr>
        <p:txBody>
          <a:bodyPr/>
          <a:lstStyle/>
          <a:p>
            <a:r>
              <a:rPr lang="en-US" dirty="0"/>
              <a:t>Concept Check, 2</a:t>
            </a:r>
          </a:p>
        </p:txBody>
      </p:sp>
      <p:sp>
        <p:nvSpPr>
          <p:cNvPr id="339971" name="Rectangle 3"/>
          <p:cNvSpPr>
            <a:spLocks noGrp="1" noChangeArrowheads="1"/>
          </p:cNvSpPr>
          <p:nvPr>
            <p:ph idx="1"/>
          </p:nvPr>
        </p:nvSpPr>
        <p:spPr>
          <a:xfrm>
            <a:off x="228600" y="1905000"/>
            <a:ext cx="8229600" cy="4339650"/>
          </a:xfrm>
        </p:spPr>
        <p:txBody>
          <a:bodyPr/>
          <a:lstStyle/>
          <a:p>
            <a:pPr marL="534988" indent="0">
              <a:buFontTx/>
              <a:buNone/>
            </a:pPr>
            <a:r>
              <a:rPr lang="en-US" dirty="0"/>
              <a:t>Which of the following reaction mixtures would produce the </a:t>
            </a:r>
            <a:r>
              <a:rPr lang="en-US" dirty="0">
                <a:solidFill>
                  <a:srgbClr val="0000FF"/>
                </a:solidFill>
              </a:rPr>
              <a:t>greatest</a:t>
            </a:r>
            <a:r>
              <a:rPr lang="en-US" dirty="0"/>
              <a:t> amount of product, assuming all went to completion? Each involves the reaction symbolized by the equation:</a:t>
            </a:r>
          </a:p>
          <a:p>
            <a:pPr marL="1317625" lvl="1" indent="-457200">
              <a:buFontTx/>
              <a:buNone/>
            </a:pPr>
            <a:r>
              <a:rPr lang="en-US" dirty="0"/>
              <a:t>		</a:t>
            </a:r>
            <a:r>
              <a:rPr lang="en-US" sz="2800" dirty="0"/>
              <a:t>2H</a:t>
            </a:r>
            <a:r>
              <a:rPr lang="en-US" sz="2800" baseline="-25000" dirty="0"/>
              <a:t>2</a:t>
            </a:r>
            <a:r>
              <a:rPr lang="en-US" sz="2800" dirty="0"/>
              <a:t> + O</a:t>
            </a:r>
            <a:r>
              <a:rPr lang="en-US" sz="2800" baseline="-25000" dirty="0"/>
              <a:t>2</a:t>
            </a:r>
            <a:r>
              <a:rPr lang="en-US" sz="2800" dirty="0"/>
              <a:t> </a:t>
            </a:r>
            <a:r>
              <a:rPr lang="en-US" sz="2800" dirty="0">
                <a:sym typeface="Symbol" charset="0"/>
              </a:rPr>
              <a:t></a:t>
            </a:r>
            <a:r>
              <a:rPr lang="en-US" sz="2800" dirty="0"/>
              <a:t> 2H</a:t>
            </a:r>
            <a:r>
              <a:rPr lang="en-US" sz="2800" baseline="-25000" dirty="0"/>
              <a:t>2</a:t>
            </a:r>
            <a:r>
              <a:rPr lang="en-US" sz="2800" dirty="0"/>
              <a:t>O</a:t>
            </a:r>
            <a:endParaRPr lang="en-US" dirty="0"/>
          </a:p>
          <a:p>
            <a:pPr marL="1050925" indent="-419100">
              <a:buFontTx/>
              <a:buNone/>
            </a:pPr>
            <a:r>
              <a:rPr lang="en-US" sz="2600" dirty="0"/>
              <a:t>a)</a:t>
            </a:r>
            <a:r>
              <a:rPr lang="en-US" dirty="0"/>
              <a:t>	2 moles of H</a:t>
            </a:r>
            <a:r>
              <a:rPr lang="en-US" baseline="-25000" dirty="0"/>
              <a:t>2</a:t>
            </a:r>
            <a:r>
              <a:rPr lang="en-US" dirty="0"/>
              <a:t> and 2 moles of O</a:t>
            </a:r>
            <a:r>
              <a:rPr lang="en-US" baseline="-25000" dirty="0"/>
              <a:t>2</a:t>
            </a:r>
            <a:endParaRPr lang="en-US" dirty="0"/>
          </a:p>
          <a:p>
            <a:pPr marL="1050925" indent="-419100">
              <a:buFontTx/>
              <a:buAutoNum type="alphaLcParenR" startAt="2"/>
            </a:pPr>
            <a:r>
              <a:rPr lang="en-US" dirty="0"/>
              <a:t>2 moles of H</a:t>
            </a:r>
            <a:r>
              <a:rPr lang="en-US" baseline="-25000" dirty="0"/>
              <a:t>2</a:t>
            </a:r>
            <a:r>
              <a:rPr lang="en-US" dirty="0"/>
              <a:t> and 3 moles of O</a:t>
            </a:r>
            <a:r>
              <a:rPr lang="en-US" baseline="-25000" dirty="0"/>
              <a:t>2</a:t>
            </a:r>
            <a:endParaRPr lang="en-US" dirty="0"/>
          </a:p>
          <a:p>
            <a:pPr marL="1050925" indent="-419100">
              <a:buFontTx/>
              <a:buAutoNum type="alphaLcParenR" startAt="2"/>
            </a:pPr>
            <a:r>
              <a:rPr lang="en-US" dirty="0"/>
              <a:t>2 moles of H</a:t>
            </a:r>
            <a:r>
              <a:rPr lang="en-US" baseline="-25000" dirty="0"/>
              <a:t>2</a:t>
            </a:r>
            <a:r>
              <a:rPr lang="en-US" dirty="0"/>
              <a:t> and 1 mole of O</a:t>
            </a:r>
            <a:r>
              <a:rPr lang="en-US" baseline="-25000" dirty="0"/>
              <a:t>2</a:t>
            </a:r>
            <a:endParaRPr lang="en-US" dirty="0"/>
          </a:p>
          <a:p>
            <a:pPr marL="1050925" indent="-419100">
              <a:buFontTx/>
              <a:buNone/>
            </a:pPr>
            <a:r>
              <a:rPr lang="en-US" dirty="0"/>
              <a:t>d)	3 moles of H</a:t>
            </a:r>
            <a:r>
              <a:rPr lang="en-US" baseline="-25000" dirty="0"/>
              <a:t>2</a:t>
            </a:r>
            <a:r>
              <a:rPr lang="en-US" dirty="0"/>
              <a:t> and 1 mole of O</a:t>
            </a:r>
            <a:r>
              <a:rPr lang="en-US" baseline="-25000" dirty="0"/>
              <a:t>2</a:t>
            </a:r>
            <a:endParaRPr lang="en-US" dirty="0"/>
          </a:p>
          <a:p>
            <a:pPr marL="1050925" indent="-419100">
              <a:buFontTx/>
              <a:buNone/>
            </a:pPr>
            <a:r>
              <a:rPr lang="en-US" dirty="0"/>
              <a:t>e)	Each produce the same amount of product</a:t>
            </a:r>
          </a:p>
        </p:txBody>
      </p:sp>
      <p:sp>
        <p:nvSpPr>
          <p:cNvPr id="339973" name="Rectangle 5" descr="green box"/>
          <p:cNvSpPr>
            <a:spLocks noChangeArrowheads="1"/>
          </p:cNvSpPr>
          <p:nvPr/>
        </p:nvSpPr>
        <p:spPr bwMode="auto">
          <a:xfrm>
            <a:off x="836295" y="5787450"/>
            <a:ext cx="6400800" cy="4572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17636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9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3"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1524000" y="1143000"/>
            <a:ext cx="6781800" cy="533400"/>
          </a:xfrm>
        </p:spPr>
        <p:txBody>
          <a:bodyPr/>
          <a:lstStyle/>
          <a:p>
            <a:r>
              <a:rPr lang="en-US" dirty="0"/>
              <a:t>Concept Check, 3</a:t>
            </a:r>
          </a:p>
        </p:txBody>
      </p:sp>
      <p:sp>
        <p:nvSpPr>
          <p:cNvPr id="360451" name="Rectangle 3"/>
          <p:cNvSpPr>
            <a:spLocks noGrp="1" noChangeArrowheads="1"/>
          </p:cNvSpPr>
          <p:nvPr>
            <p:ph idx="1"/>
          </p:nvPr>
        </p:nvSpPr>
        <p:spPr>
          <a:xfrm>
            <a:off x="228600" y="1905000"/>
            <a:ext cx="8229600" cy="4450449"/>
          </a:xfrm>
        </p:spPr>
        <p:txBody>
          <a:bodyPr/>
          <a:lstStyle/>
          <a:p>
            <a:pPr marL="746125" indent="0">
              <a:buFontTx/>
              <a:buNone/>
            </a:pPr>
            <a:r>
              <a:rPr lang="en-US" dirty="0"/>
              <a:t>Consider the equation: A + 3B </a:t>
            </a:r>
            <a:r>
              <a:rPr lang="en-US" dirty="0">
                <a:sym typeface="Symbol" charset="0"/>
              </a:rPr>
              <a:t></a:t>
            </a:r>
            <a:r>
              <a:rPr lang="en-US" dirty="0"/>
              <a:t> 4C. If 3.0 moles of A is reacted with 6.0 moles of B, which of the following is </a:t>
            </a:r>
            <a:r>
              <a:rPr lang="en-US" dirty="0">
                <a:solidFill>
                  <a:srgbClr val="0000FF"/>
                </a:solidFill>
              </a:rPr>
              <a:t>true</a:t>
            </a:r>
            <a:r>
              <a:rPr lang="en-US" dirty="0"/>
              <a:t> after the reaction is complete? </a:t>
            </a:r>
          </a:p>
          <a:p>
            <a:pPr marL="746125" indent="0">
              <a:buFontTx/>
              <a:buNone/>
            </a:pPr>
            <a:r>
              <a:rPr lang="en-US" dirty="0"/>
              <a:t>a) A is the leftover reactant because you only need 2 moles of A and have 3 moles</a:t>
            </a:r>
          </a:p>
          <a:p>
            <a:pPr marL="746125" indent="0">
              <a:buFontTx/>
              <a:buNone/>
            </a:pPr>
            <a:r>
              <a:rPr lang="en-US" dirty="0"/>
              <a:t>b) A is the leftover reactant because for every 1 mole of A, 4 moles of C are produced</a:t>
            </a:r>
          </a:p>
          <a:p>
            <a:pPr marL="746125" indent="0">
              <a:buFontTx/>
              <a:buNone/>
            </a:pPr>
            <a:r>
              <a:rPr lang="en-US" dirty="0"/>
              <a:t>c) B is the leftover reactant because you have more moles of B than A</a:t>
            </a:r>
          </a:p>
          <a:p>
            <a:pPr marL="746125" indent="0">
              <a:buFontTx/>
              <a:buNone/>
            </a:pPr>
            <a:r>
              <a:rPr lang="en-US" dirty="0"/>
              <a:t>d) B is the leftover reactant because 3 moles of B react with every 1 mole of A</a:t>
            </a:r>
          </a:p>
        </p:txBody>
      </p:sp>
      <p:sp>
        <p:nvSpPr>
          <p:cNvPr id="360453" name="Rectangle 5" descr="green box"/>
          <p:cNvSpPr>
            <a:spLocks noChangeArrowheads="1"/>
          </p:cNvSpPr>
          <p:nvPr/>
        </p:nvSpPr>
        <p:spPr bwMode="auto">
          <a:xfrm>
            <a:off x="838200" y="3117430"/>
            <a:ext cx="7543800" cy="7620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3731472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0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3"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a:xfrm>
            <a:off x="1524000" y="1143000"/>
            <a:ext cx="7239000" cy="533400"/>
          </a:xfrm>
        </p:spPr>
        <p:txBody>
          <a:bodyPr/>
          <a:lstStyle/>
          <a:p>
            <a:r>
              <a:rPr lang="en-US" dirty="0"/>
              <a:t>Exercise, 5</a:t>
            </a:r>
            <a:endParaRPr lang="en-US" dirty="0">
              <a:solidFill>
                <a:srgbClr val="FF0000"/>
              </a:solidFill>
            </a:endParaRPr>
          </a:p>
        </p:txBody>
      </p:sp>
      <p:sp>
        <p:nvSpPr>
          <p:cNvPr id="362499" name="Rectangle 3"/>
          <p:cNvSpPr>
            <a:spLocks noGrp="1" noChangeArrowheads="1"/>
          </p:cNvSpPr>
          <p:nvPr>
            <p:ph idx="1"/>
          </p:nvPr>
        </p:nvSpPr>
        <p:spPr>
          <a:xfrm>
            <a:off x="381000" y="2133600"/>
            <a:ext cx="8229600" cy="3859518"/>
          </a:xfrm>
        </p:spPr>
        <p:txBody>
          <a:bodyPr/>
          <a:lstStyle/>
          <a:p>
            <a:pPr marL="400050" indent="-3175">
              <a:buFontTx/>
              <a:buNone/>
            </a:pPr>
            <a:r>
              <a:rPr lang="en-US" dirty="0"/>
              <a:t>How many </a:t>
            </a:r>
            <a:r>
              <a:rPr lang="en-US" dirty="0">
                <a:solidFill>
                  <a:srgbClr val="0000FF"/>
                </a:solidFill>
              </a:rPr>
              <a:t>grams of NH</a:t>
            </a:r>
            <a:r>
              <a:rPr lang="en-US" baseline="-25000" dirty="0">
                <a:solidFill>
                  <a:srgbClr val="0000FF"/>
                </a:solidFill>
              </a:rPr>
              <a:t>3</a:t>
            </a:r>
            <a:r>
              <a:rPr lang="en-US" dirty="0"/>
              <a:t> can be produced from the mixture of 3.00 g each of nitrogen and hydrogen by the Haber process?</a:t>
            </a:r>
          </a:p>
          <a:p>
            <a:pPr marL="400050" indent="-3175">
              <a:buFontTx/>
              <a:buNone/>
            </a:pPr>
            <a:r>
              <a:rPr lang="en-US" dirty="0"/>
              <a:t>				N</a:t>
            </a:r>
            <a:r>
              <a:rPr lang="en-US" baseline="-25000" dirty="0"/>
              <a:t>2</a:t>
            </a:r>
            <a:r>
              <a:rPr lang="en-US" dirty="0"/>
              <a:t> + 3H</a:t>
            </a:r>
            <a:r>
              <a:rPr lang="en-US" baseline="-25000" dirty="0"/>
              <a:t>2</a:t>
            </a:r>
            <a:r>
              <a:rPr lang="en-US" dirty="0"/>
              <a:t> </a:t>
            </a:r>
            <a:r>
              <a:rPr lang="en-US" dirty="0">
                <a:cs typeface="Arial" charset="0"/>
              </a:rPr>
              <a:t>→ </a:t>
            </a:r>
            <a:r>
              <a:rPr lang="en-US" dirty="0"/>
              <a:t>2NH</a:t>
            </a:r>
            <a:r>
              <a:rPr lang="en-US" baseline="-25000" dirty="0"/>
              <a:t>3</a:t>
            </a:r>
          </a:p>
          <a:p>
            <a:pPr marL="396875" indent="0">
              <a:buNone/>
            </a:pPr>
            <a:endParaRPr lang="en-US" dirty="0"/>
          </a:p>
          <a:p>
            <a:pPr marL="971550" indent="-457200">
              <a:buFontTx/>
              <a:buNone/>
            </a:pPr>
            <a:r>
              <a:rPr lang="en-US" dirty="0"/>
              <a:t>a)	2.00 g</a:t>
            </a:r>
          </a:p>
          <a:p>
            <a:pPr marL="971550" indent="-457200">
              <a:buFontTx/>
              <a:buNone/>
            </a:pPr>
            <a:r>
              <a:rPr lang="en-US" dirty="0"/>
              <a:t>b)	3.00 g</a:t>
            </a:r>
          </a:p>
          <a:p>
            <a:pPr marL="971550" indent="-457200">
              <a:buFontTx/>
              <a:buNone/>
            </a:pPr>
            <a:r>
              <a:rPr lang="en-US" dirty="0"/>
              <a:t>c)	3.65 g</a:t>
            </a:r>
          </a:p>
          <a:p>
            <a:pPr marL="971550" indent="-457200">
              <a:buFontTx/>
              <a:buNone/>
            </a:pPr>
            <a:r>
              <a:rPr lang="en-US" dirty="0"/>
              <a:t>d)	1.82 g</a:t>
            </a:r>
          </a:p>
        </p:txBody>
      </p:sp>
      <p:sp>
        <p:nvSpPr>
          <p:cNvPr id="362501" name="Rectangle 5" descr="green box"/>
          <p:cNvSpPr>
            <a:spLocks noChangeArrowheads="1"/>
          </p:cNvSpPr>
          <p:nvPr/>
        </p:nvSpPr>
        <p:spPr bwMode="auto">
          <a:xfrm>
            <a:off x="957263" y="5133570"/>
            <a:ext cx="1524000" cy="428625"/>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91699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2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01"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Rectangle 3"/>
          <p:cNvSpPr>
            <a:spLocks noGrp="1" noChangeArrowheads="1"/>
          </p:cNvSpPr>
          <p:nvPr>
            <p:ph type="title"/>
          </p:nvPr>
        </p:nvSpPr>
        <p:spPr/>
        <p:txBody>
          <a:bodyPr/>
          <a:lstStyle/>
          <a:p>
            <a:r>
              <a:rPr lang="en-US" dirty="0"/>
              <a:t>Percent Yield</a:t>
            </a:r>
          </a:p>
        </p:txBody>
      </p:sp>
      <p:sp>
        <p:nvSpPr>
          <p:cNvPr id="242690" name="Rectangle 2"/>
          <p:cNvSpPr>
            <a:spLocks noGrp="1" noChangeArrowheads="1"/>
          </p:cNvSpPr>
          <p:nvPr>
            <p:ph idx="1"/>
          </p:nvPr>
        </p:nvSpPr>
        <p:spPr>
          <a:xfrm>
            <a:off x="914400" y="1676400"/>
            <a:ext cx="7239000" cy="1643527"/>
          </a:xfrm>
        </p:spPr>
        <p:txBody>
          <a:bodyPr/>
          <a:lstStyle/>
          <a:p>
            <a:pPr marL="533400" indent="-533400"/>
            <a:r>
              <a:rPr lang="en-US" dirty="0"/>
              <a:t>Important indicator of the efficiency of a particular laboratory or industrial reaction</a:t>
            </a:r>
          </a:p>
          <a:p>
            <a:pPr marL="533400" indent="-533400"/>
            <a:r>
              <a:rPr lang="en-US" dirty="0"/>
              <a:t>Comparison of the actual yield of a product to its theoretical yield</a:t>
            </a:r>
          </a:p>
        </p:txBody>
      </p:sp>
    </p:spTree>
    <p:extLst>
      <p:ext uri="{BB962C8B-B14F-4D97-AF65-F5344CB8AC3E}">
        <p14:creationId xmlns:p14="http://schemas.microsoft.com/office/powerpoint/2010/main" val="15107696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Percent Yield </a:t>
            </a:r>
            <a:r>
              <a:rPr lang="en-US" sz="1600" dirty="0"/>
              <a:t>(continued 1)</a:t>
            </a:r>
            <a:endParaRPr lang="en-IN" sz="1600" dirty="0"/>
          </a:p>
        </p:txBody>
      </p:sp>
      <p:sp>
        <p:nvSpPr>
          <p:cNvPr id="342018" name="Rectangle 2"/>
          <p:cNvSpPr>
            <a:spLocks noGrp="1" noChangeArrowheads="1"/>
          </p:cNvSpPr>
          <p:nvPr>
            <p:ph idx="1"/>
          </p:nvPr>
        </p:nvSpPr>
        <p:spPr>
          <a:xfrm>
            <a:off x="457200" y="1752600"/>
            <a:ext cx="8229600" cy="2794611"/>
          </a:xfrm>
        </p:spPr>
        <p:txBody>
          <a:bodyPr/>
          <a:lstStyle/>
          <a:p>
            <a:r>
              <a:rPr lang="en-US" dirty="0">
                <a:solidFill>
                  <a:srgbClr val="0000FF"/>
                </a:solidFill>
              </a:rPr>
              <a:t>Theoretical Yield </a:t>
            </a:r>
          </a:p>
          <a:p>
            <a:pPr lvl="1">
              <a:buFont typeface="Arial" panose="020B0604020202020204" pitchFamily="34" charset="0"/>
              <a:buChar char="−"/>
            </a:pPr>
            <a:r>
              <a:rPr lang="en-US" dirty="0"/>
              <a:t>The maximum amount of a given product that can be formed when the limiting reactant is completely consumed</a:t>
            </a:r>
          </a:p>
          <a:p>
            <a:pPr lvl="1">
              <a:buFont typeface="Arial" panose="020B0604020202020204" pitchFamily="34" charset="0"/>
              <a:buChar char="−"/>
            </a:pPr>
            <a:r>
              <a:rPr lang="en-US" dirty="0"/>
              <a:t>The amount of product actually obtained </a:t>
            </a:r>
          </a:p>
          <a:p>
            <a:r>
              <a:rPr lang="en-US" dirty="0"/>
              <a:t>Actual yield, or the amount actually produced, of a reaction is usually less than the maximum expected, or theoretical yield</a:t>
            </a:r>
          </a:p>
        </p:txBody>
      </p:sp>
    </p:spTree>
    <p:extLst>
      <p:ext uri="{BB962C8B-B14F-4D97-AF65-F5344CB8AC3E}">
        <p14:creationId xmlns:p14="http://schemas.microsoft.com/office/powerpoint/2010/main" val="3963808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4067" name="Rectangle 3"/>
          <p:cNvSpPr>
            <a:spLocks noGrp="1" noChangeArrowheads="1"/>
          </p:cNvSpPr>
          <p:nvPr>
            <p:ph type="title"/>
          </p:nvPr>
        </p:nvSpPr>
        <p:spPr/>
        <p:txBody>
          <a:bodyPr/>
          <a:lstStyle/>
          <a:p>
            <a:r>
              <a:rPr lang="en-US" dirty="0"/>
              <a:t>Percent Yield </a:t>
            </a:r>
            <a:r>
              <a:rPr lang="en-US" sz="1600" dirty="0"/>
              <a:t>(continued 2)</a:t>
            </a:r>
          </a:p>
        </p:txBody>
      </p:sp>
      <p:sp>
        <p:nvSpPr>
          <p:cNvPr id="344066" name="Rectangle 2"/>
          <p:cNvSpPr>
            <a:spLocks noGrp="1" noChangeArrowheads="1"/>
          </p:cNvSpPr>
          <p:nvPr>
            <p:ph idx="1"/>
          </p:nvPr>
        </p:nvSpPr>
        <p:spPr>
          <a:xfrm>
            <a:off x="457200" y="1752600"/>
            <a:ext cx="8229600" cy="830997"/>
          </a:xfrm>
        </p:spPr>
        <p:txBody>
          <a:bodyPr/>
          <a:lstStyle/>
          <a:p>
            <a:r>
              <a:rPr lang="en-US" dirty="0"/>
              <a:t>Actual amount of a given product as a percentage of the theoretical yield is given by</a:t>
            </a:r>
          </a:p>
        </p:txBody>
      </p:sp>
      <p:graphicFrame>
        <p:nvGraphicFramePr>
          <p:cNvPr id="5" name="Object 4" descr="Actual yield divided by theoretical yield multiplied by 100 percent equals percent yield.">
            <a:extLst>
              <a:ext uri="{FF2B5EF4-FFF2-40B4-BE49-F238E27FC236}">
                <a16:creationId xmlns:a16="http://schemas.microsoft.com/office/drawing/2014/main" id="{F8CDEBC3-827C-401D-A5F6-2A38EF002A6A}"/>
              </a:ext>
            </a:extLst>
          </p:cNvPr>
          <p:cNvGraphicFramePr>
            <a:graphicFrameLocks noChangeAspect="1"/>
          </p:cNvGraphicFramePr>
          <p:nvPr>
            <p:extLst>
              <p:ext uri="{D42A27DB-BD31-4B8C-83A1-F6EECF244321}">
                <p14:modId xmlns:p14="http://schemas.microsoft.com/office/powerpoint/2010/main" val="1249578749"/>
              </p:ext>
            </p:extLst>
          </p:nvPr>
        </p:nvGraphicFramePr>
        <p:xfrm>
          <a:off x="1587070" y="2965585"/>
          <a:ext cx="6100090" cy="972478"/>
        </p:xfrm>
        <a:graphic>
          <a:graphicData uri="http://schemas.openxmlformats.org/presentationml/2006/ole">
            <mc:AlternateContent xmlns:mc="http://schemas.openxmlformats.org/markup-compatibility/2006">
              <mc:Choice xmlns:v="urn:schemas-microsoft-com:vml" Requires="v">
                <p:oleObj spid="_x0000_s16400" name="Equation" r:id="rId4" imgW="2628720" imgH="419040" progId="Equation.DSMT4">
                  <p:embed/>
                </p:oleObj>
              </mc:Choice>
              <mc:Fallback>
                <p:oleObj name="Equation" r:id="rId4" imgW="2628720" imgH="419040" progId="Equation.DSMT4">
                  <p:embed/>
                  <p:pic>
                    <p:nvPicPr>
                      <p:cNvPr id="5" name="Object 4" descr="Actual yield divided by theoretical yield multiplied by 100 percent equals percent yield.">
                        <a:extLst>
                          <a:ext uri="{FF2B5EF4-FFF2-40B4-BE49-F238E27FC236}">
                            <a16:creationId xmlns:a16="http://schemas.microsoft.com/office/drawing/2014/main" id="{F8CDEBC3-827C-401D-A5F6-2A38EF002A6A}"/>
                          </a:ext>
                        </a:extLst>
                      </p:cNvPr>
                      <p:cNvPicPr/>
                      <p:nvPr/>
                    </p:nvPicPr>
                    <p:blipFill>
                      <a:blip r:embed="rId5"/>
                      <a:stretch>
                        <a:fillRect/>
                      </a:stretch>
                    </p:blipFill>
                    <p:spPr>
                      <a:xfrm>
                        <a:off x="1587070" y="2965585"/>
                        <a:ext cx="6100090" cy="972478"/>
                      </a:xfrm>
                      <a:prstGeom prst="rect">
                        <a:avLst/>
                      </a:prstGeom>
                    </p:spPr>
                  </p:pic>
                </p:oleObj>
              </mc:Fallback>
            </mc:AlternateContent>
          </a:graphicData>
        </a:graphic>
      </p:graphicFrame>
    </p:spTree>
    <p:extLst>
      <p:ext uri="{BB962C8B-B14F-4D97-AF65-F5344CB8AC3E}">
        <p14:creationId xmlns:p14="http://schemas.microsoft.com/office/powerpoint/2010/main" val="8808853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0211" name="Rectangle 3"/>
          <p:cNvSpPr>
            <a:spLocks noGrp="1" noChangeArrowheads="1"/>
          </p:cNvSpPr>
          <p:nvPr>
            <p:ph type="title"/>
          </p:nvPr>
        </p:nvSpPr>
        <p:spPr/>
        <p:txBody>
          <a:bodyPr/>
          <a:lstStyle/>
          <a:p>
            <a:r>
              <a:rPr lang="en-US" dirty="0"/>
              <a:t>Example, 3, Recall</a:t>
            </a:r>
          </a:p>
        </p:txBody>
      </p:sp>
      <p:sp>
        <p:nvSpPr>
          <p:cNvPr id="350210" name="Rectangle 2"/>
          <p:cNvSpPr>
            <a:spLocks noGrp="1" noChangeArrowheads="1"/>
          </p:cNvSpPr>
          <p:nvPr>
            <p:ph idx="1"/>
          </p:nvPr>
        </p:nvSpPr>
        <p:spPr>
          <a:xfrm>
            <a:off x="533400" y="1676400"/>
            <a:ext cx="8153400" cy="4450449"/>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r>
              <a:rPr lang="en-US" i="1" dirty="0">
                <a:solidFill>
                  <a:srgbClr val="0000FF"/>
                </a:solidFill>
                <a:sym typeface="Symbol" charset="0"/>
              </a:rPr>
              <a:t>We determined that 8.33 g C should be produced. 7.23 g of C is what was actually made in the lab. What is the percent yield of the reaction?</a:t>
            </a:r>
          </a:p>
          <a:p>
            <a:pPr marL="533400" indent="-533400"/>
            <a:r>
              <a:rPr lang="en-US" b="1" dirty="0">
                <a:sym typeface="Symbol" charset="0"/>
              </a:rPr>
              <a:t>What Do We Know? </a:t>
            </a:r>
          </a:p>
          <a:p>
            <a:pPr lvl="1">
              <a:buFont typeface="Arial" panose="020B0604020202020204" pitchFamily="34" charset="0"/>
              <a:buChar char="−"/>
            </a:pPr>
            <a:r>
              <a:rPr lang="en-US" dirty="0">
                <a:sym typeface="Symbol" charset="0"/>
              </a:rPr>
              <a:t>We know the actual and theoretical yields</a:t>
            </a:r>
            <a:endParaRPr lang="en-US" dirty="0"/>
          </a:p>
        </p:txBody>
      </p:sp>
    </p:spTree>
    <p:extLst>
      <p:ext uri="{BB962C8B-B14F-4D97-AF65-F5344CB8AC3E}">
        <p14:creationId xmlns:p14="http://schemas.microsoft.com/office/powerpoint/2010/main" val="37613011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2259" name="Rectangle 3"/>
          <p:cNvSpPr>
            <a:spLocks noGrp="1" noChangeArrowheads="1"/>
          </p:cNvSpPr>
          <p:nvPr>
            <p:ph type="title"/>
          </p:nvPr>
        </p:nvSpPr>
        <p:spPr/>
        <p:txBody>
          <a:bodyPr/>
          <a:lstStyle/>
          <a:p>
            <a:r>
              <a:rPr lang="en-US" dirty="0"/>
              <a:t>Example, 3, Recall </a:t>
            </a:r>
            <a:r>
              <a:rPr lang="en-US" sz="1600" dirty="0"/>
              <a:t>(continued)</a:t>
            </a:r>
          </a:p>
        </p:txBody>
      </p:sp>
      <p:sp>
        <p:nvSpPr>
          <p:cNvPr id="352258" name="Rectangle 2"/>
          <p:cNvSpPr>
            <a:spLocks noGrp="1" noChangeArrowheads="1"/>
          </p:cNvSpPr>
          <p:nvPr>
            <p:ph idx="1"/>
          </p:nvPr>
        </p:nvSpPr>
        <p:spPr>
          <a:xfrm>
            <a:off x="533400" y="1676400"/>
            <a:ext cx="8153400" cy="4044184"/>
          </a:xfrm>
        </p:spPr>
        <p:txBody>
          <a:bodyPr/>
          <a:lstStyle/>
          <a:p>
            <a:pPr marL="533400" indent="-533400"/>
            <a:r>
              <a:rPr lang="en-US" i="1" dirty="0">
                <a:solidFill>
                  <a:srgbClr val="0000FF"/>
                </a:solidFill>
              </a:rPr>
              <a:t>You react 10.0 g of A with 10.0 g of B. Given that the molar mass of A is 10.0 g/</a:t>
            </a:r>
            <a:r>
              <a:rPr lang="en-US" i="1" dirty="0" err="1">
                <a:solidFill>
                  <a:srgbClr val="0000FF"/>
                </a:solidFill>
              </a:rPr>
              <a:t>mol</a:t>
            </a:r>
            <a:r>
              <a:rPr lang="en-US" i="1" dirty="0">
                <a:solidFill>
                  <a:srgbClr val="0000FF"/>
                </a:solidFill>
              </a:rPr>
              <a:t>, B is 20.0 g/</a:t>
            </a:r>
            <a:r>
              <a:rPr lang="en-US" i="1" dirty="0" err="1">
                <a:solidFill>
                  <a:srgbClr val="0000FF"/>
                </a:solidFill>
              </a:rPr>
              <a:t>mol</a:t>
            </a:r>
            <a:r>
              <a:rPr lang="en-US" i="1" dirty="0">
                <a:solidFill>
                  <a:srgbClr val="0000FF"/>
                </a:solidFill>
              </a:rPr>
              <a:t>, and C is 25.0 g/</a:t>
            </a:r>
            <a:r>
              <a:rPr lang="en-US" i="1" dirty="0" err="1">
                <a:solidFill>
                  <a:srgbClr val="0000FF"/>
                </a:solidFill>
              </a:rPr>
              <a:t>mol</a:t>
            </a:r>
            <a:r>
              <a:rPr lang="en-US" i="1" dirty="0">
                <a:solidFill>
                  <a:srgbClr val="0000FF"/>
                </a:solidFill>
              </a:rPr>
              <a:t>, what will be the mass of the product produced?</a:t>
            </a:r>
          </a:p>
          <a:p>
            <a:pPr lvl="1">
              <a:buFont typeface="Arial" panose="020B0604020202020204" pitchFamily="34" charset="0"/>
              <a:buChar char="−"/>
            </a:pPr>
            <a:r>
              <a:rPr lang="en-IN" dirty="0">
                <a:solidFill>
                  <a:srgbClr val="0000FF"/>
                </a:solidFill>
              </a:rPr>
              <a:t>They</a:t>
            </a:r>
            <a:r>
              <a:rPr lang="en-IN" dirty="0">
                <a:solidFill>
                  <a:srgbClr val="000000"/>
                </a:solidFill>
              </a:rPr>
              <a:t> </a:t>
            </a:r>
            <a:r>
              <a:rPr lang="en-IN" dirty="0">
                <a:solidFill>
                  <a:srgbClr val="0000FF"/>
                </a:solidFill>
              </a:rPr>
              <a:t>react according to the equation:</a:t>
            </a:r>
            <a:endParaRPr lang="en-US" dirty="0">
              <a:solidFill>
                <a:srgbClr val="0000FF"/>
              </a:solidFill>
            </a:endParaRPr>
          </a:p>
          <a:p>
            <a:pPr marL="533400" indent="-533400">
              <a:buFontTx/>
              <a:buNone/>
            </a:pPr>
            <a:r>
              <a:rPr lang="en-US" dirty="0">
                <a:solidFill>
                  <a:srgbClr val="0000FF"/>
                </a:solidFill>
              </a:rPr>
              <a:t>				A + 3B </a:t>
            </a:r>
            <a:r>
              <a:rPr lang="en-US" dirty="0">
                <a:solidFill>
                  <a:srgbClr val="0000FF"/>
                </a:solidFill>
                <a:sym typeface="Symbol" charset="0"/>
              </a:rPr>
              <a:t> 2C</a:t>
            </a:r>
          </a:p>
          <a:p>
            <a:r>
              <a:rPr lang="en-US" i="1" dirty="0">
                <a:solidFill>
                  <a:srgbClr val="0000FF"/>
                </a:solidFill>
                <a:sym typeface="Symbol" charset="0"/>
              </a:rPr>
              <a:t>We determined that 8.33 g C should be produced. 7.23 g of C is what was actually made in the lab. What is the percent yield of the reaction?</a:t>
            </a:r>
          </a:p>
          <a:p>
            <a:pPr marL="533400" indent="-533400"/>
            <a:r>
              <a:rPr lang="en-US" b="1" dirty="0">
                <a:sym typeface="Symbol" charset="0"/>
              </a:rPr>
              <a:t>How Do We Get There? </a:t>
            </a:r>
            <a:endParaRPr lang="en-US" dirty="0"/>
          </a:p>
        </p:txBody>
      </p:sp>
      <p:graphicFrame>
        <p:nvGraphicFramePr>
          <p:cNvPr id="5" name="Object 4" descr="7.23 g C divided by 8.33 g C multiplied by 100 percent equals 86.8 percent.">
            <a:extLst>
              <a:ext uri="{FF2B5EF4-FFF2-40B4-BE49-F238E27FC236}">
                <a16:creationId xmlns:a16="http://schemas.microsoft.com/office/drawing/2014/main" id="{9FF68382-D689-4B83-80F1-03D47CA526C3}"/>
              </a:ext>
            </a:extLst>
          </p:cNvPr>
          <p:cNvGraphicFramePr>
            <a:graphicFrameLocks noChangeAspect="1"/>
          </p:cNvGraphicFramePr>
          <p:nvPr>
            <p:extLst>
              <p:ext uri="{D42A27DB-BD31-4B8C-83A1-F6EECF244321}">
                <p14:modId xmlns:p14="http://schemas.microsoft.com/office/powerpoint/2010/main" val="543124599"/>
              </p:ext>
            </p:extLst>
          </p:nvPr>
        </p:nvGraphicFramePr>
        <p:xfrm>
          <a:off x="2894093" y="5597525"/>
          <a:ext cx="3432014" cy="832768"/>
        </p:xfrm>
        <a:graphic>
          <a:graphicData uri="http://schemas.openxmlformats.org/presentationml/2006/ole">
            <mc:AlternateContent xmlns:mc="http://schemas.openxmlformats.org/markup-compatibility/2006">
              <mc:Choice xmlns:v="urn:schemas-microsoft-com:vml" Requires="v">
                <p:oleObj spid="_x0000_s17424" name="Equation" r:id="rId4" imgW="1726920" imgH="419040" progId="Equation.DSMT4">
                  <p:embed/>
                </p:oleObj>
              </mc:Choice>
              <mc:Fallback>
                <p:oleObj name="Equation" r:id="rId4" imgW="1726920" imgH="419040" progId="Equation.DSMT4">
                  <p:embed/>
                  <p:pic>
                    <p:nvPicPr>
                      <p:cNvPr id="5" name="Object 4" descr="7.23 g C divided by 8.33 g C multiplied by 100 percent equals 86.8 percent.">
                        <a:extLst>
                          <a:ext uri="{FF2B5EF4-FFF2-40B4-BE49-F238E27FC236}">
                            <a16:creationId xmlns:a16="http://schemas.microsoft.com/office/drawing/2014/main" id="{9FF68382-D689-4B83-80F1-03D47CA526C3}"/>
                          </a:ext>
                        </a:extLst>
                      </p:cNvPr>
                      <p:cNvPicPr/>
                      <p:nvPr/>
                    </p:nvPicPr>
                    <p:blipFill>
                      <a:blip r:embed="rId5"/>
                      <a:stretch>
                        <a:fillRect/>
                      </a:stretch>
                    </p:blipFill>
                    <p:spPr>
                      <a:xfrm>
                        <a:off x="2894093" y="5597525"/>
                        <a:ext cx="3432014" cy="832768"/>
                      </a:xfrm>
                      <a:prstGeom prst="rect">
                        <a:avLst/>
                      </a:prstGeom>
                    </p:spPr>
                  </p:pic>
                </p:oleObj>
              </mc:Fallback>
            </mc:AlternateContent>
          </a:graphicData>
        </a:graphic>
      </p:graphicFrame>
    </p:spTree>
    <p:extLst>
      <p:ext uri="{BB962C8B-B14F-4D97-AF65-F5344CB8AC3E}">
        <p14:creationId xmlns:p14="http://schemas.microsoft.com/office/powerpoint/2010/main" val="26789148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1524000" y="1143000"/>
            <a:ext cx="7162800" cy="533400"/>
          </a:xfrm>
        </p:spPr>
        <p:txBody>
          <a:bodyPr/>
          <a:lstStyle/>
          <a:p>
            <a:r>
              <a:rPr lang="en-US" dirty="0"/>
              <a:t>Exercise, 6</a:t>
            </a:r>
          </a:p>
        </p:txBody>
      </p:sp>
      <p:sp>
        <p:nvSpPr>
          <p:cNvPr id="244739" name="Rectangle 3"/>
          <p:cNvSpPr>
            <a:spLocks noGrp="1" noChangeArrowheads="1"/>
          </p:cNvSpPr>
          <p:nvPr>
            <p:ph idx="1"/>
          </p:nvPr>
        </p:nvSpPr>
        <p:spPr>
          <a:xfrm>
            <a:off x="381000" y="2133600"/>
            <a:ext cx="8229600" cy="3490186"/>
          </a:xfrm>
        </p:spPr>
        <p:txBody>
          <a:bodyPr/>
          <a:lstStyle/>
          <a:p>
            <a:pPr marL="534988" indent="0">
              <a:buFontTx/>
              <a:buNone/>
            </a:pPr>
            <a:r>
              <a:rPr lang="en-US" dirty="0"/>
              <a:t>Consider the reaction 2S + 3O</a:t>
            </a:r>
            <a:r>
              <a:rPr lang="en-US" baseline="-25000" dirty="0"/>
              <a:t>2 </a:t>
            </a:r>
            <a:r>
              <a:rPr lang="en-US" dirty="0">
                <a:cs typeface="Times New Roman" charset="0"/>
              </a:rPr>
              <a:t>→</a:t>
            </a:r>
            <a:r>
              <a:rPr lang="en-US" dirty="0"/>
              <a:t> 2SO</a:t>
            </a:r>
            <a:r>
              <a:rPr lang="en-US" baseline="-25000" dirty="0"/>
              <a:t>3</a:t>
            </a:r>
            <a:endParaRPr lang="en-US" dirty="0"/>
          </a:p>
          <a:p>
            <a:pPr marL="534988" indent="0">
              <a:buFontTx/>
              <a:buNone/>
            </a:pPr>
            <a:r>
              <a:rPr lang="en-US" dirty="0"/>
              <a:t>Find the </a:t>
            </a:r>
            <a:r>
              <a:rPr lang="en-US" dirty="0">
                <a:solidFill>
                  <a:srgbClr val="0000FF"/>
                </a:solidFill>
              </a:rPr>
              <a:t>percent yield</a:t>
            </a:r>
            <a:r>
              <a:rPr lang="en-US" dirty="0"/>
              <a:t> of product if 1.50 g of SO</a:t>
            </a:r>
            <a:r>
              <a:rPr lang="en-US" baseline="-25000" dirty="0"/>
              <a:t>3</a:t>
            </a:r>
            <a:r>
              <a:rPr lang="en-US" dirty="0"/>
              <a:t> is produced from 1.00 g of O</a:t>
            </a:r>
            <a:r>
              <a:rPr lang="en-US" baseline="-25000" dirty="0"/>
              <a:t>2</a:t>
            </a:r>
            <a:r>
              <a:rPr lang="en-US" dirty="0"/>
              <a:t> and excess sulfur</a:t>
            </a:r>
          </a:p>
          <a:p>
            <a:pPr marL="450850" indent="0">
              <a:buFontTx/>
              <a:buNone/>
            </a:pPr>
            <a:r>
              <a:rPr lang="en-US" dirty="0"/>
              <a:t>	</a:t>
            </a:r>
          </a:p>
          <a:p>
            <a:pPr marL="1025525" indent="-457200">
              <a:buFontTx/>
              <a:buNone/>
            </a:pPr>
            <a:r>
              <a:rPr lang="en-US" dirty="0"/>
              <a:t>a)	40.0%</a:t>
            </a:r>
          </a:p>
          <a:p>
            <a:pPr marL="1025525" indent="-457200">
              <a:buFontTx/>
              <a:buNone/>
            </a:pPr>
            <a:r>
              <a:rPr lang="en-US" dirty="0"/>
              <a:t>b)	80.0%</a:t>
            </a:r>
          </a:p>
          <a:p>
            <a:pPr marL="1025525" indent="-457200">
              <a:buFontTx/>
              <a:buNone/>
            </a:pPr>
            <a:r>
              <a:rPr lang="en-US" dirty="0"/>
              <a:t>c)	89.8%</a:t>
            </a:r>
          </a:p>
          <a:p>
            <a:pPr marL="1025525" indent="-457200">
              <a:buFontTx/>
              <a:buNone/>
            </a:pPr>
            <a:r>
              <a:rPr lang="en-US" dirty="0"/>
              <a:t>d)	92.4%</a:t>
            </a:r>
          </a:p>
        </p:txBody>
      </p:sp>
      <p:sp>
        <p:nvSpPr>
          <p:cNvPr id="244741" name="Rectangle 5" descr="null"/>
          <p:cNvSpPr>
            <a:spLocks noChangeArrowheads="1"/>
          </p:cNvSpPr>
          <p:nvPr/>
        </p:nvSpPr>
        <p:spPr bwMode="auto">
          <a:xfrm>
            <a:off x="985838" y="4712297"/>
            <a:ext cx="1447800" cy="381000"/>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244740" name="Picture 4" descr="MMj0189251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66800"/>
            <a:ext cx="952500" cy="9525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926534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47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1"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a:xfrm>
            <a:off x="1524000" y="1143000"/>
            <a:ext cx="7162800" cy="533400"/>
          </a:xfrm>
        </p:spPr>
        <p:txBody>
          <a:bodyPr/>
          <a:lstStyle/>
          <a:p>
            <a:r>
              <a:rPr lang="en-US" dirty="0"/>
              <a:t>Exercise, 7</a:t>
            </a:r>
          </a:p>
        </p:txBody>
      </p:sp>
      <p:sp>
        <p:nvSpPr>
          <p:cNvPr id="366595" name="Rectangle 3"/>
          <p:cNvSpPr>
            <a:spLocks noGrp="1" noChangeArrowheads="1"/>
          </p:cNvSpPr>
          <p:nvPr>
            <p:ph idx="1"/>
          </p:nvPr>
        </p:nvSpPr>
        <p:spPr>
          <a:xfrm>
            <a:off x="381000" y="2133600"/>
            <a:ext cx="8229600" cy="3933384"/>
          </a:xfrm>
        </p:spPr>
        <p:txBody>
          <a:bodyPr/>
          <a:lstStyle/>
          <a:p>
            <a:pPr marL="685800" indent="-3175">
              <a:buFontTx/>
              <a:buNone/>
            </a:pPr>
            <a:r>
              <a:rPr lang="en-US" dirty="0"/>
              <a:t>	Consider the following reaction:</a:t>
            </a:r>
          </a:p>
          <a:p>
            <a:pPr marL="685800" indent="-3175">
              <a:buFontTx/>
              <a:buNone/>
            </a:pPr>
            <a:r>
              <a:rPr lang="en-US" dirty="0"/>
              <a:t>			P</a:t>
            </a:r>
            <a:r>
              <a:rPr lang="en-US" baseline="-25000" dirty="0"/>
              <a:t>4</a:t>
            </a:r>
            <a:r>
              <a:rPr lang="en-US" dirty="0"/>
              <a:t>(</a:t>
            </a:r>
            <a:r>
              <a:rPr lang="en-US" i="1" dirty="0"/>
              <a:t>s</a:t>
            </a:r>
            <a:r>
              <a:rPr lang="en-US" dirty="0"/>
              <a:t>) + 6F</a:t>
            </a:r>
            <a:r>
              <a:rPr lang="en-US" baseline="-25000" dirty="0"/>
              <a:t>2</a:t>
            </a:r>
            <a:r>
              <a:rPr lang="en-US" dirty="0"/>
              <a:t>(</a:t>
            </a:r>
            <a:r>
              <a:rPr lang="en-US" i="1" dirty="0"/>
              <a:t>g</a:t>
            </a:r>
            <a:r>
              <a:rPr lang="en-US" dirty="0"/>
              <a:t>) </a:t>
            </a:r>
            <a:r>
              <a:rPr lang="en-US" dirty="0">
                <a:sym typeface="Symbol" charset="0"/>
              </a:rPr>
              <a:t> 4PF</a:t>
            </a:r>
            <a:r>
              <a:rPr lang="en-US" baseline="-25000" dirty="0">
                <a:sym typeface="Symbol" charset="0"/>
              </a:rPr>
              <a:t>3</a:t>
            </a:r>
            <a:r>
              <a:rPr lang="en-US" dirty="0">
                <a:sym typeface="Symbol" charset="0"/>
              </a:rPr>
              <a:t>(</a:t>
            </a:r>
            <a:r>
              <a:rPr lang="en-US" i="1" dirty="0">
                <a:sym typeface="Symbol" charset="0"/>
              </a:rPr>
              <a:t>g</a:t>
            </a:r>
            <a:r>
              <a:rPr lang="en-US" dirty="0">
                <a:sym typeface="Symbol" charset="0"/>
              </a:rPr>
              <a:t>)</a:t>
            </a:r>
          </a:p>
          <a:p>
            <a:pPr marL="685800" indent="-3175">
              <a:buFontTx/>
              <a:buNone/>
            </a:pPr>
            <a:endParaRPr lang="en-US" dirty="0"/>
          </a:p>
          <a:p>
            <a:pPr marL="355600" indent="0">
              <a:buFontTx/>
              <a:buNone/>
            </a:pPr>
            <a:r>
              <a:rPr lang="en-US" dirty="0"/>
              <a:t>What </a:t>
            </a:r>
            <a:r>
              <a:rPr lang="en-US" dirty="0">
                <a:solidFill>
                  <a:srgbClr val="0000FF"/>
                </a:solidFill>
              </a:rPr>
              <a:t>mass of P</a:t>
            </a:r>
            <a:r>
              <a:rPr lang="en-US" baseline="-25000" dirty="0">
                <a:solidFill>
                  <a:srgbClr val="0000FF"/>
                </a:solidFill>
              </a:rPr>
              <a:t>4</a:t>
            </a:r>
            <a:r>
              <a:rPr lang="en-US" dirty="0"/>
              <a:t> is needed to produce 85.0 g of PF</a:t>
            </a:r>
            <a:r>
              <a:rPr lang="en-US" baseline="-25000" dirty="0"/>
              <a:t>3</a:t>
            </a:r>
            <a:r>
              <a:rPr lang="en-US" dirty="0"/>
              <a:t> if the reaction has a 64.9% yield?</a:t>
            </a:r>
          </a:p>
          <a:p>
            <a:pPr marL="685800" indent="-3175">
              <a:buFontTx/>
              <a:buNone/>
            </a:pPr>
            <a:r>
              <a:rPr lang="en-US" dirty="0"/>
              <a:t>a) 29.9 g</a:t>
            </a:r>
          </a:p>
          <a:p>
            <a:pPr marL="685800" indent="-3175">
              <a:buFontTx/>
              <a:buNone/>
            </a:pPr>
            <a:r>
              <a:rPr lang="en-US" dirty="0"/>
              <a:t>b) 46.1 g</a:t>
            </a:r>
          </a:p>
          <a:p>
            <a:pPr marL="685800" indent="-3175">
              <a:buFontTx/>
              <a:buNone/>
            </a:pPr>
            <a:r>
              <a:rPr lang="en-US" dirty="0"/>
              <a:t>c) 184 g</a:t>
            </a:r>
          </a:p>
          <a:p>
            <a:pPr marL="685800" indent="-3175">
              <a:buFontTx/>
              <a:buNone/>
            </a:pPr>
            <a:r>
              <a:rPr lang="en-US" dirty="0"/>
              <a:t>d) 738 g</a:t>
            </a:r>
          </a:p>
        </p:txBody>
      </p:sp>
      <p:sp>
        <p:nvSpPr>
          <p:cNvPr id="366597" name="Rectangle 5" descr="null"/>
          <p:cNvSpPr>
            <a:spLocks noChangeArrowheads="1"/>
          </p:cNvSpPr>
          <p:nvPr/>
        </p:nvSpPr>
        <p:spPr bwMode="auto">
          <a:xfrm>
            <a:off x="1085284" y="4775176"/>
            <a:ext cx="1318647" cy="339026"/>
          </a:xfrm>
          <a:prstGeom prst="rect">
            <a:avLst/>
          </a:prstGeom>
          <a:noFill/>
          <a:ln w="38100">
            <a:solidFill>
              <a:srgbClr val="008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366596" name="Picture 4" descr="MMj0189251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66800"/>
            <a:ext cx="952500" cy="9525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52356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6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7" grpId="0" animBg="1"/>
    </p:bldLst>
  </p:timing>
</p:sld>
</file>

<file path=ppt/theme/theme1.xml><?xml version="1.0" encoding="utf-8"?>
<a:theme xmlns:a="http://schemas.openxmlformats.org/drawingml/2006/main" name="1_Section 9.1">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ection 9.3">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Section 9.4">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Section 9.5">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Section 9.6">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Section 9.2">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2_Section 9.1">
  <a:themeElements>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fontScheme name="Section 6.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30000">
            <a:ln>
              <a:noFill/>
            </a:ln>
            <a:solidFill>
              <a:srgbClr val="000000"/>
            </a:solidFill>
            <a:effectLst/>
            <a:latin typeface="Times" charset="0"/>
            <a:ea typeface="ＭＳ Ｐゴシック" charset="0"/>
          </a:defRPr>
        </a:defPPr>
      </a:lstStyle>
    </a:lnDef>
  </a:objectDefaults>
  <a:extraClrSchemeLst>
    <a:extraClrScheme>
      <a:clrScheme name="Section 6.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6.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6.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6.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6.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6.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6.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6.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6.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6.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6.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6.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ection 6.1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5934DC7BD95242BE6BA2F7EBB887A7" ma:contentTypeVersion="7" ma:contentTypeDescription="Create a new document." ma:contentTypeScope="" ma:versionID="b502482696701f57dee8b51a511759b6">
  <xsd:schema xmlns:xsd="http://www.w3.org/2001/XMLSchema" xmlns:xs="http://www.w3.org/2001/XMLSchema" xmlns:p="http://schemas.microsoft.com/office/2006/metadata/properties" xmlns:ns2="5b47f0fb-e24d-44b9-89a4-ff46b5ce035f" xmlns:ns3="0e13c682-55bc-4eac-8c72-cb1c29354c87" targetNamespace="http://schemas.microsoft.com/office/2006/metadata/properties" ma:root="true" ma:fieldsID="47bfffb8bcbec2f48a78b0c1e25db6fa" ns2:_="" ns3:_="">
    <xsd:import namespace="5b47f0fb-e24d-44b9-89a4-ff46b5ce035f"/>
    <xsd:import namespace="0e13c682-55bc-4eac-8c72-cb1c29354c87"/>
    <xsd:element name="properties">
      <xsd:complexType>
        <xsd:sequence>
          <xsd:element name="documentManagement">
            <xsd:complexType>
              <xsd:all>
                <xsd:element ref="ns2:SharedWithUsers" minOccurs="0"/>
                <xsd:element ref="ns2:SharedWithDetails" minOccurs="0"/>
                <xsd:element ref="ns3:Check_x002d_in_x0020_Comment" minOccurs="0"/>
                <xsd:element ref="ns3:MediaServiceMetadata" minOccurs="0"/>
                <xsd:element ref="ns3:MediaServiceFastMetadata" minOccurs="0"/>
                <xsd:element ref="ns3:MediaServiceDateTaken" minOccurs="0"/>
                <xsd:element ref="ns3: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e13c682-55bc-4eac-8c72-cb1c29354c87" elementFormDefault="qualified">
    <xsd:import namespace="http://schemas.microsoft.com/office/2006/documentManagement/types"/>
    <xsd:import namespace="http://schemas.microsoft.com/office/infopath/2007/PartnerControls"/>
    <xsd:element name="Check_x002d_in_x0020_Comment" ma:index="10" nillable="true" ma:displayName="Check-in Comment" ma:internalName="Check_x002d_in_x0020_Comment">
      <xsd:simpleType>
        <xsd:restriction base="dms:Text">
          <xsd:maxLength value="255"/>
        </xsd:restriction>
      </xsd:simpleType>
    </xsd:element>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heck_x002d_in_x0020_Comment xmlns="0e13c682-55bc-4eac-8c72-cb1c29354c87" xsi:nil="true"/>
  </documentManagement>
</p:properties>
</file>

<file path=customXml/itemProps1.xml><?xml version="1.0" encoding="utf-8"?>
<ds:datastoreItem xmlns:ds="http://schemas.openxmlformats.org/officeDocument/2006/customXml" ds:itemID="{4E82D9A9-9B15-41D1-A486-7B028F8C0A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0e13c682-55bc-4eac-8c72-cb1c29354c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843EB55-BEB8-418D-B4D1-0A019D1A423E}">
  <ds:schemaRefs>
    <ds:schemaRef ds:uri="http://schemas.microsoft.com/sharepoint/v3/contenttype/forms"/>
  </ds:schemaRefs>
</ds:datastoreItem>
</file>

<file path=customXml/itemProps3.xml><?xml version="1.0" encoding="utf-8"?>
<ds:datastoreItem xmlns:ds="http://schemas.openxmlformats.org/officeDocument/2006/customXml" ds:itemID="{3866DD96-111C-4CED-BF0B-9E1774F93835}">
  <ds:schemaRefs>
    <ds:schemaRef ds:uri="http://schemas.microsoft.com/office/infopath/2007/PartnerControls"/>
    <ds:schemaRef ds:uri="http://www.w3.org/XML/1998/namespace"/>
    <ds:schemaRef ds:uri="5b47f0fb-e24d-44b9-89a4-ff46b5ce035f"/>
    <ds:schemaRef ds:uri="http://schemas.microsoft.com/office/2006/metadata/properties"/>
    <ds:schemaRef ds:uri="http://schemas.microsoft.com/office/2006/documentManagement/types"/>
    <ds:schemaRef ds:uri="0e13c682-55bc-4eac-8c72-cb1c29354c87"/>
    <ds:schemaRef ds:uri="http://purl.org/dc/terms/"/>
    <ds:schemaRef ds:uri="http://purl.org/dc/dcmitype/"/>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2690</TotalTime>
  <Words>3979</Words>
  <Application>Microsoft Office PowerPoint</Application>
  <PresentationFormat>On-screen Show (4:3)</PresentationFormat>
  <Paragraphs>401</Paragraphs>
  <Slides>53</Slides>
  <Notes>53</Notes>
  <HiddenSlides>21</HiddenSlides>
  <MMClips>0</MMClips>
  <ScaleCrop>false</ScaleCrop>
  <HeadingPairs>
    <vt:vector size="8" baseType="variant">
      <vt:variant>
        <vt:lpstr>Fonts Used</vt:lpstr>
      </vt:variant>
      <vt:variant>
        <vt:i4>7</vt:i4>
      </vt:variant>
      <vt:variant>
        <vt:lpstr>Theme</vt:lpstr>
      </vt:variant>
      <vt:variant>
        <vt:i4>7</vt:i4>
      </vt:variant>
      <vt:variant>
        <vt:lpstr>Embedded OLE Servers</vt:lpstr>
      </vt:variant>
      <vt:variant>
        <vt:i4>1</vt:i4>
      </vt:variant>
      <vt:variant>
        <vt:lpstr>Slide Titles</vt:lpstr>
      </vt:variant>
      <vt:variant>
        <vt:i4>53</vt:i4>
      </vt:variant>
    </vt:vector>
  </HeadingPairs>
  <TitlesOfParts>
    <vt:vector size="68" baseType="lpstr">
      <vt:lpstr>Arial</vt:lpstr>
      <vt:lpstr>Arial Narrow</vt:lpstr>
      <vt:lpstr>Calibri</vt:lpstr>
      <vt:lpstr>Symbol</vt:lpstr>
      <vt:lpstr>Times</vt:lpstr>
      <vt:lpstr>Times New Roman</vt:lpstr>
      <vt:lpstr>Wingdings</vt:lpstr>
      <vt:lpstr>1_Section 9.1</vt:lpstr>
      <vt:lpstr>Section 9.3</vt:lpstr>
      <vt:lpstr>Section 9.4</vt:lpstr>
      <vt:lpstr>Section 9.5</vt:lpstr>
      <vt:lpstr>Section 9.6</vt:lpstr>
      <vt:lpstr>Section 9.2</vt:lpstr>
      <vt:lpstr>2_Section 9.1</vt:lpstr>
      <vt:lpstr>Equation</vt:lpstr>
      <vt:lpstr>Chapter 9</vt:lpstr>
      <vt:lpstr>Understanding the Molecular and Mass Information in a Balanced Equation</vt:lpstr>
      <vt:lpstr>Understanding the Molecular and Mass Information in a Balanced Equation (continued)</vt:lpstr>
      <vt:lpstr> Concept Check, 1</vt:lpstr>
      <vt:lpstr>Concept Check, 1 (continued)</vt:lpstr>
      <vt:lpstr>Relationship between Moles of Reactants and Moles of Products</vt:lpstr>
      <vt:lpstr>Mole Ratio</vt:lpstr>
      <vt:lpstr>Example, 1</vt:lpstr>
      <vt:lpstr>Example, 1 (continued)</vt:lpstr>
      <vt:lpstr>Exercise, 1</vt:lpstr>
      <vt:lpstr>Steps for Calculating the Masses of Reactants and Products in Chemical Reactions</vt:lpstr>
      <vt:lpstr>Stoichiometry</vt:lpstr>
      <vt:lpstr>Example, 2</vt:lpstr>
      <vt:lpstr>Example, 2 (continued 1)</vt:lpstr>
      <vt:lpstr>Example, 2 (continued 2)</vt:lpstr>
      <vt:lpstr>Example, 2 (continued 3)</vt:lpstr>
      <vt:lpstr>Example, 2 (continued 4)</vt:lpstr>
      <vt:lpstr>Exercise, 2</vt:lpstr>
      <vt:lpstr>Exercise, 3</vt:lpstr>
      <vt:lpstr>Exercise, 4</vt:lpstr>
      <vt:lpstr>Stoichiometric Mixture</vt:lpstr>
      <vt:lpstr>Limiting Reactant Mixture</vt:lpstr>
      <vt:lpstr>Limiting Reactant Mixture (continued)</vt:lpstr>
      <vt:lpstr>Limiting Reactants</vt:lpstr>
      <vt:lpstr>Limiting Reactants (continued 1)</vt:lpstr>
      <vt:lpstr>Limiting Reactants (continued 2)</vt:lpstr>
      <vt:lpstr>Steps for Solving Stoichiometry Problems Involving Limiting Reactants by Solving for Limiting Reactant First (Approach A)</vt:lpstr>
      <vt:lpstr>Example, 3, Approach A</vt:lpstr>
      <vt:lpstr>Let’s Think About It (Approach A) </vt:lpstr>
      <vt:lpstr>Example, 3, Approach A (continued 1)</vt:lpstr>
      <vt:lpstr>Example, 3, Approach A (continued 2)</vt:lpstr>
      <vt:lpstr>Example, 3, Approach A (continued 3)</vt:lpstr>
      <vt:lpstr>Example, 3, Approach A (continued 4)</vt:lpstr>
      <vt:lpstr>Example, 3, Approach A (continued 5)</vt:lpstr>
      <vt:lpstr>Notice</vt:lpstr>
      <vt:lpstr>Steps for Solving Stoichiometry Problems Involving Limiting Reactants by Determining the Number of Moles of Product First, Approach B</vt:lpstr>
      <vt:lpstr>Example, 3, Approach B</vt:lpstr>
      <vt:lpstr>Let’s Think About It (Approach B)</vt:lpstr>
      <vt:lpstr>Example, 3, Approach B (continued 1)</vt:lpstr>
      <vt:lpstr>Example, 3, Approach B (continued 2)</vt:lpstr>
      <vt:lpstr>Example, 3, Approach B (continued 3)</vt:lpstr>
      <vt:lpstr>Example, 3, Approach B (continued 4)</vt:lpstr>
      <vt:lpstr>Example, 3, Approach B (continued 5)</vt:lpstr>
      <vt:lpstr>Concept Check, 2</vt:lpstr>
      <vt:lpstr>Concept Check, 3</vt:lpstr>
      <vt:lpstr>Exercise, 5</vt:lpstr>
      <vt:lpstr>Percent Yield</vt:lpstr>
      <vt:lpstr>Percent Yield (continued 1)</vt:lpstr>
      <vt:lpstr>Percent Yield (continued 2)</vt:lpstr>
      <vt:lpstr>Example, 3, Recall</vt:lpstr>
      <vt:lpstr>Example, 3, Recall (continued)</vt:lpstr>
      <vt:lpstr>Exercise, 6</vt:lpstr>
      <vt:lpstr>Exercise,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Melinda Jensen</dc:creator>
  <cp:lastModifiedBy>Willson, Laurel</cp:lastModifiedBy>
  <cp:revision>302</cp:revision>
  <dcterms:created xsi:type="dcterms:W3CDTF">2013-12-25T21:28:01Z</dcterms:created>
  <dcterms:modified xsi:type="dcterms:W3CDTF">2026-07-28T00:27:08Z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0x010100EA5934DC7BD95242BE6BA2F7EBB887A7</vt:lpwstr>
  </property>
</Properties>
</file>