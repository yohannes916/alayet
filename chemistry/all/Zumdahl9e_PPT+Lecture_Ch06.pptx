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 id="2147483684" r:id="rId5"/>
    <p:sldMasterId id="2147483696" r:id="rId6"/>
    <p:sldMasterId id="2147483708" r:id="rId7"/>
  </p:sldMasterIdLst>
  <p:notesMasterIdLst>
    <p:notesMasterId r:id="rId31"/>
  </p:notesMasterIdLst>
  <p:sldIdLst>
    <p:sldId id="284" r:id="rId8"/>
    <p:sldId id="260" r:id="rId9"/>
    <p:sldId id="261" r:id="rId10"/>
    <p:sldId id="262" r:id="rId11"/>
    <p:sldId id="263" r:id="rId12"/>
    <p:sldId id="264" r:id="rId13"/>
    <p:sldId id="266" r:id="rId14"/>
    <p:sldId id="267" r:id="rId15"/>
    <p:sldId id="268" r:id="rId16"/>
    <p:sldId id="269" r:id="rId17"/>
    <p:sldId id="270" r:id="rId18"/>
    <p:sldId id="271" r:id="rId19"/>
    <p:sldId id="273" r:id="rId20"/>
    <p:sldId id="274" r:id="rId21"/>
    <p:sldId id="275" r:id="rId22"/>
    <p:sldId id="276" r:id="rId23"/>
    <p:sldId id="277" r:id="rId24"/>
    <p:sldId id="278" r:id="rId25"/>
    <p:sldId id="279" r:id="rId26"/>
    <p:sldId id="280" r:id="rId27"/>
    <p:sldId id="281" r:id="rId28"/>
    <p:sldId id="282" r:id="rId29"/>
    <p:sldId id="283"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indita Das" initials="AD" lastIdx="5" clrIdx="0">
    <p:extLst>
      <p:ext uri="{19B8F6BF-5375-455C-9EA6-DF929625EA0E}">
        <p15:presenceInfo xmlns:p15="http://schemas.microsoft.com/office/powerpoint/2012/main" userId="Anindita Das" providerId="None"/>
      </p:ext>
    </p:extLst>
  </p:cmAuthor>
  <p:cmAuthor id="2" name="Anusha Ravi" initials="AR" lastIdx="3" clrIdx="1">
    <p:extLst>
      <p:ext uri="{19B8F6BF-5375-455C-9EA6-DF929625EA0E}">
        <p15:presenceInfo xmlns:p15="http://schemas.microsoft.com/office/powerpoint/2012/main" userId="Anusha Rav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176" autoAdjust="0"/>
  </p:normalViewPr>
  <p:slideViewPr>
    <p:cSldViewPr snapToGrid="0" snapToObjects="1">
      <p:cViewPr varScale="1">
        <p:scale>
          <a:sx n="73" d="100"/>
          <a:sy n="73" d="100"/>
        </p:scale>
        <p:origin x="1374"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commentAuthors" Target="commentAuthor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66099EB-5EE0-EB4A-A19E-5516E73BA9C0}" type="datetimeFigureOut">
              <a:rPr lang="en-US" smtClean="0"/>
              <a:t>6/6/2018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16C4D2-9FF1-DB4D-AA5E-794EDBF7404F}" type="slidenum">
              <a:rPr lang="en-US" smtClean="0"/>
              <a:t>‹#›</a:t>
            </a:fld>
            <a:endParaRPr lang="en-US"/>
          </a:p>
        </p:txBody>
      </p:sp>
    </p:spTree>
    <p:extLst>
      <p:ext uri="{BB962C8B-B14F-4D97-AF65-F5344CB8AC3E}">
        <p14:creationId xmlns:p14="http://schemas.microsoft.com/office/powerpoint/2010/main" val="307015889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2B7958-D159-B74C-9504-166091246992}"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085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08579"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1158882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919E40-A573-6C49-9C4A-608E0C7140BA}" type="slidenum">
              <a:rPr lang="en-US"/>
              <a:pPr/>
              <a:t>2</a:t>
            </a:fld>
            <a:endParaRPr lang="en-US"/>
          </a:p>
        </p:txBody>
      </p:sp>
      <p:sp>
        <p:nvSpPr>
          <p:cNvPr id="2662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662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63453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C02551-0C2C-7447-A959-BA378B0FB4E0}" type="slidenum">
              <a:rPr lang="en-US"/>
              <a:pPr/>
              <a:t>3</a:t>
            </a:fld>
            <a:endParaRPr lang="en-US"/>
          </a:p>
        </p:txBody>
      </p:sp>
      <p:sp>
        <p:nvSpPr>
          <p:cNvPr id="2682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682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93971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860A6-7819-4A41-A241-C23F53EFDD7B}" type="slidenum">
              <a:rPr lang="en-US"/>
              <a:pPr/>
              <a:t>4</a:t>
            </a:fld>
            <a:endParaRPr lang="en-US"/>
          </a:p>
        </p:txBody>
      </p:sp>
      <p:sp>
        <p:nvSpPr>
          <p:cNvPr id="1085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08547" name="Rectangle 3"/>
          <p:cNvSpPr>
            <a:spLocks noGrp="1" noChangeArrowheads="1"/>
          </p:cNvSpPr>
          <p:nvPr>
            <p:ph type="body" idx="1"/>
          </p:nvPr>
        </p:nvSpPr>
        <p:spPr/>
        <p:txBody>
          <a:bodyPr/>
          <a:lstStyle/>
          <a:p>
            <a:r>
              <a:rPr lang="en-US" dirty="0"/>
              <a:t>The answer is c. The formation of bubbles,</a:t>
            </a:r>
            <a:r>
              <a:rPr lang="en-US" baseline="0" dirty="0"/>
              <a:t> </a:t>
            </a:r>
            <a:r>
              <a:rPr lang="en-US" dirty="0"/>
              <a:t>a gas, is a sign that a chemical reaction has taken place.</a:t>
            </a:r>
          </a:p>
        </p:txBody>
      </p:sp>
    </p:spTree>
    <p:extLst>
      <p:ext uri="{BB962C8B-B14F-4D97-AF65-F5344CB8AC3E}">
        <p14:creationId xmlns:p14="http://schemas.microsoft.com/office/powerpoint/2010/main" val="2284400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92959D-671C-D149-8BAD-C7989C1144F5}" type="slidenum">
              <a:rPr lang="en-US"/>
              <a:pPr/>
              <a:t>5</a:t>
            </a:fld>
            <a:endParaRPr lang="en-US"/>
          </a:p>
        </p:txBody>
      </p:sp>
      <p:sp>
        <p:nvSpPr>
          <p:cNvPr id="2836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3651" name="Rectangle 3"/>
          <p:cNvSpPr>
            <a:spLocks noGrp="1" noChangeArrowheads="1"/>
          </p:cNvSpPr>
          <p:nvPr>
            <p:ph type="body" idx="1"/>
          </p:nvPr>
        </p:nvSpPr>
        <p:spPr/>
        <p:txBody>
          <a:bodyPr/>
          <a:lstStyle/>
          <a:p>
            <a:r>
              <a:rPr lang="en-US" dirty="0"/>
              <a:t>The answer is a. The solution turning blue is a sign that a chemical reaction has taken place.</a:t>
            </a:r>
          </a:p>
        </p:txBody>
      </p:sp>
    </p:spTree>
    <p:extLst>
      <p:ext uri="{BB962C8B-B14F-4D97-AF65-F5344CB8AC3E}">
        <p14:creationId xmlns:p14="http://schemas.microsoft.com/office/powerpoint/2010/main" val="1730053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6E4F10-C9C9-4C4D-9120-3417CD66AA64}" type="slidenum">
              <a:rPr lang="en-US"/>
              <a:pPr/>
              <a:t>6</a:t>
            </a:fld>
            <a:endParaRPr lang="en-US"/>
          </a:p>
        </p:txBody>
      </p:sp>
      <p:sp>
        <p:nvSpPr>
          <p:cNvPr id="2856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5699" name="Rectangle 3"/>
          <p:cNvSpPr>
            <a:spLocks noGrp="1" noChangeArrowheads="1"/>
          </p:cNvSpPr>
          <p:nvPr>
            <p:ph type="body" idx="1"/>
          </p:nvPr>
        </p:nvSpPr>
        <p:spPr/>
        <p:txBody>
          <a:bodyPr/>
          <a:lstStyle/>
          <a:p>
            <a:r>
              <a:rPr lang="en-US" dirty="0"/>
              <a:t>The answer is b. The formation of a yellow solid is a sign that a chemical reaction has taken place.</a:t>
            </a:r>
          </a:p>
        </p:txBody>
      </p:sp>
    </p:spTree>
    <p:extLst>
      <p:ext uri="{BB962C8B-B14F-4D97-AF65-F5344CB8AC3E}">
        <p14:creationId xmlns:p14="http://schemas.microsoft.com/office/powerpoint/2010/main" val="3385129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067C39-B664-8E4F-B3FE-6417B736068B}" type="slidenum">
              <a:rPr lang="en-US"/>
              <a:pPr/>
              <a:t>7</a:t>
            </a:fld>
            <a:endParaRPr lang="en-US"/>
          </a:p>
        </p:txBody>
      </p:sp>
      <p:sp>
        <p:nvSpPr>
          <p:cNvPr id="2877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77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05950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445FF3-6F87-6D4A-AEA1-B7BB95175DCF}" type="slidenum">
              <a:rPr lang="en-US"/>
              <a:pPr/>
              <a:t>8</a:t>
            </a:fld>
            <a:endParaRPr lang="en-US"/>
          </a:p>
        </p:txBody>
      </p:sp>
      <p:sp>
        <p:nvSpPr>
          <p:cNvPr id="2897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97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46966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6E58F8-AFAB-5D41-8E12-660EFCC26EE3}" type="slidenum">
              <a:rPr lang="en-US"/>
              <a:pPr/>
              <a:t>9</a:t>
            </a:fld>
            <a:endParaRPr lang="en-US"/>
          </a:p>
        </p:txBody>
      </p:sp>
      <p:sp>
        <p:nvSpPr>
          <p:cNvPr id="2959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959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42071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657C6C-498E-6341-855C-4515CE47922C}" type="slidenum">
              <a:rPr lang="en-US"/>
              <a:pPr/>
              <a:t>10</a:t>
            </a:fld>
            <a:endParaRPr lang="en-US"/>
          </a:p>
        </p:txBody>
      </p:sp>
      <p:sp>
        <p:nvSpPr>
          <p:cNvPr id="2979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979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427386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268E8F-E46A-3444-AC94-9557312ECD5B}" type="slidenum">
              <a:rPr lang="en-US"/>
              <a:pPr/>
              <a:t>11</a:t>
            </a:fld>
            <a:endParaRPr lang="en-US"/>
          </a:p>
        </p:txBody>
      </p:sp>
      <p:sp>
        <p:nvSpPr>
          <p:cNvPr id="3000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00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18879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E043D1-A1A2-DF46-83CA-04C9EEBF2854}" type="slidenum">
              <a:rPr lang="en-US"/>
              <a:pPr/>
              <a:t>12</a:t>
            </a:fld>
            <a:endParaRPr lang="en-US"/>
          </a:p>
        </p:txBody>
      </p:sp>
      <p:sp>
        <p:nvSpPr>
          <p:cNvPr id="3287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8707" name="Rectangle 3"/>
          <p:cNvSpPr>
            <a:spLocks noGrp="1" noChangeArrowheads="1"/>
          </p:cNvSpPr>
          <p:nvPr>
            <p:ph type="body" idx="1"/>
          </p:nvPr>
        </p:nvSpPr>
        <p:spPr/>
        <p:txBody>
          <a:bodyPr/>
          <a:lstStyle/>
          <a:p>
            <a:r>
              <a:rPr lang="en-US" dirty="0"/>
              <a:t>The answer is d. Notice that the reactants hydrogen and chlorine are both diatomic gases. We have only one product</a:t>
            </a:r>
            <a:r>
              <a:rPr lang="en-US" baseline="0" dirty="0"/>
              <a:t> that is </a:t>
            </a:r>
            <a:r>
              <a:rPr lang="en-US" dirty="0"/>
              <a:t>hydrochloric acid.</a:t>
            </a:r>
          </a:p>
        </p:txBody>
      </p:sp>
    </p:spTree>
    <p:extLst>
      <p:ext uri="{BB962C8B-B14F-4D97-AF65-F5344CB8AC3E}">
        <p14:creationId xmlns:p14="http://schemas.microsoft.com/office/powerpoint/2010/main" val="1177653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50E312-214F-AE46-800D-A0BCEB97CEAB}" type="slidenum">
              <a:rPr lang="en-US"/>
              <a:pPr/>
              <a:t>13</a:t>
            </a:fld>
            <a:endParaRPr lang="en-US"/>
          </a:p>
        </p:txBody>
      </p:sp>
      <p:sp>
        <p:nvSpPr>
          <p:cNvPr id="3020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020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315216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4B327E-73C8-964D-B0AD-F3AEC0ADF0B6}" type="slidenum">
              <a:rPr lang="en-US"/>
              <a:pPr/>
              <a:t>14</a:t>
            </a:fld>
            <a:endParaRPr lang="en-US"/>
          </a:p>
        </p:txBody>
      </p:sp>
      <p:sp>
        <p:nvSpPr>
          <p:cNvPr id="3041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041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641991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522A45-EDE4-8449-AD84-EF1517062898}" type="slidenum">
              <a:rPr lang="en-US"/>
              <a:pPr/>
              <a:t>15</a:t>
            </a:fld>
            <a:endParaRPr lang="en-US"/>
          </a:p>
        </p:txBody>
      </p:sp>
      <p:sp>
        <p:nvSpPr>
          <p:cNvPr id="1822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822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42063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3C7DAC-E757-D541-A281-F0CC1B332635}" type="slidenum">
              <a:rPr lang="en-US"/>
              <a:pPr/>
              <a:t>16</a:t>
            </a:fld>
            <a:endParaRPr lang="en-US"/>
          </a:p>
        </p:txBody>
      </p:sp>
      <p:sp>
        <p:nvSpPr>
          <p:cNvPr id="3061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061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865233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96A744-05A9-A345-9308-DEF9D74DA199}" type="slidenum">
              <a:rPr lang="en-US"/>
              <a:pPr/>
              <a:t>17</a:t>
            </a:fld>
            <a:endParaRPr lang="en-US"/>
          </a:p>
        </p:txBody>
      </p:sp>
      <p:sp>
        <p:nvSpPr>
          <p:cNvPr id="3082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0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21525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4B5BA3-C29B-5342-9DDA-AE26E4430F2A}" type="slidenum">
              <a:rPr lang="en-US"/>
              <a:pPr/>
              <a:t>18</a:t>
            </a:fld>
            <a:endParaRPr lang="en-US"/>
          </a:p>
        </p:txBody>
      </p:sp>
      <p:sp>
        <p:nvSpPr>
          <p:cNvPr id="3102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1027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2791627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271739-DE32-8341-AAF1-F8269E5CBCA0}" type="slidenum">
              <a:rPr lang="en-US"/>
              <a:pPr/>
              <a:t>19</a:t>
            </a:fld>
            <a:endParaRPr lang="en-US"/>
          </a:p>
        </p:txBody>
      </p:sp>
      <p:sp>
        <p:nvSpPr>
          <p:cNvPr id="3307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0755" name="Rectangle 3"/>
          <p:cNvSpPr>
            <a:spLocks noGrp="1" noChangeArrowheads="1"/>
          </p:cNvSpPr>
          <p:nvPr>
            <p:ph type="body" idx="1"/>
          </p:nvPr>
        </p:nvSpPr>
        <p:spPr/>
        <p:txBody>
          <a:bodyPr/>
          <a:lstStyle/>
          <a:p>
            <a:r>
              <a:rPr lang="en-US" dirty="0"/>
              <a:t>The answer is c. The balanced equation is:</a:t>
            </a:r>
          </a:p>
          <a:p>
            <a:r>
              <a:rPr lang="en-US" dirty="0"/>
              <a:t>4FeO(</a:t>
            </a:r>
            <a:r>
              <a:rPr lang="en-US" i="1" dirty="0"/>
              <a:t>s</a:t>
            </a:r>
            <a:r>
              <a:rPr lang="en-US" dirty="0"/>
              <a:t>) + O</a:t>
            </a:r>
            <a:r>
              <a:rPr lang="en-US" baseline="-25000" dirty="0"/>
              <a:t>2</a:t>
            </a:r>
            <a:r>
              <a:rPr lang="en-US" dirty="0"/>
              <a:t>(</a:t>
            </a:r>
            <a:r>
              <a:rPr lang="en-US" i="1" dirty="0"/>
              <a:t>g</a:t>
            </a:r>
            <a:r>
              <a:rPr lang="en-US" dirty="0"/>
              <a:t>) </a:t>
            </a:r>
            <a:r>
              <a:rPr lang="en-US" dirty="0">
                <a:sym typeface="Symbol" charset="0"/>
              </a:rPr>
              <a:t></a:t>
            </a:r>
            <a:r>
              <a:rPr lang="en-US" dirty="0"/>
              <a:t> 2Fe</a:t>
            </a:r>
            <a:r>
              <a:rPr lang="en-US" baseline="-25000" dirty="0"/>
              <a:t>2</a:t>
            </a:r>
            <a:r>
              <a:rPr lang="en-US" dirty="0"/>
              <a:t>O</a:t>
            </a:r>
            <a:r>
              <a:rPr lang="en-US" baseline="-25000" dirty="0"/>
              <a:t>3</a:t>
            </a:r>
            <a:r>
              <a:rPr lang="en-US" dirty="0"/>
              <a:t>(</a:t>
            </a:r>
            <a:r>
              <a:rPr lang="en-US" i="1" dirty="0"/>
              <a:t>s</a:t>
            </a:r>
            <a:r>
              <a:rPr lang="en-US" dirty="0"/>
              <a:t>).</a:t>
            </a:r>
            <a:r>
              <a:rPr lang="es-ES_tradnl" dirty="0"/>
              <a:t> </a:t>
            </a:r>
            <a:r>
              <a:rPr lang="en-US" dirty="0"/>
              <a:t>The sum of the coefficients is therefore 4 + 1 + 2 = 7. </a:t>
            </a:r>
          </a:p>
        </p:txBody>
      </p:sp>
    </p:spTree>
    <p:extLst>
      <p:ext uri="{BB962C8B-B14F-4D97-AF65-F5344CB8AC3E}">
        <p14:creationId xmlns:p14="http://schemas.microsoft.com/office/powerpoint/2010/main" val="1662300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D51D5-BC4B-F541-92C2-3757C43C7130}" type="slidenum">
              <a:rPr lang="en-US"/>
              <a:pPr/>
              <a:t>20</a:t>
            </a:fld>
            <a:endParaRPr lang="en-US"/>
          </a:p>
        </p:txBody>
      </p:sp>
      <p:sp>
        <p:nvSpPr>
          <p:cNvPr id="1863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86371" name="Rectangle 3"/>
          <p:cNvSpPr>
            <a:spLocks noGrp="1" noChangeArrowheads="1"/>
          </p:cNvSpPr>
          <p:nvPr>
            <p:ph type="body" idx="1"/>
          </p:nvPr>
        </p:nvSpPr>
        <p:spPr/>
        <p:txBody>
          <a:bodyPr/>
          <a:lstStyle/>
          <a:p>
            <a:r>
              <a:rPr lang="en-US" dirty="0"/>
              <a:t>II, III, and IV are correct. I is not correct because you cannot use subscripts to balance a chemical equation.</a:t>
            </a:r>
          </a:p>
        </p:txBody>
      </p:sp>
    </p:spTree>
    <p:extLst>
      <p:ext uri="{BB962C8B-B14F-4D97-AF65-F5344CB8AC3E}">
        <p14:creationId xmlns:p14="http://schemas.microsoft.com/office/powerpoint/2010/main" val="31046280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1530D9-6278-6F41-B06D-6A2300607765}" type="slidenum">
              <a:rPr lang="en-US"/>
              <a:pPr/>
              <a:t>21</a:t>
            </a:fld>
            <a:endParaRPr lang="en-US"/>
          </a:p>
        </p:txBody>
      </p:sp>
      <p:sp>
        <p:nvSpPr>
          <p:cNvPr id="3266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6659" name="Rectangle 3"/>
          <p:cNvSpPr>
            <a:spLocks noGrp="1" noChangeArrowheads="1"/>
          </p:cNvSpPr>
          <p:nvPr>
            <p:ph type="body" idx="1"/>
          </p:nvPr>
        </p:nvSpPr>
        <p:spPr/>
        <p:txBody>
          <a:bodyPr/>
          <a:lstStyle/>
          <a:p>
            <a:r>
              <a:rPr lang="en-US" dirty="0"/>
              <a:t>II is preferred most (most accepted convention) because it is the balanced equation with the smallest integers (whole numbers).</a:t>
            </a:r>
          </a:p>
        </p:txBody>
      </p:sp>
    </p:spTree>
    <p:extLst>
      <p:ext uri="{BB962C8B-B14F-4D97-AF65-F5344CB8AC3E}">
        <p14:creationId xmlns:p14="http://schemas.microsoft.com/office/powerpoint/2010/main" val="34580610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A575AD-E9C0-3245-BFB9-1874E4DED9B9}" type="slidenum">
              <a:rPr lang="en-US"/>
              <a:pPr/>
              <a:t>22</a:t>
            </a:fld>
            <a:endParaRPr lang="en-US"/>
          </a:p>
        </p:txBody>
      </p:sp>
      <p:sp>
        <p:nvSpPr>
          <p:cNvPr id="1884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88419" name="Rectangle 3"/>
          <p:cNvSpPr>
            <a:spLocks noGrp="1" noChangeArrowheads="1"/>
          </p:cNvSpPr>
          <p:nvPr>
            <p:ph type="body" idx="1"/>
          </p:nvPr>
        </p:nvSpPr>
        <p:spPr/>
        <p:txBody>
          <a:bodyPr/>
          <a:lstStyle/>
          <a:p>
            <a:r>
              <a:rPr lang="en-US" dirty="0"/>
              <a:t>The answer is a. Subscripts in the reactants do not have to be conserved in the products to balance the equation. Coefficients are used to balance the atoms on both sides. For example:</a:t>
            </a:r>
          </a:p>
          <a:p>
            <a:r>
              <a:rPr lang="en-US" dirty="0"/>
              <a:t>2H</a:t>
            </a:r>
            <a:r>
              <a:rPr lang="en-US" baseline="-25000" dirty="0"/>
              <a:t>2</a:t>
            </a:r>
            <a:r>
              <a:rPr lang="en-US" dirty="0"/>
              <a:t>(</a:t>
            </a:r>
            <a:r>
              <a:rPr lang="en-US" i="1" dirty="0"/>
              <a:t>g</a:t>
            </a:r>
            <a:r>
              <a:rPr lang="en-US" dirty="0"/>
              <a:t>) + O</a:t>
            </a:r>
            <a:r>
              <a:rPr lang="en-US" baseline="-25000" dirty="0"/>
              <a:t>2</a:t>
            </a:r>
            <a:r>
              <a:rPr lang="en-US" dirty="0"/>
              <a:t>(</a:t>
            </a:r>
            <a:r>
              <a:rPr lang="en-US" i="1" dirty="0"/>
              <a:t>g</a:t>
            </a:r>
            <a:r>
              <a:rPr lang="en-US" dirty="0"/>
              <a:t>) </a:t>
            </a:r>
            <a:r>
              <a:rPr lang="en-US" dirty="0">
                <a:sym typeface="Symbol" charset="0"/>
              </a:rPr>
              <a:t></a:t>
            </a:r>
            <a:r>
              <a:rPr lang="en-US" dirty="0"/>
              <a:t> 2H</a:t>
            </a:r>
            <a:r>
              <a:rPr lang="en-US" baseline="-25000" dirty="0"/>
              <a:t>2</a:t>
            </a:r>
            <a:r>
              <a:rPr lang="en-US" dirty="0"/>
              <a:t>O(</a:t>
            </a:r>
            <a:r>
              <a:rPr lang="en-US" i="1" dirty="0"/>
              <a:t>g</a:t>
            </a:r>
            <a:r>
              <a:rPr lang="en-US" dirty="0"/>
              <a:t>).</a:t>
            </a:r>
          </a:p>
          <a:p>
            <a:r>
              <a:rPr lang="en-US" dirty="0"/>
              <a:t>Balancing using subscripts will change the compounds. </a:t>
            </a:r>
          </a:p>
        </p:txBody>
      </p:sp>
    </p:spTree>
    <p:extLst>
      <p:ext uri="{BB962C8B-B14F-4D97-AF65-F5344CB8AC3E}">
        <p14:creationId xmlns:p14="http://schemas.microsoft.com/office/powerpoint/2010/main" val="3809060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081679-E13E-5A4D-977E-6C8A23CF5A72}" type="slidenum">
              <a:rPr lang="en-US"/>
              <a:pPr/>
              <a:t>23</a:t>
            </a:fld>
            <a:endParaRPr lang="en-US"/>
          </a:p>
        </p:txBody>
      </p:sp>
      <p:sp>
        <p:nvSpPr>
          <p:cNvPr id="1904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04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95836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518C26"/>
          </a:solidFill>
          <a:ln w="9525">
            <a:noFill/>
            <a:miter lim="800000"/>
            <a:headEnd/>
            <a:tailEnd/>
          </a:ln>
          <a:effectLst/>
          <a:ex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8558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600"/>
            </a:lvl1pPr>
          </a:lstStyle>
          <a:p>
            <a:r>
              <a:rPr lang="en-US" dirty="0"/>
              <a:t>Click to edit Master title style</a:t>
            </a:r>
          </a:p>
        </p:txBody>
      </p:sp>
      <p:sp>
        <p:nvSpPr>
          <p:cNvPr id="3" name="Content Placeholder 2"/>
          <p:cNvSpPr>
            <a:spLocks noGrp="1"/>
          </p:cNvSpPr>
          <p:nvPr>
            <p:ph idx="1"/>
          </p:nvPr>
        </p:nvSpPr>
        <p:spPr>
          <a:xfrm>
            <a:off x="457200" y="1752600"/>
            <a:ext cx="8229600" cy="1975926"/>
          </a:xfrm>
        </p:spPr>
        <p:txBody>
          <a:bodyPr/>
          <a:lstStyle>
            <a:lvl1pPr>
              <a:defRPr sz="2400"/>
            </a:lvl1pPr>
            <a:lvl2pPr marL="742950" indent="-285750">
              <a:buFont typeface="Arial" panose="020B0604020202020204" pitchFamily="34" charset="0"/>
              <a:buChar char="•"/>
              <a:defRPr sz="2200"/>
            </a:lvl2pPr>
            <a:lvl3pPr>
              <a:defRPr sz="20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Tree>
    <p:extLst>
      <p:ext uri="{BB962C8B-B14F-4D97-AF65-F5344CB8AC3E}">
        <p14:creationId xmlns:p14="http://schemas.microsoft.com/office/powerpoint/2010/main" val="127185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6" name="TextBox 5"/>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Tree>
    <p:extLst>
      <p:ext uri="{BB962C8B-B14F-4D97-AF65-F5344CB8AC3E}">
        <p14:creationId xmlns:p14="http://schemas.microsoft.com/office/powerpoint/2010/main" val="2180606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Tree>
    <p:extLst>
      <p:ext uri="{BB962C8B-B14F-4D97-AF65-F5344CB8AC3E}">
        <p14:creationId xmlns:p14="http://schemas.microsoft.com/office/powerpoint/2010/main" val="2501855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Tree>
    <p:extLst>
      <p:ext uri="{BB962C8B-B14F-4D97-AF65-F5344CB8AC3E}">
        <p14:creationId xmlns:p14="http://schemas.microsoft.com/office/powerpoint/2010/main" val="3476855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extBox 4"/>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Tree>
    <p:extLst>
      <p:ext uri="{BB962C8B-B14F-4D97-AF65-F5344CB8AC3E}">
        <p14:creationId xmlns:p14="http://schemas.microsoft.com/office/powerpoint/2010/main" val="424067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TextBox 3"/>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Tree>
    <p:extLst>
      <p:ext uri="{BB962C8B-B14F-4D97-AF65-F5344CB8AC3E}">
        <p14:creationId xmlns:p14="http://schemas.microsoft.com/office/powerpoint/2010/main" val="1180481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TextBox 6"/>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Tree>
    <p:extLst>
      <p:ext uri="{BB962C8B-B14F-4D97-AF65-F5344CB8AC3E}">
        <p14:creationId xmlns:p14="http://schemas.microsoft.com/office/powerpoint/2010/main" val="1835962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TextBox 6"/>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Tree>
    <p:extLst>
      <p:ext uri="{BB962C8B-B14F-4D97-AF65-F5344CB8AC3E}">
        <p14:creationId xmlns:p14="http://schemas.microsoft.com/office/powerpoint/2010/main" val="748292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Tree>
    <p:extLst>
      <p:ext uri="{BB962C8B-B14F-4D97-AF65-F5344CB8AC3E}">
        <p14:creationId xmlns:p14="http://schemas.microsoft.com/office/powerpoint/2010/main" val="68082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Tree>
    <p:extLst>
      <p:ext uri="{BB962C8B-B14F-4D97-AF65-F5344CB8AC3E}">
        <p14:creationId xmlns:p14="http://schemas.microsoft.com/office/powerpoint/2010/main" val="1739478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518C26"/>
          </a:solidFill>
          <a:ln w="9525">
            <a:noFill/>
            <a:miter lim="800000"/>
            <a:headEnd/>
            <a:tailEnd/>
          </a:ln>
          <a:effectLst/>
          <a:ex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13610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35459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Slide Number Placeholder 4"/>
          <p:cNvSpPr>
            <a:spLocks noGrp="1"/>
          </p:cNvSpPr>
          <p:nvPr>
            <p:ph type="sldNum" sz="quarter" idx="11"/>
          </p:nvPr>
        </p:nvSpPr>
        <p:spPr>
          <a:xfrm>
            <a:off x="6629400" y="6629400"/>
            <a:ext cx="2438400" cy="228600"/>
          </a:xfrm>
          <a:prstGeom prst="rect">
            <a:avLst/>
          </a:prstGeom>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419727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778643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92357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845656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66523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29229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613952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3911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61459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518C26"/>
          </a:solidFill>
          <a:ln w="9525">
            <a:noFill/>
            <a:miter lim="800000"/>
            <a:headEnd/>
            <a:tailEnd/>
          </a:ln>
          <a:effectLst/>
          <a:ex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92666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78555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6596289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52454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12294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872457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8032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587823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780862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93476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99069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518C26"/>
          </a:solidFill>
          <a:ln w="9525">
            <a:noFill/>
            <a:miter lim="800000"/>
            <a:headEnd/>
            <a:tailEnd/>
          </a:ln>
          <a:effectLst/>
          <a:ex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6" name="Picture 13" descr="BrooksCole_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8BCC01B8-AD77-48FA-BF73-A6746D27B231}"/>
              </a:ext>
            </a:extLst>
          </p:cNvPr>
          <p:cNvPicPr>
            <a:picLocks noChangeAspect="1"/>
          </p:cNvPicPr>
          <p:nvPr userDrawn="1"/>
        </p:nvPicPr>
        <p:blipFill>
          <a:blip r:embed="rId3"/>
          <a:stretch>
            <a:fillRect/>
          </a:stretch>
        </p:blipFill>
        <p:spPr>
          <a:xfrm>
            <a:off x="380999" y="533400"/>
            <a:ext cx="4239491" cy="5486400"/>
          </a:xfrm>
          <a:prstGeom prst="rect">
            <a:avLst/>
          </a:prstGeom>
        </p:spPr>
      </p:pic>
    </p:spTree>
    <p:extLst>
      <p:ext uri="{BB962C8B-B14F-4D97-AF65-F5344CB8AC3E}">
        <p14:creationId xmlns:p14="http://schemas.microsoft.com/office/powerpoint/2010/main" val="29575695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a:xfrm>
            <a:off x="6629400" y="6629400"/>
            <a:ext cx="2438400" cy="228600"/>
          </a:xfrm>
          <a:prstGeom prst="rect">
            <a:avLst/>
          </a:prstGeom>
        </p:spPr>
        <p:txBody>
          <a:bodyPr/>
          <a:lstStyle>
            <a:lvl1pPr>
              <a:defRPr/>
            </a:lvl1pPr>
          </a:lstStyle>
          <a:p>
            <a:fld id="{46092B02-CF88-894A-8A99-22CE79F0C30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7910087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a:xfrm>
            <a:off x="6629400" y="6629400"/>
            <a:ext cx="2438400" cy="228600"/>
          </a:xfrm>
          <a:prstGeom prst="rect">
            <a:avLst/>
          </a:prstGeom>
        </p:spPr>
        <p:txBody>
          <a:bodyPr/>
          <a:lstStyle>
            <a:lvl1pPr>
              <a:defRPr/>
            </a:lvl1pPr>
          </a:lstStyle>
          <a:p>
            <a:fld id="{6FD81403-8F11-0E42-9125-A97D7273BE91}"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4131539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a:xfrm>
            <a:off x="6629400" y="6629400"/>
            <a:ext cx="2438400" cy="228600"/>
          </a:xfrm>
          <a:prstGeom prst="rect">
            <a:avLst/>
          </a:prstGeom>
        </p:spPr>
        <p:txBody>
          <a:bodyPr/>
          <a:lstStyle>
            <a:lvl1pPr>
              <a:defRPr/>
            </a:lvl1pPr>
          </a:lstStyle>
          <a:p>
            <a:fld id="{CC5D6A3B-D815-2A46-8AAA-52AB28E15A3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5938781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8" name="Slide Number Placeholder 7"/>
          <p:cNvSpPr>
            <a:spLocks noGrp="1"/>
          </p:cNvSpPr>
          <p:nvPr>
            <p:ph type="sldNum" sz="quarter" idx="11"/>
          </p:nvPr>
        </p:nvSpPr>
        <p:spPr>
          <a:xfrm>
            <a:off x="6629400" y="6629400"/>
            <a:ext cx="2438400" cy="228600"/>
          </a:xfrm>
          <a:prstGeom prst="rect">
            <a:avLst/>
          </a:prstGeom>
        </p:spPr>
        <p:txBody>
          <a:bodyPr/>
          <a:lstStyle>
            <a:lvl1pPr>
              <a:defRPr/>
            </a:lvl1pPr>
          </a:lstStyle>
          <a:p>
            <a:fld id="{F92F0933-F9D3-8A47-B0CB-908DB3BA0F9D}"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39918127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4" name="Slide Number Placeholder 3"/>
          <p:cNvSpPr>
            <a:spLocks noGrp="1"/>
          </p:cNvSpPr>
          <p:nvPr>
            <p:ph type="sldNum" sz="quarter" idx="11"/>
          </p:nvPr>
        </p:nvSpPr>
        <p:spPr>
          <a:xfrm>
            <a:off x="6629400" y="6629400"/>
            <a:ext cx="2438400" cy="228600"/>
          </a:xfrm>
          <a:prstGeom prst="rect">
            <a:avLst/>
          </a:prstGeom>
        </p:spPr>
        <p:txBody>
          <a:bodyPr/>
          <a:lstStyle>
            <a:lvl1pPr>
              <a:defRPr/>
            </a:lvl1pPr>
          </a:lstStyle>
          <a:p>
            <a:fld id="{ECCAA2D9-10F7-3A41-8F18-841F8379194A}"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6810690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3" name="Slide Number Placeholder 2"/>
          <p:cNvSpPr>
            <a:spLocks noGrp="1"/>
          </p:cNvSpPr>
          <p:nvPr>
            <p:ph type="sldNum" sz="quarter" idx="11"/>
          </p:nvPr>
        </p:nvSpPr>
        <p:spPr>
          <a:xfrm>
            <a:off x="6629400" y="6629400"/>
            <a:ext cx="2438400" cy="228600"/>
          </a:xfrm>
          <a:prstGeom prst="rect">
            <a:avLst/>
          </a:prstGeom>
        </p:spPr>
        <p:txBody>
          <a:bodyPr/>
          <a:lstStyle>
            <a:lvl1pPr>
              <a:defRPr/>
            </a:lvl1pPr>
          </a:lstStyle>
          <a:p>
            <a:fld id="{47A91BA0-4E16-544B-B0D6-96D0CBD2E542}"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0927165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a:xfrm>
            <a:off x="6629400" y="6629400"/>
            <a:ext cx="2438400" cy="228600"/>
          </a:xfrm>
          <a:prstGeom prst="rect">
            <a:avLst/>
          </a:prstGeom>
        </p:spPr>
        <p:txBody>
          <a:bodyPr/>
          <a:lstStyle>
            <a:lvl1pPr>
              <a:defRPr/>
            </a:lvl1pPr>
          </a:lstStyle>
          <a:p>
            <a:fld id="{658B5BD9-43DE-AF48-8E88-B13660CCCE37}"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0232930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6" name="Slide Number Placeholder 5"/>
          <p:cNvSpPr>
            <a:spLocks noGrp="1"/>
          </p:cNvSpPr>
          <p:nvPr>
            <p:ph type="sldNum" sz="quarter" idx="11"/>
          </p:nvPr>
        </p:nvSpPr>
        <p:spPr>
          <a:xfrm>
            <a:off x="6629400" y="6629400"/>
            <a:ext cx="2438400" cy="228600"/>
          </a:xfrm>
          <a:prstGeom prst="rect">
            <a:avLst/>
          </a:prstGeom>
        </p:spPr>
        <p:txBody>
          <a:bodyPr/>
          <a:lstStyle>
            <a:lvl1pPr>
              <a:defRPr/>
            </a:lvl1pPr>
          </a:lstStyle>
          <a:p>
            <a:fld id="{D8518561-BA9E-634F-9CD7-86BE11D374C3}"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2366639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
        <p:nvSpPr>
          <p:cNvPr id="5" name="Slide Number Placeholder 4"/>
          <p:cNvSpPr>
            <a:spLocks noGrp="1"/>
          </p:cNvSpPr>
          <p:nvPr>
            <p:ph type="sldNum" sz="quarter" idx="11"/>
          </p:nvPr>
        </p:nvSpPr>
        <p:spPr>
          <a:xfrm>
            <a:off x="6629400" y="6629400"/>
            <a:ext cx="2438400" cy="228600"/>
          </a:xfrm>
          <a:prstGeom prst="rect">
            <a:avLst/>
          </a:prstGeom>
        </p:spPr>
        <p:txBody>
          <a:bodyPr/>
          <a:lstStyle>
            <a:lvl1pPr>
              <a:defRPr/>
            </a:lvl1pPr>
          </a:lstStyle>
          <a:p>
            <a:fld id="{793B72C4-3618-084E-8BAA-A790291FF0A8}" type="slidenum">
              <a:rPr lang="en-US">
                <a:solidFill>
                  <a:srgbClr val="000000"/>
                </a:solidFill>
                <a:latin typeface="Arial"/>
              </a:rPr>
              <a:pPr/>
              <a:t>‹#›</a:t>
            </a:fld>
            <a:endParaRPr lang="en-US">
              <a:solidFill>
                <a:srgbClr val="000000"/>
              </a:solidFill>
              <a:latin typeface="Arial"/>
            </a:endParaRPr>
          </a:p>
        </p:txBody>
      </p:sp>
    </p:spTree>
    <p:extLst>
      <p:ext uri="{BB962C8B-B14F-4D97-AF65-F5344CB8AC3E}">
        <p14:creationId xmlns:p14="http://schemas.microsoft.com/office/powerpoint/2010/main" val="188271683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solidFill>
                  <a:srgbClr val="000000"/>
                </a:solidFill>
                <a:latin typeface="Arial"/>
              </a:rPr>
              <a:t>Copyright © Cengage Learning. All rights reserved</a:t>
            </a:r>
          </a:p>
        </p:txBody>
      </p:sp>
    </p:spTree>
    <p:extLst>
      <p:ext uri="{BB962C8B-B14F-4D97-AF65-F5344CB8AC3E}">
        <p14:creationId xmlns:p14="http://schemas.microsoft.com/office/powerpoint/2010/main" val="3832326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jp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518C26"/>
          </a:solidFill>
          <a:ln>
            <a:noFill/>
          </a:ln>
          <a:effectLst/>
          <a:ex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3.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41324"/>
            <a:ext cx="9144000" cy="566739"/>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518C26"/>
          </a:solidFill>
          <a:ln>
            <a:noFill/>
          </a:ln>
          <a:effectLst/>
          <a:ex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19759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6.1</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Evidence for a Chemical Reaction</a:t>
            </a:r>
            <a:endParaRPr lang="en-US" sz="2600" b="1" dirty="0">
              <a:solidFill>
                <a:srgbClr val="FFFFFF"/>
              </a:solidFill>
              <a:latin typeface="Arial" charset="0"/>
              <a:ea typeface="ＭＳ Ｐゴシック" charset="0"/>
            </a:endParaRPr>
          </a:p>
        </p:txBody>
      </p:sp>
      <p:sp>
        <p:nvSpPr>
          <p:cNvPr id="1041" name="Rectangle 17"/>
          <p:cNvSpPr>
            <a:spLocks noGrp="1" noChangeArrowheads="1"/>
          </p:cNvSpPr>
          <p:nvPr>
            <p:ph type="ftr" sz="quarter" idx="3"/>
          </p:nvPr>
        </p:nvSpPr>
        <p:spPr bwMode="auto">
          <a:xfrm>
            <a:off x="87313" y="6618288"/>
            <a:ext cx="5867400" cy="228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000" baseline="0">
                <a:latin typeface="+mn-lt"/>
              </a:defRPr>
            </a:lvl1pPr>
          </a:lstStyle>
          <a:p>
            <a:pPr defTabSz="914400" eaLnBrk="0" fontAlgn="base" hangingPunct="0">
              <a:spcBef>
                <a:spcPct val="0"/>
              </a:spcBef>
              <a:spcAft>
                <a:spcPct val="0"/>
              </a:spcAft>
            </a:pPr>
            <a:r>
              <a:rPr lang="en-US" dirty="0">
                <a:solidFill>
                  <a:srgbClr val="000000"/>
                </a:solidFill>
                <a:latin typeface="Arial"/>
                <a:ea typeface="ＭＳ Ｐゴシック" charset="0"/>
              </a:rPr>
              <a:t>Copyright © </a:t>
            </a:r>
            <a:r>
              <a:rPr lang="en-US" dirty="0" err="1">
                <a:solidFill>
                  <a:srgbClr val="000000"/>
                </a:solidFill>
                <a:latin typeface="Arial"/>
                <a:ea typeface="ＭＳ Ｐゴシック" charset="0"/>
              </a:rPr>
              <a:t>Cengage</a:t>
            </a:r>
            <a:r>
              <a:rPr lang="en-US" dirty="0">
                <a:solidFill>
                  <a:srgbClr val="000000"/>
                </a:solidFill>
                <a:latin typeface="Arial"/>
                <a:ea typeface="ＭＳ Ｐゴシック" charset="0"/>
              </a:rPr>
              <a:t> Learning. All rights reserved</a:t>
            </a:r>
          </a:p>
        </p:txBody>
      </p:sp>
      <p:sp>
        <p:nvSpPr>
          <p:cNvPr id="10" name="Text Box 11"/>
          <p:cNvSpPr txBox="1">
            <a:spLocks noChangeArrowheads="1"/>
          </p:cNvSpPr>
          <p:nvPr userDrawn="1"/>
        </p:nvSpPr>
        <p:spPr bwMode="auto">
          <a:xfrm>
            <a:off x="8163339" y="6600110"/>
            <a:ext cx="904461" cy="24622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defTabSz="914400" eaLnBrk="0" fontAlgn="base" hangingPunct="0">
              <a:spcBef>
                <a:spcPct val="50000"/>
              </a:spcBef>
              <a:spcAft>
                <a:spcPct val="0"/>
              </a:spcAft>
              <a:defRPr/>
            </a:pPr>
            <a:fld id="{0560D76E-58DE-BB48-A856-DF00B2B61D6F}" type="slidenum">
              <a:rPr lang="en-US" sz="1000" smtClean="0">
                <a:solidFill>
                  <a:srgbClr val="000000"/>
                </a:solidFill>
              </a:rPr>
              <a:pPr algn="r" defTabSz="914400" eaLnBrk="0" fontAlgn="base" hangingPunct="0">
                <a:spcBef>
                  <a:spcPct val="50000"/>
                </a:spcBef>
                <a:spcAft>
                  <a:spcPct val="0"/>
                </a:spcAft>
                <a:defRPr/>
              </a:pPr>
              <a:t>‹#›</a:t>
            </a:fld>
            <a:endParaRPr lang="en-US" sz="1400" dirty="0">
              <a:solidFill>
                <a:srgbClr val="000000"/>
              </a:solidFill>
            </a:endParaRPr>
          </a:p>
        </p:txBody>
      </p:sp>
    </p:spTree>
    <p:extLst>
      <p:ext uri="{BB962C8B-B14F-4D97-AF65-F5344CB8AC3E}">
        <p14:creationId xmlns:p14="http://schemas.microsoft.com/office/powerpoint/2010/main" val="7420554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rtl="0" fontAlgn="base">
        <a:spcBef>
          <a:spcPct val="0"/>
        </a:spcBef>
        <a:spcAft>
          <a:spcPct val="0"/>
        </a:spcAft>
        <a:defRPr sz="24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20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518C26"/>
          </a:solidFill>
          <a:ln>
            <a:noFill/>
          </a:ln>
          <a:effectLst/>
          <a:ex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3.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41324"/>
            <a:ext cx="9144000" cy="566739"/>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518C26"/>
          </a:solidFill>
          <a:ln>
            <a:noFill/>
          </a:ln>
          <a:effectLst/>
          <a:ex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19759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6.2</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Chemical Equations</a:t>
            </a:r>
            <a:endParaRPr lang="en-US" sz="2600" b="1" dirty="0">
              <a:solidFill>
                <a:srgbClr val="FFFFFF"/>
              </a:solidFill>
              <a:latin typeface="Arial" charset="0"/>
              <a:ea typeface="ＭＳ Ｐゴシック" charset="0"/>
            </a:endParaRPr>
          </a:p>
        </p:txBody>
      </p:sp>
      <p:sp>
        <p:nvSpPr>
          <p:cNvPr id="11" name="TextBox 10"/>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
        <p:nvSpPr>
          <p:cNvPr id="10" name="Text Box 11"/>
          <p:cNvSpPr txBox="1">
            <a:spLocks noChangeArrowheads="1"/>
          </p:cNvSpPr>
          <p:nvPr userDrawn="1"/>
        </p:nvSpPr>
        <p:spPr bwMode="auto">
          <a:xfrm>
            <a:off x="8163339" y="6600110"/>
            <a:ext cx="904461" cy="24622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defTabSz="914400" eaLnBrk="0" fontAlgn="base" hangingPunct="0">
              <a:spcBef>
                <a:spcPct val="50000"/>
              </a:spcBef>
              <a:spcAft>
                <a:spcPct val="0"/>
              </a:spcAft>
              <a:defRPr/>
            </a:pPr>
            <a:fld id="{0560D76E-58DE-BB48-A856-DF00B2B61D6F}" type="slidenum">
              <a:rPr lang="en-US" sz="1000" smtClean="0">
                <a:solidFill>
                  <a:srgbClr val="000000"/>
                </a:solidFill>
              </a:rPr>
              <a:pPr algn="r" defTabSz="914400" eaLnBrk="0" fontAlgn="base" hangingPunct="0">
                <a:spcBef>
                  <a:spcPct val="50000"/>
                </a:spcBef>
                <a:spcAft>
                  <a:spcPct val="0"/>
                </a:spcAft>
                <a:defRPr/>
              </a:pPr>
              <a:t>‹#›</a:t>
            </a:fld>
            <a:endParaRPr lang="en-US" sz="1400" dirty="0">
              <a:solidFill>
                <a:srgbClr val="000000"/>
              </a:solidFill>
            </a:endParaRPr>
          </a:p>
        </p:txBody>
      </p:sp>
    </p:spTree>
    <p:extLst>
      <p:ext uri="{BB962C8B-B14F-4D97-AF65-F5344CB8AC3E}">
        <p14:creationId xmlns:p14="http://schemas.microsoft.com/office/powerpoint/2010/main" val="420856380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20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518C26"/>
          </a:solidFill>
          <a:ln>
            <a:noFill/>
          </a:ln>
          <a:effectLst/>
          <a:ex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3.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41324"/>
            <a:ext cx="9144000" cy="566739"/>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518C26"/>
          </a:solidFill>
          <a:ln>
            <a:noFill/>
          </a:ln>
          <a:effectLst/>
          <a:ex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19759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6.3</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Balancing Chemical Equations</a:t>
            </a:r>
            <a:endParaRPr lang="en-US" sz="2600" b="1" dirty="0">
              <a:solidFill>
                <a:srgbClr val="FFFFFF"/>
              </a:solidFill>
              <a:latin typeface="Arial" charset="0"/>
              <a:ea typeface="ＭＳ Ｐゴシック" charset="0"/>
            </a:endParaRPr>
          </a:p>
        </p:txBody>
      </p:sp>
      <p:sp>
        <p:nvSpPr>
          <p:cNvPr id="11" name="TextBox 10"/>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
        <p:nvSpPr>
          <p:cNvPr id="10" name="Text Box 11"/>
          <p:cNvSpPr txBox="1">
            <a:spLocks noChangeArrowheads="1"/>
          </p:cNvSpPr>
          <p:nvPr userDrawn="1"/>
        </p:nvSpPr>
        <p:spPr bwMode="auto">
          <a:xfrm>
            <a:off x="8163339" y="6600110"/>
            <a:ext cx="904461" cy="24622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defTabSz="914400" eaLnBrk="0" fontAlgn="base" hangingPunct="0">
              <a:spcBef>
                <a:spcPct val="50000"/>
              </a:spcBef>
              <a:spcAft>
                <a:spcPct val="0"/>
              </a:spcAft>
              <a:defRPr/>
            </a:pPr>
            <a:fld id="{0560D76E-58DE-BB48-A856-DF00B2B61D6F}" type="slidenum">
              <a:rPr lang="en-US" sz="1000" smtClean="0">
                <a:solidFill>
                  <a:srgbClr val="000000"/>
                </a:solidFill>
              </a:rPr>
              <a:pPr algn="r" defTabSz="914400" eaLnBrk="0" fontAlgn="base" hangingPunct="0">
                <a:spcBef>
                  <a:spcPct val="50000"/>
                </a:spcBef>
                <a:spcAft>
                  <a:spcPct val="0"/>
                </a:spcAft>
                <a:defRPr/>
              </a:pPr>
              <a:t>‹#›</a:t>
            </a:fld>
            <a:endParaRPr lang="en-US" sz="1400" dirty="0">
              <a:solidFill>
                <a:srgbClr val="000000"/>
              </a:solidFill>
            </a:endParaRPr>
          </a:p>
        </p:txBody>
      </p:sp>
    </p:spTree>
    <p:extLst>
      <p:ext uri="{BB962C8B-B14F-4D97-AF65-F5344CB8AC3E}">
        <p14:creationId xmlns:p14="http://schemas.microsoft.com/office/powerpoint/2010/main" val="223968966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20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518C26"/>
          </a:solidFill>
          <a:ln>
            <a:noFill/>
          </a:ln>
          <a:effectLst/>
          <a:ex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3.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41324"/>
            <a:ext cx="9144000" cy="566739"/>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518C26"/>
          </a:solidFill>
          <a:ln>
            <a:noFill/>
          </a:ln>
          <a:effectLst/>
          <a:ex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19759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6.1</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Evidence for a Chemical Reaction</a:t>
            </a:r>
            <a:endParaRPr lang="en-US" sz="2600" b="1" dirty="0">
              <a:solidFill>
                <a:srgbClr val="FFFFFF"/>
              </a:solidFill>
              <a:latin typeface="Arial" charset="0"/>
              <a:ea typeface="ＭＳ Ｐゴシック" charset="0"/>
            </a:endParaRPr>
          </a:p>
        </p:txBody>
      </p:sp>
      <p:sp>
        <p:nvSpPr>
          <p:cNvPr id="1041" name="Rectangle 17"/>
          <p:cNvSpPr>
            <a:spLocks noGrp="1" noChangeArrowheads="1"/>
          </p:cNvSpPr>
          <p:nvPr>
            <p:ph type="ftr" sz="quarter" idx="3"/>
          </p:nvPr>
        </p:nvSpPr>
        <p:spPr bwMode="auto">
          <a:xfrm>
            <a:off x="87313" y="6618288"/>
            <a:ext cx="5867400" cy="228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000" baseline="0">
                <a:latin typeface="+mn-lt"/>
              </a:defRPr>
            </a:lvl1pPr>
          </a:lstStyle>
          <a:p>
            <a:pPr defTabSz="914400" eaLnBrk="0" fontAlgn="base" hangingPunct="0">
              <a:spcBef>
                <a:spcPct val="0"/>
              </a:spcBef>
              <a:spcAft>
                <a:spcPct val="0"/>
              </a:spcAft>
            </a:pPr>
            <a:r>
              <a:rPr lang="en-US" dirty="0">
                <a:solidFill>
                  <a:srgbClr val="000000"/>
                </a:solidFill>
                <a:latin typeface="Arial"/>
                <a:ea typeface="ＭＳ Ｐゴシック" charset="0"/>
              </a:rPr>
              <a:t>Copyright © </a:t>
            </a:r>
            <a:r>
              <a:rPr lang="en-US" dirty="0" err="1">
                <a:solidFill>
                  <a:srgbClr val="000000"/>
                </a:solidFill>
                <a:latin typeface="Arial"/>
                <a:ea typeface="ＭＳ Ｐゴシック" charset="0"/>
              </a:rPr>
              <a:t>Cengage</a:t>
            </a:r>
            <a:r>
              <a:rPr lang="en-US" dirty="0">
                <a:solidFill>
                  <a:srgbClr val="000000"/>
                </a:solidFill>
                <a:latin typeface="Arial"/>
                <a:ea typeface="ＭＳ Ｐゴシック" charset="0"/>
              </a:rPr>
              <a:t> Learning. All rights reserved</a:t>
            </a:r>
          </a:p>
        </p:txBody>
      </p:sp>
      <p:sp>
        <p:nvSpPr>
          <p:cNvPr id="11" name="Text Box 11"/>
          <p:cNvSpPr txBox="1">
            <a:spLocks noChangeArrowheads="1"/>
          </p:cNvSpPr>
          <p:nvPr userDrawn="1"/>
        </p:nvSpPr>
        <p:spPr bwMode="auto">
          <a:xfrm>
            <a:off x="8163339" y="6600110"/>
            <a:ext cx="904461" cy="24622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defTabSz="914400" eaLnBrk="0" fontAlgn="base" hangingPunct="0">
              <a:spcBef>
                <a:spcPct val="50000"/>
              </a:spcBef>
              <a:spcAft>
                <a:spcPct val="0"/>
              </a:spcAft>
              <a:defRPr/>
            </a:pPr>
            <a:fld id="{0560D76E-58DE-BB48-A856-DF00B2B61D6F}" type="slidenum">
              <a:rPr lang="en-US" sz="1000" smtClean="0">
                <a:solidFill>
                  <a:srgbClr val="000000"/>
                </a:solidFill>
              </a:rPr>
              <a:pPr algn="r" defTabSz="914400" eaLnBrk="0" fontAlgn="base" hangingPunct="0">
                <a:spcBef>
                  <a:spcPct val="50000"/>
                </a:spcBef>
                <a:spcAft>
                  <a:spcPct val="0"/>
                </a:spcAft>
                <a:defRPr/>
              </a:pPr>
              <a:t>‹#›</a:t>
            </a:fld>
            <a:endParaRPr lang="en-US" sz="1400" dirty="0">
              <a:solidFill>
                <a:srgbClr val="000000"/>
              </a:solidFill>
            </a:endParaRPr>
          </a:p>
        </p:txBody>
      </p:sp>
    </p:spTree>
    <p:extLst>
      <p:ext uri="{BB962C8B-B14F-4D97-AF65-F5344CB8AC3E}">
        <p14:creationId xmlns:p14="http://schemas.microsoft.com/office/powerpoint/2010/main" val="390155453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20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4.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4" name="Rectangle 6"/>
          <p:cNvSpPr>
            <a:spLocks noGrp="1" noChangeArrowheads="1"/>
          </p:cNvSpPr>
          <p:nvPr>
            <p:ph type="ctrTitle"/>
          </p:nvPr>
        </p:nvSpPr>
        <p:spPr/>
        <p:txBody>
          <a:bodyPr/>
          <a:lstStyle/>
          <a:p>
            <a:pPr eaLnBrk="1" hangingPunct="1">
              <a:defRPr/>
            </a:pPr>
            <a:r>
              <a:rPr lang="en-US" sz="2800" dirty="0">
                <a:cs typeface="+mj-cs"/>
              </a:rPr>
              <a:t>Chapter 6</a:t>
            </a:r>
            <a:endParaRPr lang="en-US" dirty="0">
              <a:cs typeface="+mj-cs"/>
            </a:endParaRPr>
          </a:p>
        </p:txBody>
      </p:sp>
      <p:sp>
        <p:nvSpPr>
          <p:cNvPr id="191495" name="Rectangle 7"/>
          <p:cNvSpPr>
            <a:spLocks noGrp="1" noChangeArrowheads="1"/>
          </p:cNvSpPr>
          <p:nvPr>
            <p:ph type="subTitle" idx="1"/>
          </p:nvPr>
        </p:nvSpPr>
        <p:spPr>
          <a:xfrm>
            <a:off x="5257800" y="3276600"/>
            <a:ext cx="3200400" cy="830997"/>
          </a:xfrm>
        </p:spPr>
        <p:txBody>
          <a:bodyPr/>
          <a:lstStyle/>
          <a:p>
            <a:r>
              <a:rPr lang="en-US" dirty="0"/>
              <a:t>Chemical Reactions: An Introduction</a:t>
            </a:r>
            <a:endParaRPr lang="en-US" dirty="0">
              <a:solidFill>
                <a:srgbClr val="FF0000"/>
              </a:solidFill>
            </a:endParaRPr>
          </a:p>
        </p:txBody>
      </p:sp>
      <p:sp>
        <p:nvSpPr>
          <p:cNvPr id="4" name="TextBox 3"/>
          <p:cNvSpPr txBox="1"/>
          <p:nvPr/>
        </p:nvSpPr>
        <p:spPr>
          <a:xfrm>
            <a:off x="136634" y="6627022"/>
            <a:ext cx="861060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ＭＳ Ｐゴシック"/>
                <a:cs typeface="+mn-cs"/>
              </a:rPr>
              <a:t>Copyright ©2019 Cengage Learning. All Rights Reserved. May not be scanned, copied or duplicated, or posted to a publicly accessible website, in whole or in part.</a:t>
            </a:r>
            <a:endParaRPr kumimoji="0" lang="en-IN" sz="1000" b="0" i="0" u="none" strike="noStrike" kern="1200" cap="none" spc="0" normalizeH="0" baseline="0" noProof="0" dirty="0">
              <a:ln>
                <a:noFill/>
              </a:ln>
              <a:solidFill>
                <a:srgbClr val="000000"/>
              </a:solidFill>
              <a:effectLst/>
              <a:uLnTx/>
              <a:uFillTx/>
              <a:latin typeface="Arial Narrow" panose="020B0606020202030204" pitchFamily="34" charset="0"/>
              <a:ea typeface="ＭＳ Ｐゴシック"/>
              <a:cs typeface="+mn-cs"/>
            </a:endParaRPr>
          </a:p>
        </p:txBody>
      </p:sp>
    </p:spTree>
    <p:extLst>
      <p:ext uri="{BB962C8B-B14F-4D97-AF65-F5344CB8AC3E}">
        <p14:creationId xmlns:p14="http://schemas.microsoft.com/office/powerpoint/2010/main" val="3278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5219" name="Rectangle 3"/>
          <p:cNvSpPr>
            <a:spLocks noGrp="1" noChangeArrowheads="1"/>
          </p:cNvSpPr>
          <p:nvPr>
            <p:ph type="title"/>
          </p:nvPr>
        </p:nvSpPr>
        <p:spPr/>
        <p:txBody>
          <a:bodyPr/>
          <a:lstStyle/>
          <a:p>
            <a:r>
              <a:rPr lang="en-US" dirty="0"/>
              <a:t>What are the clues that a chemical change has taken place?</a:t>
            </a:r>
          </a:p>
        </p:txBody>
      </p:sp>
      <p:sp>
        <p:nvSpPr>
          <p:cNvPr id="265218" name="Rectangle 2"/>
          <p:cNvSpPr>
            <a:spLocks noGrp="1" noChangeArrowheads="1"/>
          </p:cNvSpPr>
          <p:nvPr>
            <p:ph idx="1"/>
          </p:nvPr>
        </p:nvSpPr>
        <p:spPr>
          <a:xfrm>
            <a:off x="457200" y="1947472"/>
            <a:ext cx="8229600" cy="904863"/>
          </a:xfrm>
        </p:spPr>
        <p:txBody>
          <a:bodyPr/>
          <a:lstStyle/>
          <a:p>
            <a:r>
              <a:rPr lang="en-US" dirty="0"/>
              <a:t>Chemical reactions often give visual signals</a:t>
            </a:r>
          </a:p>
          <a:p>
            <a:r>
              <a:rPr lang="en-US" dirty="0"/>
              <a:t>However, reactions are not always visible</a:t>
            </a:r>
          </a:p>
        </p:txBody>
      </p:sp>
    </p:spTree>
    <p:extLst>
      <p:ext uri="{BB962C8B-B14F-4D97-AF65-F5344CB8AC3E}">
        <p14:creationId xmlns:p14="http://schemas.microsoft.com/office/powerpoint/2010/main" val="3049046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7" name="Rectangle 3"/>
          <p:cNvSpPr>
            <a:spLocks noGrp="1" noChangeArrowheads="1"/>
          </p:cNvSpPr>
          <p:nvPr>
            <p:ph type="title"/>
          </p:nvPr>
        </p:nvSpPr>
        <p:spPr/>
        <p:txBody>
          <a:bodyPr/>
          <a:lstStyle/>
          <a:p>
            <a:r>
              <a:rPr lang="en-US" dirty="0"/>
              <a:t>Some Clues That a Chemical Reaction Has Occurred</a:t>
            </a:r>
          </a:p>
        </p:txBody>
      </p:sp>
      <p:pic>
        <p:nvPicPr>
          <p:cNvPr id="3" name="Picture 2" title="Table 6.1 Some Clues That a Chemical Reaction Has Occurr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8637" y="2095314"/>
            <a:ext cx="5146726" cy="3231128"/>
          </a:xfrm>
          <a:prstGeom prst="rect">
            <a:avLst/>
          </a:prstGeom>
        </p:spPr>
      </p:pic>
    </p:spTree>
    <p:extLst>
      <p:ext uri="{BB962C8B-B14F-4D97-AF65-F5344CB8AC3E}">
        <p14:creationId xmlns:p14="http://schemas.microsoft.com/office/powerpoint/2010/main" val="2839399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1524000" y="1143000"/>
            <a:ext cx="7086600" cy="533400"/>
          </a:xfrm>
        </p:spPr>
        <p:txBody>
          <a:bodyPr/>
          <a:lstStyle/>
          <a:p>
            <a:r>
              <a:rPr lang="en-US" dirty="0"/>
              <a:t>Exercise, 1</a:t>
            </a:r>
          </a:p>
        </p:txBody>
      </p:sp>
      <p:sp>
        <p:nvSpPr>
          <p:cNvPr id="107523" name="Rectangle 3"/>
          <p:cNvSpPr>
            <a:spLocks noGrp="1" noChangeArrowheads="1"/>
          </p:cNvSpPr>
          <p:nvPr>
            <p:ph type="body" idx="1"/>
          </p:nvPr>
        </p:nvSpPr>
        <p:spPr>
          <a:xfrm>
            <a:off x="381000" y="2133600"/>
            <a:ext cx="8229600" cy="3046988"/>
          </a:xfrm>
        </p:spPr>
        <p:txBody>
          <a:bodyPr/>
          <a:lstStyle/>
          <a:p>
            <a:pPr marL="739775" indent="7938">
              <a:buFontTx/>
              <a:buNone/>
            </a:pPr>
            <a:r>
              <a:rPr lang="en-US" dirty="0"/>
              <a:t>Identify a </a:t>
            </a:r>
            <a:r>
              <a:rPr lang="en-US" dirty="0">
                <a:solidFill>
                  <a:srgbClr val="0000FF"/>
                </a:solidFill>
              </a:rPr>
              <a:t>clue</a:t>
            </a:r>
            <a:r>
              <a:rPr lang="en-US" dirty="0"/>
              <a:t> that indicates a reaction has occurred in the given image</a:t>
            </a:r>
            <a:endParaRPr lang="en-US" dirty="0">
              <a:solidFill>
                <a:srgbClr val="FF0000"/>
              </a:solidFill>
            </a:endParaRPr>
          </a:p>
          <a:p>
            <a:pPr marL="1376363" lvl="1" indent="-514350">
              <a:buFontTx/>
              <a:buNone/>
            </a:pPr>
            <a:r>
              <a:rPr lang="en-US" sz="2400" dirty="0"/>
              <a:t>a)	The color changes</a:t>
            </a:r>
          </a:p>
          <a:p>
            <a:pPr marL="1376363" lvl="1" indent="-514350">
              <a:buFontTx/>
              <a:buNone/>
            </a:pPr>
            <a:r>
              <a:rPr lang="en-US" sz="2400" dirty="0"/>
              <a:t>b)	A solid forms</a:t>
            </a:r>
          </a:p>
          <a:p>
            <a:pPr marL="1376363" lvl="1" indent="-514350">
              <a:buFontTx/>
              <a:buNone/>
            </a:pPr>
            <a:r>
              <a:rPr lang="en-US" sz="2400" dirty="0"/>
              <a:t>c)	Bubbles are present</a:t>
            </a:r>
          </a:p>
          <a:p>
            <a:pPr marL="1376363" lvl="1" indent="-514350">
              <a:buFontTx/>
              <a:buNone/>
            </a:pPr>
            <a:r>
              <a:rPr lang="en-US" sz="2400" dirty="0"/>
              <a:t>d)	A flame is produced</a:t>
            </a:r>
          </a:p>
          <a:p>
            <a:pPr marL="739775" indent="7938">
              <a:buFontTx/>
              <a:buNone/>
            </a:pPr>
            <a:endParaRPr lang="en-US" dirty="0">
              <a:solidFill>
                <a:srgbClr val="009900"/>
              </a:solidFill>
            </a:endParaRPr>
          </a:p>
        </p:txBody>
      </p:sp>
      <p:sp>
        <p:nvSpPr>
          <p:cNvPr id="107533" name="Rectangle 13" descr="null"/>
          <p:cNvSpPr>
            <a:spLocks noChangeArrowheads="1"/>
          </p:cNvSpPr>
          <p:nvPr/>
        </p:nvSpPr>
        <p:spPr bwMode="auto">
          <a:xfrm>
            <a:off x="1257300" y="3804963"/>
            <a:ext cx="3445329" cy="457200"/>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pic>
        <p:nvPicPr>
          <p:cNvPr id="3" name="Picture 2" descr="A photo shows a glass beaker with a battery immersed in the water. An illustration zoomed from one terminal of the battery represents oxygen gas that shows diatomic molecules of oxygen.  An illustration zoomed from other terminal of the battery represents hydrogen gas that shows diatomic molecules of hydrogen.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4030" y="2810815"/>
            <a:ext cx="3787446" cy="3081985"/>
          </a:xfrm>
          <a:prstGeom prst="rect">
            <a:avLst/>
          </a:prstGeom>
        </p:spPr>
      </p:pic>
    </p:spTree>
    <p:extLst>
      <p:ext uri="{BB962C8B-B14F-4D97-AF65-F5344CB8AC3E}">
        <p14:creationId xmlns:p14="http://schemas.microsoft.com/office/powerpoint/2010/main" val="4184643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a:xfrm>
            <a:off x="1524000" y="1143000"/>
            <a:ext cx="7086600" cy="533400"/>
          </a:xfrm>
        </p:spPr>
        <p:txBody>
          <a:bodyPr/>
          <a:lstStyle/>
          <a:p>
            <a:r>
              <a:rPr lang="en-US" dirty="0"/>
              <a:t>Exercise, 2</a:t>
            </a:r>
          </a:p>
        </p:txBody>
      </p:sp>
      <p:sp>
        <p:nvSpPr>
          <p:cNvPr id="282627" name="Rectangle 3"/>
          <p:cNvSpPr>
            <a:spLocks noGrp="1" noChangeArrowheads="1"/>
          </p:cNvSpPr>
          <p:nvPr>
            <p:ph type="body" idx="1"/>
          </p:nvPr>
        </p:nvSpPr>
        <p:spPr>
          <a:xfrm>
            <a:off x="381000" y="2133600"/>
            <a:ext cx="8229600" cy="3859518"/>
          </a:xfrm>
        </p:spPr>
        <p:txBody>
          <a:bodyPr/>
          <a:lstStyle/>
          <a:p>
            <a:pPr marL="747713" indent="-1588">
              <a:buFontTx/>
              <a:buNone/>
            </a:pPr>
            <a:r>
              <a:rPr lang="en-US" dirty="0"/>
              <a:t>Identify a </a:t>
            </a:r>
            <a:r>
              <a:rPr lang="en-US" dirty="0">
                <a:solidFill>
                  <a:srgbClr val="0000FF"/>
                </a:solidFill>
              </a:rPr>
              <a:t>clue</a:t>
            </a:r>
            <a:r>
              <a:rPr lang="en-US" dirty="0"/>
              <a:t> that indicates a reaction has occurred in the statement and in the given image</a:t>
            </a:r>
          </a:p>
          <a:p>
            <a:pPr marL="747713" indent="-1588">
              <a:buFontTx/>
              <a:buNone/>
            </a:pPr>
            <a:r>
              <a:rPr lang="ja-JP" altLang="en-US" dirty="0"/>
              <a:t>“</a:t>
            </a:r>
            <a:r>
              <a:rPr lang="en-US" dirty="0"/>
              <a:t>Colorless hydrochloric acid is added to a red solution of cobalt(II) nitrate, turning the solution blue</a:t>
            </a:r>
            <a:r>
              <a:rPr lang="ja-JP" altLang="en-US" dirty="0"/>
              <a:t>”</a:t>
            </a:r>
            <a:endParaRPr lang="en-US" dirty="0">
              <a:solidFill>
                <a:srgbClr val="FF0000"/>
              </a:solidFill>
            </a:endParaRPr>
          </a:p>
          <a:p>
            <a:pPr marL="747713" indent="-1588">
              <a:buFontTx/>
              <a:buNone/>
            </a:pPr>
            <a:endParaRPr lang="en-US" dirty="0">
              <a:solidFill>
                <a:srgbClr val="FF0000"/>
              </a:solidFill>
            </a:endParaRPr>
          </a:p>
          <a:p>
            <a:pPr marL="1314450" lvl="1" indent="-452438">
              <a:buFontTx/>
              <a:buNone/>
            </a:pPr>
            <a:r>
              <a:rPr lang="en-US" sz="2400" dirty="0"/>
              <a:t>a)	The color changes</a:t>
            </a:r>
          </a:p>
          <a:p>
            <a:pPr marL="1314450" lvl="1" indent="-452438">
              <a:buFontTx/>
              <a:buNone/>
            </a:pPr>
            <a:r>
              <a:rPr lang="en-US" sz="2400" dirty="0"/>
              <a:t>b)	A solid forms</a:t>
            </a:r>
          </a:p>
          <a:p>
            <a:pPr marL="1314450" lvl="1" indent="-452438">
              <a:buFontTx/>
              <a:buNone/>
            </a:pPr>
            <a:r>
              <a:rPr lang="en-US" sz="2400" dirty="0"/>
              <a:t>c)	Bubbles are present</a:t>
            </a:r>
          </a:p>
          <a:p>
            <a:pPr marL="1314450" lvl="1" indent="-452438">
              <a:buFontTx/>
              <a:buNone/>
            </a:pPr>
            <a:r>
              <a:rPr lang="en-US" sz="2400" dirty="0"/>
              <a:t>d)	A flame is produced</a:t>
            </a:r>
            <a:endParaRPr lang="en-US" sz="2400" dirty="0">
              <a:solidFill>
                <a:srgbClr val="FF0000"/>
              </a:solidFill>
            </a:endParaRPr>
          </a:p>
        </p:txBody>
      </p:sp>
      <p:sp>
        <p:nvSpPr>
          <p:cNvPr id="282632" name="Rectangle 8" descr="null"/>
          <p:cNvSpPr>
            <a:spLocks noChangeArrowheads="1"/>
          </p:cNvSpPr>
          <p:nvPr/>
        </p:nvSpPr>
        <p:spPr bwMode="auto">
          <a:xfrm>
            <a:off x="1125925" y="4205512"/>
            <a:ext cx="3276600" cy="381000"/>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pic>
        <p:nvPicPr>
          <p:cNvPr id="4" name="Picture 3" descr="a photo showing three flasks. The flask on the left is filled with a red solution of cobalt(II) nitrate. The flask in the middle shows the red changing to blue as colorless hydrochloric acid is added using a pipette. The flask on the right contains the new blue solu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4678" y="3871381"/>
            <a:ext cx="3034740" cy="2652155"/>
          </a:xfrm>
          <a:prstGeom prst="rect">
            <a:avLst/>
          </a:prstGeom>
        </p:spPr>
      </p:pic>
    </p:spTree>
    <p:extLst>
      <p:ext uri="{BB962C8B-B14F-4D97-AF65-F5344CB8AC3E}">
        <p14:creationId xmlns:p14="http://schemas.microsoft.com/office/powerpoint/2010/main" val="2639949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1524000" y="1143000"/>
            <a:ext cx="7086600" cy="533400"/>
          </a:xfrm>
        </p:spPr>
        <p:txBody>
          <a:bodyPr/>
          <a:lstStyle/>
          <a:p>
            <a:r>
              <a:rPr lang="en-US" dirty="0"/>
              <a:t>Exercise, 3</a:t>
            </a:r>
          </a:p>
        </p:txBody>
      </p:sp>
      <p:sp>
        <p:nvSpPr>
          <p:cNvPr id="284675" name="Rectangle 3"/>
          <p:cNvSpPr>
            <a:spLocks noGrp="1" noChangeArrowheads="1"/>
          </p:cNvSpPr>
          <p:nvPr>
            <p:ph type="body" idx="1"/>
          </p:nvPr>
        </p:nvSpPr>
        <p:spPr>
          <a:xfrm>
            <a:off x="381000" y="2133600"/>
            <a:ext cx="8229600" cy="3416320"/>
          </a:xfrm>
        </p:spPr>
        <p:txBody>
          <a:bodyPr/>
          <a:lstStyle/>
          <a:p>
            <a:pPr marL="457200" indent="-60325">
              <a:buFontTx/>
              <a:buNone/>
            </a:pPr>
            <a:r>
              <a:rPr lang="en-US" dirty="0">
                <a:latin typeface="+mj-lt"/>
              </a:rPr>
              <a:t>	</a:t>
            </a:r>
            <a:r>
              <a:rPr lang="en-US" dirty="0"/>
              <a:t>Identify a </a:t>
            </a:r>
            <a:r>
              <a:rPr lang="en-US" dirty="0">
                <a:solidFill>
                  <a:srgbClr val="0000FF"/>
                </a:solidFill>
              </a:rPr>
              <a:t>clue</a:t>
            </a:r>
            <a:r>
              <a:rPr lang="en-US" dirty="0"/>
              <a:t> that indicates a reaction has occurred in the statement and in the given image</a:t>
            </a:r>
          </a:p>
          <a:p>
            <a:pPr marL="457200" indent="-60325">
              <a:buFontTx/>
              <a:buNone/>
            </a:pPr>
            <a:r>
              <a:rPr lang="ja-JP" altLang="en-US" dirty="0"/>
              <a:t>“</a:t>
            </a:r>
            <a:r>
              <a:rPr lang="en-US" dirty="0"/>
              <a:t>A solid forms when a solution of sodium dichromate is added to a solution of lead nitrate</a:t>
            </a:r>
            <a:r>
              <a:rPr lang="ja-JP" altLang="en-US" dirty="0"/>
              <a:t>”</a:t>
            </a:r>
            <a:endParaRPr lang="en-US" dirty="0"/>
          </a:p>
          <a:p>
            <a:pPr marL="1028700" lvl="1" indent="-457200">
              <a:buFontTx/>
              <a:buNone/>
            </a:pPr>
            <a:r>
              <a:rPr lang="en-US" sz="2400" dirty="0"/>
              <a:t>a)	A gas forms</a:t>
            </a:r>
          </a:p>
          <a:p>
            <a:pPr marL="1028700" lvl="1" indent="-457200">
              <a:buFontTx/>
              <a:buNone/>
            </a:pPr>
            <a:r>
              <a:rPr lang="en-US" sz="2400" dirty="0"/>
              <a:t>b)	A solid forms</a:t>
            </a:r>
          </a:p>
          <a:p>
            <a:pPr marL="1028700" lvl="1" indent="-457200">
              <a:buFontTx/>
              <a:buNone/>
            </a:pPr>
            <a:r>
              <a:rPr lang="en-US" sz="2400" dirty="0"/>
              <a:t>c)	Bubbles are present</a:t>
            </a:r>
          </a:p>
          <a:p>
            <a:pPr marL="1028700" lvl="1" indent="-457200">
              <a:buFontTx/>
              <a:buNone/>
            </a:pPr>
            <a:r>
              <a:rPr lang="en-US" sz="2400" dirty="0"/>
              <a:t>d)	A flame is produced</a:t>
            </a:r>
          </a:p>
        </p:txBody>
      </p:sp>
      <p:sp>
        <p:nvSpPr>
          <p:cNvPr id="284680" name="Rectangle 8" descr="null"/>
          <p:cNvSpPr>
            <a:spLocks noChangeArrowheads="1"/>
          </p:cNvSpPr>
          <p:nvPr/>
        </p:nvSpPr>
        <p:spPr bwMode="auto">
          <a:xfrm>
            <a:off x="914400" y="4214073"/>
            <a:ext cx="2590800" cy="457200"/>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pic>
        <p:nvPicPr>
          <p:cNvPr id="3" name="Picture 2" descr="a photo showing a yellow solid forming in a beaker when a solution of sodium dichromate is poured into a solution of lead nitrat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7149" y="3354069"/>
            <a:ext cx="2458565" cy="3207167"/>
          </a:xfrm>
          <a:prstGeom prst="rect">
            <a:avLst/>
          </a:prstGeom>
        </p:spPr>
      </p:pic>
    </p:spTree>
    <p:extLst>
      <p:ext uri="{BB962C8B-B14F-4D97-AF65-F5344CB8AC3E}">
        <p14:creationId xmlns:p14="http://schemas.microsoft.com/office/powerpoint/2010/main" val="1175747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Chemical Reactions</a:t>
            </a:r>
          </a:p>
        </p:txBody>
      </p:sp>
      <p:sp>
        <p:nvSpPr>
          <p:cNvPr id="4" name="Content Placeholder 3"/>
          <p:cNvSpPr>
            <a:spLocks noGrp="1"/>
          </p:cNvSpPr>
          <p:nvPr>
            <p:ph idx="1"/>
          </p:nvPr>
        </p:nvSpPr>
        <p:spPr>
          <a:xfrm>
            <a:off x="457200" y="1752600"/>
            <a:ext cx="8229600" cy="2160591"/>
          </a:xfrm>
        </p:spPr>
        <p:txBody>
          <a:bodyPr/>
          <a:lstStyle/>
          <a:p>
            <a:r>
              <a:rPr lang="en-US" dirty="0">
                <a:cs typeface="Times New Roman" charset="0"/>
              </a:rPr>
              <a:t>Chemical reactions involve changing the ways in which the atoms in compounds are grouped</a:t>
            </a:r>
          </a:p>
          <a:p>
            <a:r>
              <a:rPr lang="en-US" dirty="0">
                <a:cs typeface="Times New Roman" charset="0"/>
              </a:rPr>
              <a:t>A chemical equation represents a chemical reaction </a:t>
            </a:r>
            <a:endParaRPr lang="en-US" dirty="0"/>
          </a:p>
          <a:p>
            <a:pPr lvl="1">
              <a:buFont typeface="Arial" panose="020B0604020202020204" pitchFamily="34" charset="0"/>
              <a:buChar char="−"/>
            </a:pPr>
            <a:r>
              <a:rPr lang="en-US" dirty="0">
                <a:latin typeface="Arial" charset="0"/>
                <a:cs typeface="Times New Roman" charset="0"/>
              </a:rPr>
              <a:t>Reactants are shown to the left of the arrow </a:t>
            </a:r>
            <a:r>
              <a:rPr lang="en-US" dirty="0">
                <a:latin typeface="Arial" charset="0"/>
              </a:rPr>
              <a:t> </a:t>
            </a:r>
          </a:p>
          <a:p>
            <a:pPr lvl="1">
              <a:buFont typeface="Arial" panose="020B0604020202020204" pitchFamily="34" charset="0"/>
              <a:buChar char="−"/>
            </a:pPr>
            <a:r>
              <a:rPr lang="en-US" dirty="0">
                <a:latin typeface="Arial" charset="0"/>
                <a:cs typeface="Times New Roman" charset="0"/>
              </a:rPr>
              <a:t>Products are shown to the right of the arrow</a:t>
            </a:r>
            <a:endParaRPr lang="en-US" dirty="0">
              <a:solidFill>
                <a:srgbClr val="FF0000"/>
              </a:solidFill>
              <a:latin typeface="Arial" charset="0"/>
              <a:cs typeface="Times New Roman" charset="0"/>
            </a:endParaRPr>
          </a:p>
        </p:txBody>
      </p:sp>
      <p:pic>
        <p:nvPicPr>
          <p:cNvPr id="5" name="Picture 4" descr="The chemical reaction shows methane (CH subscript 4) and oxygen (O subscript 2) reacting together to form carbon dioxide (CO subscript 2) and water (H subscript 2 O).  Methane and oxygen labeled as reactants, while carbon dioxide and water labeled as product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7996" y="3913191"/>
            <a:ext cx="5068007" cy="1952898"/>
          </a:xfrm>
          <a:prstGeom prst="rect">
            <a:avLst/>
          </a:prstGeom>
        </p:spPr>
      </p:pic>
    </p:spTree>
    <p:extLst>
      <p:ext uri="{BB962C8B-B14F-4D97-AF65-F5344CB8AC3E}">
        <p14:creationId xmlns:p14="http://schemas.microsoft.com/office/powerpoint/2010/main" val="2738067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Chemical Reactions </a:t>
            </a:r>
            <a:r>
              <a:rPr lang="en-IN" sz="1600" dirty="0"/>
              <a:t>(continued)</a:t>
            </a:r>
          </a:p>
        </p:txBody>
      </p:sp>
      <p:sp>
        <p:nvSpPr>
          <p:cNvPr id="6" name="Content Placeholder 5"/>
          <p:cNvSpPr>
            <a:spLocks noGrp="1"/>
          </p:cNvSpPr>
          <p:nvPr>
            <p:ph idx="1"/>
          </p:nvPr>
        </p:nvSpPr>
        <p:spPr>
          <a:xfrm>
            <a:off x="457200" y="1752600"/>
            <a:ext cx="8229600" cy="2388346"/>
          </a:xfrm>
        </p:spPr>
        <p:txBody>
          <a:bodyPr/>
          <a:lstStyle/>
          <a:p>
            <a:r>
              <a:rPr lang="en-US" dirty="0"/>
              <a:t>In a chemical reaction, atoms are neither created nor destroyed </a:t>
            </a:r>
          </a:p>
          <a:p>
            <a:r>
              <a:rPr lang="en-US" dirty="0"/>
              <a:t>All atoms present in the reactants must be accounted for among the products </a:t>
            </a:r>
          </a:p>
          <a:p>
            <a:pPr lvl="1">
              <a:buFont typeface="Arial" panose="020B0604020202020204" pitchFamily="34" charset="0"/>
              <a:buChar char="−"/>
            </a:pPr>
            <a:r>
              <a:rPr lang="en-US" dirty="0">
                <a:latin typeface="Arial" charset="0"/>
                <a:cs typeface="Times New Roman" charset="0"/>
              </a:rPr>
              <a:t>There must be same number of each type of atom on both sides of the arrow </a:t>
            </a:r>
          </a:p>
        </p:txBody>
      </p:sp>
    </p:spTree>
    <p:extLst>
      <p:ext uri="{BB962C8B-B14F-4D97-AF65-F5344CB8AC3E}">
        <p14:creationId xmlns:p14="http://schemas.microsoft.com/office/powerpoint/2010/main" val="262793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4915" name="Rectangle 3"/>
          <p:cNvSpPr>
            <a:spLocks noGrp="1" noChangeArrowheads="1"/>
          </p:cNvSpPr>
          <p:nvPr>
            <p:ph type="title"/>
          </p:nvPr>
        </p:nvSpPr>
        <p:spPr>
          <a:xfrm>
            <a:off x="457200" y="914400"/>
            <a:ext cx="8229600" cy="533400"/>
          </a:xfrm>
        </p:spPr>
        <p:txBody>
          <a:bodyPr/>
          <a:lstStyle/>
          <a:p>
            <a:r>
              <a:rPr lang="en-US" dirty="0"/>
              <a:t>Balancing a Chemical Equation</a:t>
            </a:r>
          </a:p>
        </p:txBody>
      </p:sp>
      <p:sp>
        <p:nvSpPr>
          <p:cNvPr id="294914" name="Rectangle 2"/>
          <p:cNvSpPr>
            <a:spLocks noGrp="1" noChangeArrowheads="1"/>
          </p:cNvSpPr>
          <p:nvPr>
            <p:ph type="body" idx="1"/>
          </p:nvPr>
        </p:nvSpPr>
        <p:spPr>
          <a:xfrm>
            <a:off x="533400" y="1358900"/>
            <a:ext cx="7543800" cy="5226046"/>
          </a:xfrm>
        </p:spPr>
        <p:txBody>
          <a:bodyPr/>
          <a:lstStyle/>
          <a:p>
            <a:pPr marL="533400" indent="-533400"/>
            <a:r>
              <a:rPr lang="en-US" dirty="0"/>
              <a:t>Unbalanced equation</a:t>
            </a:r>
          </a:p>
          <a:p>
            <a:pPr marL="533400" indent="-533400">
              <a:buFontTx/>
              <a:buNone/>
            </a:pPr>
            <a:endParaRPr lang="en-US" dirty="0">
              <a:solidFill>
                <a:srgbClr val="FF0000"/>
              </a:solidFill>
            </a:endParaRPr>
          </a:p>
          <a:p>
            <a:pPr marL="533400" indent="-533400">
              <a:buFontTx/>
              <a:buNone/>
            </a:pPr>
            <a:endParaRPr lang="en-US" dirty="0">
              <a:solidFill>
                <a:srgbClr val="FF0000"/>
              </a:solidFill>
            </a:endParaRPr>
          </a:p>
          <a:p>
            <a:pPr marL="533400" indent="-533400">
              <a:buFontTx/>
              <a:buNone/>
            </a:pPr>
            <a:endParaRPr lang="en-US" dirty="0">
              <a:solidFill>
                <a:srgbClr val="FF0000"/>
              </a:solidFill>
            </a:endParaRPr>
          </a:p>
          <a:p>
            <a:pPr marL="0" indent="0">
              <a:buNone/>
            </a:pPr>
            <a:endParaRPr lang="en-US" sz="1100" dirty="0"/>
          </a:p>
          <a:p>
            <a:pPr marL="533400" indent="-533400"/>
            <a:r>
              <a:rPr lang="en-US" dirty="0"/>
              <a:t>Balancing the equation</a:t>
            </a:r>
          </a:p>
          <a:p>
            <a:pPr marL="533400" indent="-533400">
              <a:buFontTx/>
              <a:buNone/>
            </a:pPr>
            <a:endParaRPr lang="en-US" dirty="0">
              <a:solidFill>
                <a:srgbClr val="FF0000"/>
              </a:solidFill>
            </a:endParaRPr>
          </a:p>
          <a:p>
            <a:pPr marL="533400" indent="-533400">
              <a:buFontTx/>
              <a:buNone/>
            </a:pPr>
            <a:endParaRPr lang="en-US" dirty="0">
              <a:solidFill>
                <a:srgbClr val="FF0000"/>
              </a:solidFill>
            </a:endParaRPr>
          </a:p>
          <a:p>
            <a:pPr marL="533400" indent="-533400">
              <a:buFontTx/>
              <a:buNone/>
            </a:pPr>
            <a:endParaRPr lang="en-US" dirty="0">
              <a:solidFill>
                <a:srgbClr val="FF0000"/>
              </a:solidFill>
            </a:endParaRPr>
          </a:p>
          <a:p>
            <a:pPr marL="533400" indent="-533400">
              <a:buFontTx/>
              <a:buNone/>
            </a:pPr>
            <a:endParaRPr lang="en-US" dirty="0">
              <a:solidFill>
                <a:srgbClr val="FF0000"/>
              </a:solidFill>
            </a:endParaRPr>
          </a:p>
          <a:p>
            <a:pPr marL="0" indent="0">
              <a:buNone/>
            </a:pPr>
            <a:endParaRPr lang="en-US" sz="1100" dirty="0"/>
          </a:p>
          <a:p>
            <a:pPr marL="533400" indent="-533400"/>
            <a:r>
              <a:rPr lang="en-US" dirty="0"/>
              <a:t>The balanced equation</a:t>
            </a:r>
            <a:br>
              <a:rPr lang="en-US" dirty="0"/>
            </a:br>
            <a:r>
              <a:rPr lang="en-US" dirty="0"/>
              <a:t>CH</a:t>
            </a:r>
            <a:r>
              <a:rPr lang="en-US" baseline="-25000" dirty="0"/>
              <a:t>4</a:t>
            </a:r>
            <a:r>
              <a:rPr lang="en-US" dirty="0"/>
              <a:t> + 2O</a:t>
            </a:r>
            <a:r>
              <a:rPr lang="en-US" baseline="-25000" dirty="0"/>
              <a:t>2</a:t>
            </a:r>
            <a:r>
              <a:rPr lang="en-US" dirty="0"/>
              <a:t> </a:t>
            </a:r>
            <a:r>
              <a:rPr lang="en-US" dirty="0">
                <a:sym typeface="Symbol" charset="0"/>
              </a:rPr>
              <a:t></a:t>
            </a:r>
            <a:r>
              <a:rPr lang="en-US" dirty="0"/>
              <a:t> CO</a:t>
            </a:r>
            <a:r>
              <a:rPr lang="en-US" baseline="-25000" dirty="0"/>
              <a:t>2</a:t>
            </a:r>
            <a:r>
              <a:rPr lang="en-US" dirty="0"/>
              <a:t> + 2H</a:t>
            </a:r>
            <a:r>
              <a:rPr lang="en-US" baseline="-25000" dirty="0"/>
              <a:t>2</a:t>
            </a:r>
            <a:r>
              <a:rPr lang="en-US" dirty="0"/>
              <a:t>O</a:t>
            </a:r>
          </a:p>
        </p:txBody>
      </p:sp>
      <p:pic>
        <p:nvPicPr>
          <p:cNvPr id="4" name="Picture 3" descr="The chemical reaction shows methane (CH subscript 4) and diatomic molecules of oxygen (O subscript 2) reacting together to form carbon dioxide (CO subscript 2) and water (H subscript 2 O). Accompanied circular representation shows total number of atoms in the molecules as follows: methane represents 1 carbon and 4 hydrogen atoms; diatomic molecules represent two oxygen atoms; carbon dioxide represents one carbon and two oxygen atoms; water represents one oxygen and two hydrogen atoms. Total numbers of atoms in the reactants are 1 carbon, 4 hydrogen, and 2 oxygen atoms. Total numbers of atoms in the products are 1 carbon, 2 hydrogen, and 3 oxygen atom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5345" y="1783184"/>
            <a:ext cx="3831885" cy="1497045"/>
          </a:xfrm>
          <a:prstGeom prst="rect">
            <a:avLst/>
          </a:prstGeom>
        </p:spPr>
      </p:pic>
      <p:pic>
        <p:nvPicPr>
          <p:cNvPr id="5" name="Picture 4" descr="An illustration shows methane (CH subscript 4), oxygen (O subscript 2), and oxygen (O subscript 2) undergone chemical reaction to yield carbon dioxide (CO subscript 2), water (H subscript 2 O), and water (H subscript 2 O) accompanied with the circular representation and total atoms in the above molecules. The circular representation of methane shows 1 carbon and 4 hydrogen atoms. The circular representation of oxygen shows two oxygen atoms. The circular representation of carbon dioxide shows one carbon and two oxygen atoms. The circular representation of water shows one oxygen and two hydrogen atoms. Total numbers of atoms in the reactant side are 1 carbon, 4 hydrogen, and 4 oxygen atoms. Total numbers of atoms in the product side are 1 carbon, 4 oxygen, and 4 hydrogen atom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93372" y="3898900"/>
            <a:ext cx="6328228" cy="1774385"/>
          </a:xfrm>
          <a:prstGeom prst="rect">
            <a:avLst/>
          </a:prstGeom>
        </p:spPr>
      </p:pic>
    </p:spTree>
    <p:extLst>
      <p:ext uri="{BB962C8B-B14F-4D97-AF65-F5344CB8AC3E}">
        <p14:creationId xmlns:p14="http://schemas.microsoft.com/office/powerpoint/2010/main" val="360036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63" name="Rectangle 3"/>
          <p:cNvSpPr>
            <a:spLocks noGrp="1" noChangeArrowheads="1"/>
          </p:cNvSpPr>
          <p:nvPr>
            <p:ph type="title"/>
          </p:nvPr>
        </p:nvSpPr>
        <p:spPr/>
        <p:txBody>
          <a:bodyPr/>
          <a:lstStyle/>
          <a:p>
            <a:r>
              <a:rPr lang="en-US" dirty="0"/>
              <a:t>Physical States</a:t>
            </a:r>
          </a:p>
        </p:txBody>
      </p:sp>
      <p:sp>
        <p:nvSpPr>
          <p:cNvPr id="296962" name="Rectangle 2"/>
          <p:cNvSpPr>
            <a:spLocks noGrp="1" noChangeArrowheads="1"/>
          </p:cNvSpPr>
          <p:nvPr>
            <p:ph idx="1"/>
          </p:nvPr>
        </p:nvSpPr>
        <p:spPr/>
        <p:txBody>
          <a:bodyPr/>
          <a:lstStyle/>
          <a:p>
            <a:r>
              <a:rPr lang="en-US" dirty="0"/>
              <a:t>Physical states of compounds are often given in a chemical equation</a:t>
            </a:r>
          </a:p>
        </p:txBody>
      </p:sp>
      <p:pic>
        <p:nvPicPr>
          <p:cNvPr id="296964" name="Picture 4" descr="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895600"/>
            <a:ext cx="7888288" cy="237013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980909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9011" name="Rectangle 3"/>
          <p:cNvSpPr>
            <a:spLocks noGrp="1" noChangeArrowheads="1"/>
          </p:cNvSpPr>
          <p:nvPr>
            <p:ph type="title"/>
          </p:nvPr>
        </p:nvSpPr>
        <p:spPr/>
        <p:txBody>
          <a:bodyPr/>
          <a:lstStyle/>
          <a:p>
            <a:r>
              <a:rPr lang="en-US" dirty="0"/>
              <a:t>Example</a:t>
            </a:r>
          </a:p>
        </p:txBody>
      </p:sp>
      <p:pic>
        <p:nvPicPr>
          <p:cNvPr id="299013" name="Picture 5" descr="chemical equation showing solid potassium reacting with water to form hydrogen gas and potassium hydroxide disolved in wa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828800"/>
            <a:ext cx="7202488" cy="1160463"/>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2" descr="A set of three photos are shown. The first, labeled a, shows a test tube containing pieces of silver colored metal immersed in a clear solution. The second, labeled b, shows a beaker containing clear solution. The third, labeled c, shows a clear solution in a beaker turning milky and flames show above the surface of the solution. "/>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902" y="3141664"/>
            <a:ext cx="8311631" cy="2809194"/>
          </a:xfrm>
          <a:prstGeom prst="rect">
            <a:avLst/>
          </a:prstGeom>
        </p:spPr>
      </p:pic>
    </p:spTree>
    <p:extLst>
      <p:ext uri="{BB962C8B-B14F-4D97-AF65-F5344CB8AC3E}">
        <p14:creationId xmlns:p14="http://schemas.microsoft.com/office/powerpoint/2010/main" val="2349590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682" name="Rectangle 2"/>
          <p:cNvSpPr>
            <a:spLocks noGrp="1" noChangeArrowheads="1"/>
          </p:cNvSpPr>
          <p:nvPr>
            <p:ph type="title"/>
          </p:nvPr>
        </p:nvSpPr>
        <p:spPr/>
        <p:txBody>
          <a:bodyPr/>
          <a:lstStyle/>
          <a:p>
            <a:r>
              <a:rPr lang="en-US" dirty="0"/>
              <a:t>	Exercise, 4</a:t>
            </a:r>
          </a:p>
        </p:txBody>
      </p:sp>
      <p:sp>
        <p:nvSpPr>
          <p:cNvPr id="327683" name="Rectangle 3"/>
          <p:cNvSpPr>
            <a:spLocks noGrp="1" noChangeArrowheads="1"/>
          </p:cNvSpPr>
          <p:nvPr>
            <p:ph type="body" idx="1"/>
          </p:nvPr>
        </p:nvSpPr>
        <p:spPr>
          <a:xfrm>
            <a:off x="457200" y="1752600"/>
            <a:ext cx="8229600" cy="3785652"/>
          </a:xfrm>
        </p:spPr>
        <p:txBody>
          <a:bodyPr/>
          <a:lstStyle/>
          <a:p>
            <a:pPr marL="0" indent="0">
              <a:buNone/>
            </a:pPr>
            <a:r>
              <a:rPr lang="en-US" dirty="0"/>
              <a:t>	</a:t>
            </a:r>
          </a:p>
          <a:p>
            <a:pPr marL="0" indent="0">
              <a:buNone/>
            </a:pPr>
            <a:r>
              <a:rPr lang="en-US" dirty="0"/>
              <a:t>When blue light shines on a mixture of hydrogen gas and chlorine gas, the elements react explosively to form gaseous hydrochloric acid. What is the unbalanced equation for this process?</a:t>
            </a:r>
          </a:p>
          <a:p>
            <a:pPr marL="457200" lvl="1" indent="0">
              <a:buNone/>
            </a:pPr>
            <a:r>
              <a:rPr lang="en-US" sz="2400" dirty="0"/>
              <a:t>a)	H</a:t>
            </a:r>
            <a:r>
              <a:rPr lang="en-US" sz="2400" baseline="-25000" dirty="0"/>
              <a:t>2</a:t>
            </a:r>
            <a:r>
              <a:rPr lang="en-US" sz="2400" dirty="0"/>
              <a:t>(g) + CH</a:t>
            </a:r>
            <a:r>
              <a:rPr lang="en-US" sz="2400" baseline="-25000" dirty="0"/>
              <a:t>4</a:t>
            </a:r>
            <a:r>
              <a:rPr lang="en-US" sz="2400" dirty="0"/>
              <a:t>(g) </a:t>
            </a:r>
            <a:r>
              <a:rPr lang="en-US" sz="2400" dirty="0">
                <a:sym typeface="Wingdings" panose="05000000000000000000" pitchFamily="2" charset="2"/>
              </a:rPr>
              <a:t></a:t>
            </a:r>
            <a:r>
              <a:rPr lang="en-US" sz="2400" dirty="0"/>
              <a:t> </a:t>
            </a:r>
            <a:r>
              <a:rPr lang="en-US" sz="2400" dirty="0" err="1"/>
              <a:t>HCl</a:t>
            </a:r>
            <a:r>
              <a:rPr lang="en-US" sz="2400" dirty="0"/>
              <a:t>(g) </a:t>
            </a:r>
          </a:p>
          <a:p>
            <a:pPr marL="457200" lvl="1" indent="0">
              <a:buNone/>
            </a:pPr>
            <a:r>
              <a:rPr lang="en-US" sz="2400" dirty="0"/>
              <a:t>b)	</a:t>
            </a:r>
            <a:r>
              <a:rPr lang="en-US" sz="2400" dirty="0" err="1"/>
              <a:t>HCl</a:t>
            </a:r>
            <a:r>
              <a:rPr lang="en-US" sz="2400" dirty="0"/>
              <a:t>(g) </a:t>
            </a:r>
            <a:r>
              <a:rPr lang="en-US" sz="2400" dirty="0">
                <a:sym typeface="Wingdings" panose="05000000000000000000" pitchFamily="2" charset="2"/>
              </a:rPr>
              <a:t></a:t>
            </a:r>
            <a:r>
              <a:rPr lang="en-US" sz="2400" dirty="0"/>
              <a:t> H(g) + Cl(g)</a:t>
            </a:r>
          </a:p>
          <a:p>
            <a:pPr marL="457200" lvl="1" indent="0">
              <a:buNone/>
            </a:pPr>
            <a:r>
              <a:rPr lang="en-US" sz="2400" dirty="0"/>
              <a:t>c)	H(g) + Cl(g) </a:t>
            </a:r>
            <a:r>
              <a:rPr lang="en-US" sz="2400" dirty="0">
                <a:sym typeface="Wingdings" panose="05000000000000000000" pitchFamily="2" charset="2"/>
              </a:rPr>
              <a:t></a:t>
            </a:r>
            <a:r>
              <a:rPr lang="en-US" sz="2400" dirty="0"/>
              <a:t> </a:t>
            </a:r>
            <a:r>
              <a:rPr lang="en-US" sz="2400" dirty="0" err="1"/>
              <a:t>HCl</a:t>
            </a:r>
            <a:r>
              <a:rPr lang="en-US" sz="2400" dirty="0"/>
              <a:t>(g) </a:t>
            </a:r>
          </a:p>
          <a:p>
            <a:pPr marL="457200" lvl="1" indent="0">
              <a:buNone/>
            </a:pPr>
            <a:r>
              <a:rPr lang="en-US" sz="2400" dirty="0"/>
              <a:t>d)	H</a:t>
            </a:r>
            <a:r>
              <a:rPr lang="en-US" sz="2400" baseline="-25000" dirty="0"/>
              <a:t>2</a:t>
            </a:r>
            <a:r>
              <a:rPr lang="en-US" sz="2400" dirty="0"/>
              <a:t>(g) + Cl</a:t>
            </a:r>
            <a:r>
              <a:rPr lang="en-US" sz="2400" baseline="-25000" dirty="0"/>
              <a:t>2</a:t>
            </a:r>
            <a:r>
              <a:rPr lang="en-US" sz="2400" dirty="0"/>
              <a:t>(g) </a:t>
            </a:r>
            <a:r>
              <a:rPr lang="en-US" sz="2400" dirty="0">
                <a:sym typeface="Wingdings" panose="05000000000000000000" pitchFamily="2" charset="2"/>
              </a:rPr>
              <a:t></a:t>
            </a:r>
            <a:r>
              <a:rPr lang="en-US" sz="2400" dirty="0"/>
              <a:t> </a:t>
            </a:r>
            <a:r>
              <a:rPr lang="en-US" sz="2400" dirty="0" err="1"/>
              <a:t>HCl</a:t>
            </a:r>
            <a:r>
              <a:rPr lang="en-US" sz="2400" dirty="0"/>
              <a:t>(g)</a:t>
            </a:r>
          </a:p>
        </p:txBody>
      </p:sp>
      <p:sp>
        <p:nvSpPr>
          <p:cNvPr id="327688" name="Rectangle 8" descr="null"/>
          <p:cNvSpPr>
            <a:spLocks noChangeArrowheads="1"/>
          </p:cNvSpPr>
          <p:nvPr/>
        </p:nvSpPr>
        <p:spPr bwMode="auto">
          <a:xfrm>
            <a:off x="897164" y="5044027"/>
            <a:ext cx="4648200" cy="474589"/>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743109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6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8"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Writing a Balanced Equation for a Chemical Reaction</a:t>
            </a:r>
          </a:p>
        </p:txBody>
      </p:sp>
      <p:sp>
        <p:nvSpPr>
          <p:cNvPr id="301058" name="Rectangle 2"/>
          <p:cNvSpPr>
            <a:spLocks noGrp="1" noChangeArrowheads="1"/>
          </p:cNvSpPr>
          <p:nvPr>
            <p:ph idx="1"/>
          </p:nvPr>
        </p:nvSpPr>
        <p:spPr>
          <a:xfrm>
            <a:off x="457200" y="1887511"/>
            <a:ext cx="8229600" cy="1975926"/>
          </a:xfrm>
        </p:spPr>
        <p:txBody>
          <a:bodyPr/>
          <a:lstStyle/>
          <a:p>
            <a:r>
              <a:rPr lang="en-US" dirty="0"/>
              <a:t>The principle that lies at the heart of the balancing process is that atoms are conserved in a chemical reaction</a:t>
            </a:r>
          </a:p>
          <a:p>
            <a:r>
              <a:rPr lang="en-US" dirty="0"/>
              <a:t>Atoms are neither created nor destroyed</a:t>
            </a:r>
          </a:p>
          <a:p>
            <a:r>
              <a:rPr lang="en-US" dirty="0"/>
              <a:t>The same number of each type of atom is found among the reactants and among the products</a:t>
            </a:r>
          </a:p>
        </p:txBody>
      </p:sp>
    </p:spTree>
    <p:extLst>
      <p:ext uri="{BB962C8B-B14F-4D97-AF65-F5344CB8AC3E}">
        <p14:creationId xmlns:p14="http://schemas.microsoft.com/office/powerpoint/2010/main" val="1983288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Writing a Balanced Equation for a Chemical Reaction </a:t>
            </a:r>
            <a:r>
              <a:rPr lang="en-IN" sz="1600" dirty="0"/>
              <a:t>(continued)</a:t>
            </a:r>
          </a:p>
        </p:txBody>
      </p:sp>
      <p:sp>
        <p:nvSpPr>
          <p:cNvPr id="303106" name="Rectangle 2"/>
          <p:cNvSpPr>
            <a:spLocks noGrp="1" noChangeArrowheads="1"/>
          </p:cNvSpPr>
          <p:nvPr>
            <p:ph idx="1"/>
          </p:nvPr>
        </p:nvSpPr>
        <p:spPr>
          <a:xfrm>
            <a:off x="457200" y="1917491"/>
            <a:ext cx="8229600" cy="1643527"/>
          </a:xfrm>
        </p:spPr>
        <p:txBody>
          <a:bodyPr/>
          <a:lstStyle/>
          <a:p>
            <a:r>
              <a:rPr lang="en-US" dirty="0"/>
              <a:t>Chemists determine the identity of the reactants and products of a reaction by experimental observation</a:t>
            </a:r>
          </a:p>
          <a:p>
            <a:r>
              <a:rPr lang="en-US" dirty="0"/>
              <a:t>The identities or formulas of the compounds must never be changed when balancing a chemical equation</a:t>
            </a:r>
          </a:p>
        </p:txBody>
      </p:sp>
    </p:spTree>
    <p:extLst>
      <p:ext uri="{BB962C8B-B14F-4D97-AF65-F5344CB8AC3E}">
        <p14:creationId xmlns:p14="http://schemas.microsoft.com/office/powerpoint/2010/main" val="1171154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251" name="Rectangle 3"/>
          <p:cNvSpPr>
            <a:spLocks noGrp="1" noChangeArrowheads="1"/>
          </p:cNvSpPr>
          <p:nvPr>
            <p:ph type="title"/>
          </p:nvPr>
        </p:nvSpPr>
        <p:spPr>
          <a:xfrm>
            <a:off x="457200" y="1143000"/>
            <a:ext cx="7924800" cy="533400"/>
          </a:xfrm>
        </p:spPr>
        <p:txBody>
          <a:bodyPr/>
          <a:lstStyle/>
          <a:p>
            <a:r>
              <a:rPr lang="en-US" dirty="0"/>
              <a:t>How to Write and Balance Equations</a:t>
            </a:r>
          </a:p>
        </p:txBody>
      </p:sp>
      <p:sp>
        <p:nvSpPr>
          <p:cNvPr id="181250" name="Rectangle 2"/>
          <p:cNvSpPr>
            <a:spLocks noGrp="1" noChangeArrowheads="1"/>
          </p:cNvSpPr>
          <p:nvPr>
            <p:ph type="body" idx="1"/>
          </p:nvPr>
        </p:nvSpPr>
        <p:spPr>
          <a:xfrm>
            <a:off x="533400" y="1676400"/>
            <a:ext cx="7315200" cy="3274743"/>
          </a:xfrm>
        </p:spPr>
        <p:txBody>
          <a:bodyPr/>
          <a:lstStyle/>
          <a:p>
            <a:pPr>
              <a:buClr>
                <a:schemeClr val="tx1"/>
              </a:buClr>
              <a:buFont typeface="Arial" panose="020B0604020202020204" pitchFamily="34" charset="0"/>
              <a:buChar char="•"/>
            </a:pPr>
            <a:r>
              <a:rPr lang="en-US" dirty="0"/>
              <a:t>Read the description of the chemical reaction. Identify the reactants, the products, and their states. Write the appropriate formulas.</a:t>
            </a:r>
          </a:p>
          <a:p>
            <a:pPr lvl="1">
              <a:buClr>
                <a:schemeClr val="tx1"/>
              </a:buClr>
              <a:buFont typeface="Arial" panose="020B0604020202020204" pitchFamily="34" charset="0"/>
              <a:buChar char="−"/>
            </a:pPr>
            <a:r>
              <a:rPr lang="en-US" dirty="0">
                <a:solidFill>
                  <a:srgbClr val="0000FF"/>
                </a:solidFill>
              </a:rPr>
              <a:t>Hydrogen gas or H</a:t>
            </a:r>
            <a:r>
              <a:rPr lang="en-US" baseline="-25000" dirty="0">
                <a:solidFill>
                  <a:srgbClr val="0000FF"/>
                </a:solidFill>
              </a:rPr>
              <a:t>2</a:t>
            </a:r>
            <a:r>
              <a:rPr lang="en-US" dirty="0">
                <a:solidFill>
                  <a:srgbClr val="0000FF"/>
                </a:solidFill>
              </a:rPr>
              <a:t> and oxygen gas or O</a:t>
            </a:r>
            <a:r>
              <a:rPr lang="en-US" baseline="-25000" dirty="0">
                <a:solidFill>
                  <a:srgbClr val="0000FF"/>
                </a:solidFill>
              </a:rPr>
              <a:t>2</a:t>
            </a:r>
            <a:r>
              <a:rPr lang="en-US" dirty="0">
                <a:solidFill>
                  <a:srgbClr val="0000FF"/>
                </a:solidFill>
              </a:rPr>
              <a:t> combine to form liquid water or H</a:t>
            </a:r>
            <a:r>
              <a:rPr lang="en-US" baseline="-25000" dirty="0">
                <a:solidFill>
                  <a:srgbClr val="0000FF"/>
                </a:solidFill>
              </a:rPr>
              <a:t>2</a:t>
            </a:r>
            <a:r>
              <a:rPr lang="en-US" dirty="0">
                <a:solidFill>
                  <a:srgbClr val="0000FF"/>
                </a:solidFill>
              </a:rPr>
              <a:t>O</a:t>
            </a:r>
          </a:p>
          <a:p>
            <a:pPr>
              <a:buClr>
                <a:schemeClr val="tx1"/>
              </a:buClr>
              <a:buFont typeface="Arial" panose="020B0604020202020204" pitchFamily="34" charset="0"/>
              <a:buChar char="•"/>
            </a:pPr>
            <a:r>
              <a:rPr lang="en-US" dirty="0"/>
              <a:t>Write the </a:t>
            </a:r>
            <a:r>
              <a:rPr lang="en-US" i="1" dirty="0"/>
              <a:t>unbalanced</a:t>
            </a:r>
            <a:r>
              <a:rPr lang="en-US" dirty="0"/>
              <a:t> equation that summarizes the information from the previous step</a:t>
            </a:r>
          </a:p>
          <a:p>
            <a:pPr marL="533400" indent="-533400">
              <a:buFontTx/>
              <a:buNone/>
            </a:pPr>
            <a:r>
              <a:rPr lang="en-US" sz="2800" dirty="0">
                <a:solidFill>
                  <a:srgbClr val="669900"/>
                </a:solidFill>
              </a:rPr>
              <a:t>		 </a:t>
            </a:r>
            <a:r>
              <a:rPr lang="en-US" sz="2000" dirty="0">
                <a:solidFill>
                  <a:srgbClr val="0000FF"/>
                </a:solidFill>
              </a:rPr>
              <a:t>H</a:t>
            </a:r>
            <a:r>
              <a:rPr lang="en-US" sz="2000" baseline="-25000" dirty="0">
                <a:solidFill>
                  <a:srgbClr val="0000FF"/>
                </a:solidFill>
              </a:rPr>
              <a:t>2</a:t>
            </a:r>
            <a:r>
              <a:rPr lang="en-US" sz="2000" i="1" dirty="0">
                <a:solidFill>
                  <a:srgbClr val="0000FF"/>
                </a:solidFill>
              </a:rPr>
              <a:t>(g)</a:t>
            </a:r>
            <a:r>
              <a:rPr lang="en-US" sz="2000" dirty="0">
                <a:solidFill>
                  <a:srgbClr val="0000FF"/>
                </a:solidFill>
              </a:rPr>
              <a:t> + O</a:t>
            </a:r>
            <a:r>
              <a:rPr lang="en-US" sz="2000" baseline="-25000" dirty="0">
                <a:solidFill>
                  <a:srgbClr val="0000FF"/>
                </a:solidFill>
              </a:rPr>
              <a:t>2</a:t>
            </a:r>
            <a:r>
              <a:rPr lang="en-US" sz="2000" i="1" dirty="0">
                <a:solidFill>
                  <a:srgbClr val="0000FF"/>
                </a:solidFill>
              </a:rPr>
              <a:t>(g)</a:t>
            </a:r>
            <a:r>
              <a:rPr lang="en-US" sz="2000" dirty="0">
                <a:solidFill>
                  <a:srgbClr val="0000FF"/>
                </a:solidFill>
              </a:rPr>
              <a:t> </a:t>
            </a:r>
            <a:r>
              <a:rPr lang="en-US" sz="2000" dirty="0">
                <a:solidFill>
                  <a:srgbClr val="0000FF"/>
                </a:solidFill>
                <a:sym typeface="Symbol" charset="0"/>
              </a:rPr>
              <a:t></a:t>
            </a:r>
            <a:r>
              <a:rPr lang="en-US" sz="2000" dirty="0">
                <a:solidFill>
                  <a:srgbClr val="0000FF"/>
                </a:solidFill>
              </a:rPr>
              <a:t> H</a:t>
            </a:r>
            <a:r>
              <a:rPr lang="en-US" sz="2000" baseline="-25000" dirty="0">
                <a:solidFill>
                  <a:srgbClr val="0000FF"/>
                </a:solidFill>
              </a:rPr>
              <a:t>2</a:t>
            </a:r>
            <a:r>
              <a:rPr lang="en-US" sz="2000" dirty="0">
                <a:solidFill>
                  <a:srgbClr val="0000FF"/>
                </a:solidFill>
              </a:rPr>
              <a:t>O</a:t>
            </a:r>
            <a:r>
              <a:rPr lang="en-US" sz="2000" i="1" dirty="0">
                <a:solidFill>
                  <a:srgbClr val="0000FF"/>
                </a:solidFill>
              </a:rPr>
              <a:t>(l)</a:t>
            </a:r>
            <a:r>
              <a:rPr lang="en-US" sz="2000" dirty="0"/>
              <a:t> 	</a:t>
            </a:r>
          </a:p>
        </p:txBody>
      </p:sp>
    </p:spTree>
    <p:extLst>
      <p:ext uri="{BB962C8B-B14F-4D97-AF65-F5344CB8AC3E}">
        <p14:creationId xmlns:p14="http://schemas.microsoft.com/office/powerpoint/2010/main" val="1461584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5155" name="Rectangle 3"/>
          <p:cNvSpPr>
            <a:spLocks noGrp="1" noChangeArrowheads="1"/>
          </p:cNvSpPr>
          <p:nvPr>
            <p:ph type="title"/>
          </p:nvPr>
        </p:nvSpPr>
        <p:spPr>
          <a:xfrm>
            <a:off x="457200" y="1143000"/>
            <a:ext cx="7924800" cy="533400"/>
          </a:xfrm>
        </p:spPr>
        <p:txBody>
          <a:bodyPr/>
          <a:lstStyle/>
          <a:p>
            <a:r>
              <a:rPr lang="en-US" dirty="0"/>
              <a:t>How to Write and Balance Equations </a:t>
            </a:r>
            <a:r>
              <a:rPr lang="en-US" sz="1600" dirty="0"/>
              <a:t>(continued 1)</a:t>
            </a:r>
          </a:p>
        </p:txBody>
      </p:sp>
      <p:sp>
        <p:nvSpPr>
          <p:cNvPr id="305154" name="Rectangle 2"/>
          <p:cNvSpPr>
            <a:spLocks noGrp="1" noChangeArrowheads="1"/>
          </p:cNvSpPr>
          <p:nvPr>
            <p:ph type="body" idx="1"/>
          </p:nvPr>
        </p:nvSpPr>
        <p:spPr>
          <a:xfrm>
            <a:off x="533400" y="1676400"/>
            <a:ext cx="7315200" cy="1575816"/>
          </a:xfrm>
        </p:spPr>
        <p:txBody>
          <a:bodyPr/>
          <a:lstStyle/>
          <a:p>
            <a:pPr>
              <a:buClr>
                <a:schemeClr val="tx1"/>
              </a:buClr>
              <a:buFont typeface="Arial" panose="020B0604020202020204" pitchFamily="34" charset="0"/>
              <a:buChar char="•"/>
            </a:pPr>
            <a:r>
              <a:rPr lang="en-US" dirty="0"/>
              <a:t>Balance the equation by inspection, starting with the most complicated molecule</a:t>
            </a:r>
          </a:p>
          <a:p>
            <a:pPr lvl="1">
              <a:buClr>
                <a:schemeClr val="tx1"/>
              </a:buClr>
              <a:buFont typeface="Arial" panose="020B0604020202020204" pitchFamily="34" charset="0"/>
              <a:buChar char="−"/>
            </a:pPr>
            <a:r>
              <a:rPr lang="en-US" dirty="0">
                <a:solidFill>
                  <a:srgbClr val="0000FF"/>
                </a:solidFill>
              </a:rPr>
              <a:t>We can see that the equation is unbalanced by counting the atoms on both sides of the arrow</a:t>
            </a:r>
          </a:p>
        </p:txBody>
      </p:sp>
      <p:pic>
        <p:nvPicPr>
          <p:cNvPr id="3" name="Picture 2" descr="An illustration shows diatomic molecule of (H subscript 2) (g) and diatomic molecule of oxygen (O subscript 2) undergone chemical reaction to yield water (H subscript 2 O) (l). Accompanied circular representation shows total number of atoms in the reactants and products as follows: diatomic molecule of hydrogen contains two hydrogen atoms; diatomic molecule of oxygen contains two oxygen atoms; water molecule contains one oxygen and two hydrogen atoms. Total numbers of atoms in the reactants are 2 hydrogen, and 2 oxygen atoms. Total numbers of atoms in the products are 2 hydrogen atoms, and 1 oxygen atom."/>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6154" y="3429000"/>
            <a:ext cx="4591691" cy="2476846"/>
          </a:xfrm>
          <a:prstGeom prst="rect">
            <a:avLst/>
          </a:prstGeom>
        </p:spPr>
      </p:pic>
    </p:spTree>
    <p:extLst>
      <p:ext uri="{BB962C8B-B14F-4D97-AF65-F5344CB8AC3E}">
        <p14:creationId xmlns:p14="http://schemas.microsoft.com/office/powerpoint/2010/main" val="1453444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03" name="Rectangle 3"/>
          <p:cNvSpPr>
            <a:spLocks noGrp="1" noChangeArrowheads="1"/>
          </p:cNvSpPr>
          <p:nvPr>
            <p:ph type="title"/>
          </p:nvPr>
        </p:nvSpPr>
        <p:spPr>
          <a:xfrm>
            <a:off x="381000" y="1219200"/>
            <a:ext cx="7924800" cy="533400"/>
          </a:xfrm>
        </p:spPr>
        <p:txBody>
          <a:bodyPr/>
          <a:lstStyle/>
          <a:p>
            <a:r>
              <a:rPr lang="en-US" dirty="0"/>
              <a:t>How to Write and Balance Equations </a:t>
            </a:r>
            <a:r>
              <a:rPr lang="en-US" sz="1600" dirty="0"/>
              <a:t>(continued 2)</a:t>
            </a:r>
          </a:p>
        </p:txBody>
      </p:sp>
      <p:sp>
        <p:nvSpPr>
          <p:cNvPr id="307202" name="Rectangle 2"/>
          <p:cNvSpPr>
            <a:spLocks noGrp="1" noChangeArrowheads="1"/>
          </p:cNvSpPr>
          <p:nvPr>
            <p:ph type="body" idx="1"/>
          </p:nvPr>
        </p:nvSpPr>
        <p:spPr>
          <a:xfrm>
            <a:off x="533400" y="1676400"/>
            <a:ext cx="7315200" cy="1575816"/>
          </a:xfrm>
        </p:spPr>
        <p:txBody>
          <a:bodyPr/>
          <a:lstStyle/>
          <a:p>
            <a:pPr>
              <a:buClr>
                <a:schemeClr val="tx1"/>
              </a:buClr>
              <a:buFont typeface="Arial" panose="020B0604020202020204" pitchFamily="34" charset="0"/>
              <a:buChar char="•"/>
            </a:pPr>
            <a:r>
              <a:rPr lang="en-US" dirty="0"/>
              <a:t>Balance the equation by inspection, starting with the most complicated molecule</a:t>
            </a:r>
          </a:p>
          <a:p>
            <a:pPr lvl="1">
              <a:buClr>
                <a:schemeClr val="tx1"/>
              </a:buClr>
              <a:buFont typeface="Arial" panose="020B0604020202020204" pitchFamily="34" charset="0"/>
              <a:buChar char="−"/>
            </a:pPr>
            <a:r>
              <a:rPr lang="en-US" dirty="0">
                <a:solidFill>
                  <a:srgbClr val="0000FF"/>
                </a:solidFill>
              </a:rPr>
              <a:t>We must balance the equation by adding more molecules of reactants and/or products</a:t>
            </a:r>
          </a:p>
        </p:txBody>
      </p:sp>
      <p:pic>
        <p:nvPicPr>
          <p:cNvPr id="4" name="Picture 3" descr="An illustration shows diatomic molecule of (H subscript 2) (g) and diatomic molecule of oxygen (O subscript 2) undergone chemical reaction to yield water (H subscript 2 O) (l). Accompanied circular representation shows total number of atoms in the reactants and products as follows: diatomic molecule of hydrogen contains two hydrogen atoms; diatomic molecule of oxygen contains two oxygen atoms; water molecule contains one oxygen and two hydrogen atoms. Total numbers of atoms in the reactants are 2 hydrogen, and 2 oxygen atoms. Total numbers of atoms in the products are 2 hydrogen atoms, and 1 oxygen atom."/>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14" y="4273549"/>
            <a:ext cx="4481786" cy="1925022"/>
          </a:xfrm>
          <a:prstGeom prst="rect">
            <a:avLst/>
          </a:prstGeom>
        </p:spPr>
      </p:pic>
      <p:pic>
        <p:nvPicPr>
          <p:cNvPr id="5" name="Picture 4" descr="An illustration shows two diatomic molecules of hydrogen (H subscript 2) (g) and diatomic molecule of oxygen (O subscript 2) (g) undergone chemical reaction to form two moles of water molecules (H subscript 2 O) (l). Accompanied circular representation shows total number of atoms in the reactants and products as follows: diatomic molecules of hydrogen contain two hydrogen atoms each; diatomic molecule of oxygen contains two oxygen atoms; each water molecules contain an oxygen atom and two hydrogen atoms. Total numbers of atoms in the reactant are 4 hydrogen, and 2 oxygen atoms. Total numbers of atoms in the product are 4 hydrogen, and 2 oxygen atom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9513" y="4514483"/>
            <a:ext cx="4528885" cy="1581516"/>
          </a:xfrm>
          <a:prstGeom prst="rect">
            <a:avLst/>
          </a:prstGeom>
        </p:spPr>
      </p:pic>
    </p:spTree>
    <p:extLst>
      <p:ext uri="{BB962C8B-B14F-4D97-AF65-F5344CB8AC3E}">
        <p14:creationId xmlns:p14="http://schemas.microsoft.com/office/powerpoint/2010/main" val="4253848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9251" name="Rectangle 3"/>
          <p:cNvSpPr>
            <a:spLocks noGrp="1" noChangeArrowheads="1"/>
          </p:cNvSpPr>
          <p:nvPr>
            <p:ph type="title"/>
          </p:nvPr>
        </p:nvSpPr>
        <p:spPr/>
        <p:txBody>
          <a:bodyPr/>
          <a:lstStyle/>
          <a:p>
            <a:r>
              <a:rPr lang="en-US" dirty="0"/>
              <a:t>How to Write and Balance Equations </a:t>
            </a:r>
            <a:r>
              <a:rPr lang="en-US" sz="1600" dirty="0"/>
              <a:t>(continued 3)</a:t>
            </a:r>
          </a:p>
        </p:txBody>
      </p:sp>
      <p:sp>
        <p:nvSpPr>
          <p:cNvPr id="309250" name="Rectangle 2"/>
          <p:cNvSpPr>
            <a:spLocks noGrp="1" noChangeArrowheads="1"/>
          </p:cNvSpPr>
          <p:nvPr>
            <p:ph type="body" sz="half" idx="1"/>
          </p:nvPr>
        </p:nvSpPr>
        <p:spPr>
          <a:xfrm>
            <a:off x="457200" y="1752600"/>
            <a:ext cx="7848600" cy="3600986"/>
          </a:xfrm>
        </p:spPr>
        <p:txBody>
          <a:bodyPr/>
          <a:lstStyle/>
          <a:p>
            <a:pPr>
              <a:buClr>
                <a:schemeClr val="tx1"/>
              </a:buClr>
              <a:buFont typeface="Arial" panose="020B0604020202020204" pitchFamily="34" charset="0"/>
              <a:buChar char="•"/>
            </a:pPr>
            <a:r>
              <a:rPr lang="en-US" sz="2400" dirty="0"/>
              <a:t>Check to see that the coefficients used give the same number of each type of atom on both sides of the arrow. Also, check to see that the coefficients used are the smallest integers that give the balanced equation.</a:t>
            </a:r>
          </a:p>
          <a:p>
            <a:pPr marL="533400" indent="-533400">
              <a:buFontTx/>
              <a:buNone/>
            </a:pPr>
            <a:r>
              <a:rPr lang="en-US" sz="2400" dirty="0">
                <a:solidFill>
                  <a:srgbClr val="669900"/>
                </a:solidFill>
              </a:rPr>
              <a:t>		</a:t>
            </a:r>
            <a:r>
              <a:rPr lang="en-US" sz="2200" dirty="0">
                <a:solidFill>
                  <a:srgbClr val="0000FF"/>
                </a:solidFill>
              </a:rPr>
              <a:t>The balanced equation is:</a:t>
            </a:r>
          </a:p>
          <a:p>
            <a:pPr marL="533400" indent="-533400">
              <a:buFontTx/>
              <a:buNone/>
            </a:pPr>
            <a:r>
              <a:rPr lang="en-US" sz="2200" dirty="0">
                <a:solidFill>
                  <a:srgbClr val="0000FF"/>
                </a:solidFill>
              </a:rPr>
              <a:t>		 2H</a:t>
            </a:r>
            <a:r>
              <a:rPr lang="en-US" sz="2200" baseline="-25000" dirty="0">
                <a:solidFill>
                  <a:srgbClr val="0000FF"/>
                </a:solidFill>
              </a:rPr>
              <a:t>2</a:t>
            </a:r>
            <a:r>
              <a:rPr lang="en-US" sz="2200" i="1" dirty="0">
                <a:solidFill>
                  <a:srgbClr val="0000FF"/>
                </a:solidFill>
              </a:rPr>
              <a:t>(g)</a:t>
            </a:r>
            <a:r>
              <a:rPr lang="en-US" sz="2200" dirty="0">
                <a:solidFill>
                  <a:srgbClr val="0000FF"/>
                </a:solidFill>
              </a:rPr>
              <a:t> + O</a:t>
            </a:r>
            <a:r>
              <a:rPr lang="en-US" sz="2200" baseline="-25000" dirty="0">
                <a:solidFill>
                  <a:srgbClr val="0000FF"/>
                </a:solidFill>
              </a:rPr>
              <a:t>2</a:t>
            </a:r>
            <a:r>
              <a:rPr lang="en-US" sz="2200" i="1" dirty="0">
                <a:solidFill>
                  <a:srgbClr val="0000FF"/>
                </a:solidFill>
              </a:rPr>
              <a:t>(g)</a:t>
            </a:r>
            <a:r>
              <a:rPr lang="en-US" sz="2200" dirty="0">
                <a:solidFill>
                  <a:srgbClr val="0000FF"/>
                </a:solidFill>
              </a:rPr>
              <a:t> </a:t>
            </a:r>
            <a:r>
              <a:rPr lang="en-US" sz="2200" dirty="0">
                <a:solidFill>
                  <a:srgbClr val="0000FF"/>
                </a:solidFill>
                <a:sym typeface="Symbol" charset="0"/>
              </a:rPr>
              <a:t></a:t>
            </a:r>
            <a:r>
              <a:rPr lang="en-US" sz="2200" dirty="0">
                <a:solidFill>
                  <a:srgbClr val="0000FF"/>
                </a:solidFill>
              </a:rPr>
              <a:t> 2H</a:t>
            </a:r>
            <a:r>
              <a:rPr lang="en-US" sz="2200" baseline="-25000" dirty="0">
                <a:solidFill>
                  <a:srgbClr val="0000FF"/>
                </a:solidFill>
              </a:rPr>
              <a:t>2</a:t>
            </a:r>
            <a:r>
              <a:rPr lang="en-US" sz="2200" dirty="0">
                <a:solidFill>
                  <a:srgbClr val="0000FF"/>
                </a:solidFill>
              </a:rPr>
              <a:t>O</a:t>
            </a:r>
            <a:r>
              <a:rPr lang="en-US" sz="2200" i="1" dirty="0">
                <a:solidFill>
                  <a:srgbClr val="0000FF"/>
                </a:solidFill>
              </a:rPr>
              <a:t>(l)</a:t>
            </a:r>
            <a:r>
              <a:rPr lang="en-US" sz="2200" dirty="0"/>
              <a:t>    </a:t>
            </a:r>
          </a:p>
          <a:p>
            <a:pPr marL="533400" indent="-533400">
              <a:buFontTx/>
              <a:buNone/>
            </a:pPr>
            <a:r>
              <a:rPr lang="en-US" sz="2200" dirty="0"/>
              <a:t>		</a:t>
            </a:r>
            <a:r>
              <a:rPr lang="en-US" sz="2200" dirty="0">
                <a:solidFill>
                  <a:srgbClr val="0000FF"/>
                </a:solidFill>
              </a:rPr>
              <a:t>or could be:</a:t>
            </a:r>
          </a:p>
          <a:p>
            <a:pPr marL="533400" indent="-533400">
              <a:buFontTx/>
              <a:buNone/>
            </a:pPr>
            <a:r>
              <a:rPr lang="en-US" sz="2200" dirty="0"/>
              <a:t>		 </a:t>
            </a:r>
            <a:r>
              <a:rPr lang="en-US" sz="2200" dirty="0">
                <a:solidFill>
                  <a:srgbClr val="0000FF"/>
                </a:solidFill>
              </a:rPr>
              <a:t>4H</a:t>
            </a:r>
            <a:r>
              <a:rPr lang="en-US" sz="2200" baseline="-25000" dirty="0">
                <a:solidFill>
                  <a:srgbClr val="0000FF"/>
                </a:solidFill>
              </a:rPr>
              <a:t>2</a:t>
            </a:r>
            <a:r>
              <a:rPr lang="en-US" sz="2200" i="1" dirty="0">
                <a:solidFill>
                  <a:srgbClr val="0000FF"/>
                </a:solidFill>
              </a:rPr>
              <a:t>(g)</a:t>
            </a:r>
            <a:r>
              <a:rPr lang="en-US" sz="2200" dirty="0">
                <a:solidFill>
                  <a:srgbClr val="0000FF"/>
                </a:solidFill>
              </a:rPr>
              <a:t> + 2O</a:t>
            </a:r>
            <a:r>
              <a:rPr lang="en-US" sz="2200" baseline="-25000" dirty="0">
                <a:solidFill>
                  <a:srgbClr val="0000FF"/>
                </a:solidFill>
              </a:rPr>
              <a:t>2</a:t>
            </a:r>
            <a:r>
              <a:rPr lang="en-US" sz="2200" i="1" dirty="0">
                <a:solidFill>
                  <a:srgbClr val="0000FF"/>
                </a:solidFill>
              </a:rPr>
              <a:t>(g)</a:t>
            </a:r>
            <a:r>
              <a:rPr lang="en-US" sz="2200" dirty="0">
                <a:solidFill>
                  <a:srgbClr val="0000FF"/>
                </a:solidFill>
              </a:rPr>
              <a:t> </a:t>
            </a:r>
            <a:r>
              <a:rPr lang="en-US" sz="2200" dirty="0">
                <a:solidFill>
                  <a:srgbClr val="0000FF"/>
                </a:solidFill>
                <a:sym typeface="Symbol" charset="0"/>
              </a:rPr>
              <a:t></a:t>
            </a:r>
            <a:r>
              <a:rPr lang="en-US" sz="2200" dirty="0">
                <a:solidFill>
                  <a:srgbClr val="0000FF"/>
                </a:solidFill>
              </a:rPr>
              <a:t> 4H</a:t>
            </a:r>
            <a:r>
              <a:rPr lang="en-US" sz="2200" baseline="-25000" dirty="0">
                <a:solidFill>
                  <a:srgbClr val="0000FF"/>
                </a:solidFill>
              </a:rPr>
              <a:t>2</a:t>
            </a:r>
            <a:r>
              <a:rPr lang="en-US" sz="2200" dirty="0">
                <a:solidFill>
                  <a:srgbClr val="0000FF"/>
                </a:solidFill>
              </a:rPr>
              <a:t>O</a:t>
            </a:r>
            <a:r>
              <a:rPr lang="en-US" sz="2200" i="1" dirty="0">
                <a:solidFill>
                  <a:srgbClr val="0000FF"/>
                </a:solidFill>
              </a:rPr>
              <a:t>(l)</a:t>
            </a:r>
            <a:r>
              <a:rPr lang="en-US" sz="2200" dirty="0"/>
              <a:t> </a:t>
            </a:r>
          </a:p>
        </p:txBody>
      </p:sp>
      <p:sp>
        <p:nvSpPr>
          <p:cNvPr id="309254" name="Rectangle 6" descr="null"/>
          <p:cNvSpPr>
            <a:spLocks noChangeArrowheads="1"/>
          </p:cNvSpPr>
          <p:nvPr/>
        </p:nvSpPr>
        <p:spPr bwMode="auto">
          <a:xfrm>
            <a:off x="1447800" y="4116950"/>
            <a:ext cx="3581400" cy="457200"/>
          </a:xfrm>
          <a:prstGeom prst="rect">
            <a:avLst/>
          </a:prstGeom>
          <a:noFill/>
          <a:ln w="38100">
            <a:solidFill>
              <a:srgbClr val="FF0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09252" name="Rectangle 4"/>
          <p:cNvSpPr>
            <a:spLocks noGrp="1" noChangeArrowheads="1"/>
          </p:cNvSpPr>
          <p:nvPr>
            <p:ph type="body" sz="half" idx="2"/>
          </p:nvPr>
        </p:nvSpPr>
        <p:spPr>
          <a:xfrm>
            <a:off x="5867400" y="4145495"/>
            <a:ext cx="1600200" cy="400110"/>
          </a:xfrm>
        </p:spPr>
        <p:txBody>
          <a:bodyPr/>
          <a:lstStyle/>
          <a:p>
            <a:pPr>
              <a:buFontTx/>
              <a:buNone/>
            </a:pPr>
            <a:r>
              <a:rPr lang="en-US" sz="2000" dirty="0">
                <a:solidFill>
                  <a:srgbClr val="FF0000"/>
                </a:solidFill>
              </a:rPr>
              <a:t>preferred</a:t>
            </a:r>
          </a:p>
        </p:txBody>
      </p:sp>
    </p:spTree>
    <p:extLst>
      <p:ext uri="{BB962C8B-B14F-4D97-AF65-F5344CB8AC3E}">
        <p14:creationId xmlns:p14="http://schemas.microsoft.com/office/powerpoint/2010/main" val="1425952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1524000" y="1143000"/>
            <a:ext cx="7086600" cy="533400"/>
          </a:xfrm>
        </p:spPr>
        <p:txBody>
          <a:bodyPr/>
          <a:lstStyle/>
          <a:p>
            <a:r>
              <a:rPr lang="en-US" dirty="0"/>
              <a:t>Exercise, 5</a:t>
            </a:r>
          </a:p>
        </p:txBody>
      </p:sp>
      <p:sp>
        <p:nvSpPr>
          <p:cNvPr id="329731" name="Rectangle 3"/>
          <p:cNvSpPr>
            <a:spLocks noGrp="1" noChangeArrowheads="1"/>
          </p:cNvSpPr>
          <p:nvPr>
            <p:ph type="body" idx="1"/>
          </p:nvPr>
        </p:nvSpPr>
        <p:spPr>
          <a:xfrm>
            <a:off x="381000" y="2133600"/>
            <a:ext cx="8229600" cy="3859518"/>
          </a:xfrm>
        </p:spPr>
        <p:txBody>
          <a:bodyPr/>
          <a:lstStyle/>
          <a:p>
            <a:pPr marL="568325" indent="-171450">
              <a:buFontTx/>
              <a:buNone/>
            </a:pPr>
            <a:r>
              <a:rPr lang="en-US" dirty="0"/>
              <a:t>	Balance the following equation in standard form or lowest multiple integers, and determine the </a:t>
            </a:r>
            <a:r>
              <a:rPr lang="en-US" dirty="0">
                <a:solidFill>
                  <a:srgbClr val="0000FF"/>
                </a:solidFill>
              </a:rPr>
              <a:t>sum of the coefficients</a:t>
            </a:r>
            <a:endParaRPr lang="en-US" dirty="0"/>
          </a:p>
          <a:p>
            <a:pPr marL="568325" indent="-171450">
              <a:buFontTx/>
              <a:buNone/>
            </a:pPr>
            <a:r>
              <a:rPr lang="en-US" dirty="0"/>
              <a:t>			</a:t>
            </a:r>
            <a:r>
              <a:rPr lang="en-US" dirty="0" err="1">
                <a:solidFill>
                  <a:srgbClr val="0000FF"/>
                </a:solidFill>
              </a:rPr>
              <a:t>FeO</a:t>
            </a:r>
            <a:r>
              <a:rPr lang="en-US" dirty="0">
                <a:solidFill>
                  <a:srgbClr val="0000FF"/>
                </a:solidFill>
              </a:rPr>
              <a:t>(</a:t>
            </a:r>
            <a:r>
              <a:rPr lang="en-US" i="1" dirty="0">
                <a:solidFill>
                  <a:srgbClr val="0000FF"/>
                </a:solidFill>
              </a:rPr>
              <a:t>s</a:t>
            </a:r>
            <a:r>
              <a:rPr lang="en-US" dirty="0">
                <a:solidFill>
                  <a:srgbClr val="0000FF"/>
                </a:solidFill>
              </a:rPr>
              <a:t>) + O</a:t>
            </a:r>
            <a:r>
              <a:rPr lang="en-US" baseline="-25000" dirty="0">
                <a:solidFill>
                  <a:srgbClr val="0000FF"/>
                </a:solidFill>
              </a:rPr>
              <a:t>2</a:t>
            </a:r>
            <a:r>
              <a:rPr lang="en-US" dirty="0">
                <a:solidFill>
                  <a:srgbClr val="0000FF"/>
                </a:solidFill>
              </a:rPr>
              <a:t>(</a:t>
            </a:r>
            <a:r>
              <a:rPr lang="en-US" i="1" dirty="0">
                <a:solidFill>
                  <a:srgbClr val="0000FF"/>
                </a:solidFill>
              </a:rPr>
              <a:t>g</a:t>
            </a:r>
            <a:r>
              <a:rPr lang="en-US" dirty="0">
                <a:solidFill>
                  <a:srgbClr val="0000FF"/>
                </a:solidFill>
              </a:rPr>
              <a:t>) </a:t>
            </a:r>
            <a:r>
              <a:rPr lang="en-US" dirty="0">
                <a:solidFill>
                  <a:srgbClr val="0000FF"/>
                </a:solidFill>
                <a:sym typeface="Symbol" charset="0"/>
              </a:rPr>
              <a:t></a:t>
            </a:r>
            <a:r>
              <a:rPr lang="en-US" dirty="0">
                <a:solidFill>
                  <a:srgbClr val="0000FF"/>
                </a:solidFill>
              </a:rPr>
              <a:t> Fe</a:t>
            </a:r>
            <a:r>
              <a:rPr lang="en-US" baseline="-25000" dirty="0">
                <a:solidFill>
                  <a:srgbClr val="0000FF"/>
                </a:solidFill>
              </a:rPr>
              <a:t>2</a:t>
            </a:r>
            <a:r>
              <a:rPr lang="en-US" dirty="0">
                <a:solidFill>
                  <a:srgbClr val="0000FF"/>
                </a:solidFill>
              </a:rPr>
              <a:t>O</a:t>
            </a:r>
            <a:r>
              <a:rPr lang="en-US" baseline="-25000" dirty="0">
                <a:solidFill>
                  <a:srgbClr val="0000FF"/>
                </a:solidFill>
              </a:rPr>
              <a:t>3</a:t>
            </a:r>
            <a:r>
              <a:rPr lang="en-US" dirty="0">
                <a:solidFill>
                  <a:srgbClr val="0000FF"/>
                </a:solidFill>
              </a:rPr>
              <a:t>(</a:t>
            </a:r>
            <a:r>
              <a:rPr lang="en-US" i="1" dirty="0">
                <a:solidFill>
                  <a:srgbClr val="0000FF"/>
                </a:solidFill>
              </a:rPr>
              <a:t>s</a:t>
            </a:r>
            <a:r>
              <a:rPr lang="en-US" dirty="0">
                <a:solidFill>
                  <a:srgbClr val="0000FF"/>
                </a:solidFill>
              </a:rPr>
              <a:t>)</a:t>
            </a:r>
          </a:p>
          <a:p>
            <a:pPr marL="1370013" lvl="1" indent="-457200">
              <a:buFontTx/>
              <a:buNone/>
            </a:pPr>
            <a:endParaRPr lang="en-US" sz="2400" dirty="0"/>
          </a:p>
          <a:p>
            <a:pPr marL="1370013" lvl="1" indent="-457200">
              <a:buFontTx/>
              <a:buNone/>
            </a:pPr>
            <a:r>
              <a:rPr lang="en-US" sz="2400" dirty="0"/>
              <a:t>a)	3 </a:t>
            </a:r>
          </a:p>
          <a:p>
            <a:pPr marL="1370013" lvl="1" indent="-457200">
              <a:buFontTx/>
              <a:buNone/>
            </a:pPr>
            <a:r>
              <a:rPr lang="en-US" sz="2400" dirty="0"/>
              <a:t>b)	4</a:t>
            </a:r>
          </a:p>
          <a:p>
            <a:pPr marL="1370013" lvl="1" indent="-457200">
              <a:buFontTx/>
              <a:buNone/>
            </a:pPr>
            <a:r>
              <a:rPr lang="en-US" sz="2400" dirty="0"/>
              <a:t>c)	7 </a:t>
            </a:r>
          </a:p>
          <a:p>
            <a:pPr marL="1370013" lvl="1" indent="-457200">
              <a:buFontTx/>
              <a:buNone/>
            </a:pPr>
            <a:r>
              <a:rPr lang="en-US" sz="2400" dirty="0"/>
              <a:t>d)	14</a:t>
            </a:r>
          </a:p>
        </p:txBody>
      </p:sp>
      <p:sp>
        <p:nvSpPr>
          <p:cNvPr id="329736" name="Rectangle 8" descr="null"/>
          <p:cNvSpPr>
            <a:spLocks noChangeArrowheads="1"/>
          </p:cNvSpPr>
          <p:nvPr/>
        </p:nvSpPr>
        <p:spPr bwMode="auto">
          <a:xfrm>
            <a:off x="1219200" y="5047340"/>
            <a:ext cx="1066800" cy="457200"/>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4030722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97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6"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1524000" y="1143000"/>
            <a:ext cx="7391400" cy="533400"/>
          </a:xfrm>
        </p:spPr>
        <p:txBody>
          <a:bodyPr/>
          <a:lstStyle/>
          <a:p>
            <a:r>
              <a:rPr lang="en-US" dirty="0"/>
              <a:t>Exercise, 6</a:t>
            </a:r>
          </a:p>
        </p:txBody>
      </p:sp>
      <p:sp>
        <p:nvSpPr>
          <p:cNvPr id="185347" name="Rectangle 3"/>
          <p:cNvSpPr>
            <a:spLocks noGrp="1" noChangeArrowheads="1"/>
          </p:cNvSpPr>
          <p:nvPr>
            <p:ph type="body" idx="1"/>
          </p:nvPr>
        </p:nvSpPr>
        <p:spPr>
          <a:xfrm>
            <a:off x="381000" y="1828800"/>
            <a:ext cx="8229600" cy="4598182"/>
          </a:xfrm>
        </p:spPr>
        <p:txBody>
          <a:bodyPr/>
          <a:lstStyle/>
          <a:p>
            <a:pPr marL="854075" indent="-3175">
              <a:buFontTx/>
              <a:buNone/>
            </a:pPr>
            <a:r>
              <a:rPr lang="en-US" dirty="0"/>
              <a:t>	Which of the following equations </a:t>
            </a:r>
            <a:r>
              <a:rPr lang="en-US" dirty="0">
                <a:solidFill>
                  <a:srgbClr val="0000FF"/>
                </a:solidFill>
              </a:rPr>
              <a:t>correctly</a:t>
            </a:r>
            <a:r>
              <a:rPr lang="en-US" dirty="0"/>
              <a:t> balance the chemical equation given below? There may be </a:t>
            </a:r>
            <a:r>
              <a:rPr lang="en-US" dirty="0">
                <a:solidFill>
                  <a:srgbClr val="0000FF"/>
                </a:solidFill>
              </a:rPr>
              <a:t>more than one</a:t>
            </a:r>
            <a:r>
              <a:rPr lang="en-US" dirty="0"/>
              <a:t> correct balanced equation. If a balanced equation is incorrect, explain what is incorrect about it.</a:t>
            </a:r>
          </a:p>
          <a:p>
            <a:pPr marL="1958975" lvl="2" indent="-419100">
              <a:buFontTx/>
              <a:buNone/>
            </a:pPr>
            <a:r>
              <a:rPr lang="en-US" sz="2400" dirty="0" err="1">
                <a:solidFill>
                  <a:srgbClr val="0000FF"/>
                </a:solidFill>
              </a:rPr>
              <a:t>CaO</a:t>
            </a:r>
            <a:r>
              <a:rPr lang="en-US" sz="2400" dirty="0">
                <a:solidFill>
                  <a:srgbClr val="0000FF"/>
                </a:solidFill>
              </a:rPr>
              <a:t> + C </a:t>
            </a:r>
            <a:r>
              <a:rPr lang="en-US" sz="2400" dirty="0">
                <a:solidFill>
                  <a:srgbClr val="0000FF"/>
                </a:solidFill>
                <a:sym typeface="Symbol" charset="0"/>
              </a:rPr>
              <a:t></a:t>
            </a:r>
            <a:r>
              <a:rPr lang="en-US" sz="2400" dirty="0">
                <a:solidFill>
                  <a:srgbClr val="0000FF"/>
                </a:solidFill>
              </a:rPr>
              <a:t> CaC</a:t>
            </a:r>
            <a:r>
              <a:rPr lang="en-US" sz="2400" baseline="-25000" dirty="0">
                <a:solidFill>
                  <a:srgbClr val="0000FF"/>
                </a:solidFill>
              </a:rPr>
              <a:t>2</a:t>
            </a:r>
            <a:r>
              <a:rPr lang="en-US" sz="2400" dirty="0">
                <a:solidFill>
                  <a:srgbClr val="0000FF"/>
                </a:solidFill>
              </a:rPr>
              <a:t> + CO</a:t>
            </a:r>
            <a:r>
              <a:rPr lang="en-US" sz="2400" baseline="-25000" dirty="0">
                <a:solidFill>
                  <a:srgbClr val="0000FF"/>
                </a:solidFill>
              </a:rPr>
              <a:t>2</a:t>
            </a:r>
            <a:endParaRPr lang="en-US" sz="2400" dirty="0">
              <a:solidFill>
                <a:srgbClr val="0000FF"/>
              </a:solidFill>
            </a:endParaRPr>
          </a:p>
          <a:p>
            <a:pPr marL="1958975" lvl="2" indent="-419100">
              <a:buFontTx/>
              <a:buNone/>
            </a:pPr>
            <a:r>
              <a:rPr lang="en-US" sz="2400" dirty="0"/>
              <a:t>	I. 	 CaO</a:t>
            </a:r>
            <a:r>
              <a:rPr lang="en-US" sz="2400" baseline="-25000" dirty="0"/>
              <a:t>2 </a:t>
            </a:r>
            <a:r>
              <a:rPr lang="en-US" sz="2400" dirty="0"/>
              <a:t>+ 3C </a:t>
            </a:r>
            <a:r>
              <a:rPr lang="en-US" sz="2400" dirty="0">
                <a:sym typeface="Symbol" charset="0"/>
              </a:rPr>
              <a:t></a:t>
            </a:r>
            <a:r>
              <a:rPr lang="en-US" sz="2400" dirty="0"/>
              <a:t> CaC</a:t>
            </a:r>
            <a:r>
              <a:rPr lang="en-US" sz="2400" baseline="-25000" dirty="0"/>
              <a:t>2</a:t>
            </a:r>
            <a:r>
              <a:rPr lang="en-US" sz="2400" dirty="0"/>
              <a:t> + CO</a:t>
            </a:r>
            <a:r>
              <a:rPr lang="en-US" sz="2400" baseline="-25000" dirty="0"/>
              <a:t>2</a:t>
            </a:r>
            <a:endParaRPr lang="en-US" sz="2400" dirty="0"/>
          </a:p>
          <a:p>
            <a:pPr marL="1958975" lvl="2" indent="-419100">
              <a:buFontTx/>
              <a:buNone/>
            </a:pPr>
            <a:r>
              <a:rPr lang="en-US" sz="2400" dirty="0"/>
              <a:t>	II.	 2CaO + 5C </a:t>
            </a:r>
            <a:r>
              <a:rPr lang="en-US" sz="2400" dirty="0">
                <a:sym typeface="Symbol" charset="0"/>
              </a:rPr>
              <a:t></a:t>
            </a:r>
            <a:r>
              <a:rPr lang="en-US" sz="2400" dirty="0"/>
              <a:t> 2CaC</a:t>
            </a:r>
            <a:r>
              <a:rPr lang="en-US" sz="2400" baseline="-25000" dirty="0"/>
              <a:t>2</a:t>
            </a:r>
            <a:r>
              <a:rPr lang="en-US" sz="2400" dirty="0"/>
              <a:t> + CO</a:t>
            </a:r>
            <a:r>
              <a:rPr lang="en-US" sz="2400" baseline="-25000" dirty="0"/>
              <a:t>2</a:t>
            </a:r>
            <a:endParaRPr lang="en-US" sz="2400" dirty="0"/>
          </a:p>
          <a:p>
            <a:pPr marL="1958975" lvl="2" indent="-419100">
              <a:buFontTx/>
              <a:buNone/>
            </a:pPr>
            <a:r>
              <a:rPr lang="en-US" sz="2400" dirty="0"/>
              <a:t>	III.	 </a:t>
            </a:r>
            <a:r>
              <a:rPr lang="en-US" sz="2400" dirty="0" err="1"/>
              <a:t>CaO</a:t>
            </a:r>
            <a:r>
              <a:rPr lang="en-US" sz="2400" dirty="0"/>
              <a:t> + (2.5)C </a:t>
            </a:r>
            <a:r>
              <a:rPr lang="en-US" sz="2400" dirty="0">
                <a:sym typeface="Symbol" charset="0"/>
              </a:rPr>
              <a:t></a:t>
            </a:r>
            <a:r>
              <a:rPr lang="en-US" sz="2400" dirty="0"/>
              <a:t> CaC</a:t>
            </a:r>
            <a:r>
              <a:rPr lang="en-US" sz="2400" baseline="-25000" dirty="0"/>
              <a:t>2</a:t>
            </a:r>
            <a:r>
              <a:rPr lang="en-US" sz="2400" dirty="0"/>
              <a:t> + (0.5)CO</a:t>
            </a:r>
            <a:r>
              <a:rPr lang="en-US" sz="2400" baseline="-25000" dirty="0"/>
              <a:t>2</a:t>
            </a:r>
          </a:p>
          <a:p>
            <a:pPr marL="1958975" lvl="2" indent="-419100">
              <a:buFontTx/>
              <a:buNone/>
            </a:pPr>
            <a:r>
              <a:rPr lang="en-US" sz="2400" dirty="0"/>
              <a:t>	IV.	 4CaO + 10C </a:t>
            </a:r>
            <a:r>
              <a:rPr lang="en-US" sz="2400" dirty="0">
                <a:sym typeface="Symbol" charset="0"/>
              </a:rPr>
              <a:t></a:t>
            </a:r>
            <a:r>
              <a:rPr lang="en-US" sz="2400" dirty="0"/>
              <a:t> 4CaC</a:t>
            </a:r>
            <a:r>
              <a:rPr lang="en-US" sz="2400" baseline="-25000" dirty="0"/>
              <a:t>2</a:t>
            </a:r>
            <a:r>
              <a:rPr lang="en-US" sz="2400" dirty="0"/>
              <a:t> + 2CO</a:t>
            </a:r>
            <a:r>
              <a:rPr lang="en-US" sz="2400" baseline="-25000" dirty="0"/>
              <a:t>2</a:t>
            </a:r>
          </a:p>
          <a:p>
            <a:pPr marL="1958975" lvl="2" indent="-419100">
              <a:buFontTx/>
              <a:buNone/>
            </a:pPr>
            <a:endParaRPr lang="en-US" sz="2400" dirty="0">
              <a:solidFill>
                <a:srgbClr val="009900"/>
              </a:solidFill>
            </a:endParaRPr>
          </a:p>
        </p:txBody>
      </p:sp>
      <p:sp>
        <p:nvSpPr>
          <p:cNvPr id="185349" name="Rectangle 5" descr="null"/>
          <p:cNvSpPr>
            <a:spLocks noChangeArrowheads="1"/>
          </p:cNvSpPr>
          <p:nvPr/>
        </p:nvSpPr>
        <p:spPr bwMode="auto">
          <a:xfrm>
            <a:off x="2402115" y="4623859"/>
            <a:ext cx="4844846" cy="406167"/>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5350" name="Rectangle 6" descr="null"/>
          <p:cNvSpPr>
            <a:spLocks noChangeArrowheads="1"/>
          </p:cNvSpPr>
          <p:nvPr/>
        </p:nvSpPr>
        <p:spPr bwMode="auto">
          <a:xfrm>
            <a:off x="2402115" y="5024197"/>
            <a:ext cx="5527234" cy="457521"/>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5351" name="Rectangle 7" descr="null"/>
          <p:cNvSpPr>
            <a:spLocks noChangeArrowheads="1"/>
          </p:cNvSpPr>
          <p:nvPr/>
        </p:nvSpPr>
        <p:spPr bwMode="auto">
          <a:xfrm>
            <a:off x="2402115" y="5481718"/>
            <a:ext cx="5131449" cy="429771"/>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302510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53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53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53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9" grpId="0" animBg="1"/>
      <p:bldP spid="185350" grpId="0" animBg="1"/>
      <p:bldP spid="185351"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a:xfrm>
            <a:off x="1524000" y="1143000"/>
            <a:ext cx="7391400" cy="533400"/>
          </a:xfrm>
        </p:spPr>
        <p:txBody>
          <a:bodyPr/>
          <a:lstStyle/>
          <a:p>
            <a:r>
              <a:rPr lang="en-US" dirty="0"/>
              <a:t>Exercise, 7</a:t>
            </a:r>
          </a:p>
        </p:txBody>
      </p:sp>
      <p:sp>
        <p:nvSpPr>
          <p:cNvPr id="325635" name="Rectangle 3"/>
          <p:cNvSpPr>
            <a:spLocks noGrp="1" noChangeArrowheads="1"/>
          </p:cNvSpPr>
          <p:nvPr>
            <p:ph type="body" idx="1"/>
          </p:nvPr>
        </p:nvSpPr>
        <p:spPr>
          <a:xfrm>
            <a:off x="381000" y="1828800"/>
            <a:ext cx="8229600" cy="3933384"/>
          </a:xfrm>
        </p:spPr>
        <p:txBody>
          <a:bodyPr/>
          <a:lstStyle/>
          <a:p>
            <a:pPr marL="854075" indent="-3175">
              <a:buFontTx/>
              <a:buNone/>
            </a:pPr>
            <a:r>
              <a:rPr lang="en-US" dirty="0"/>
              <a:t>	Of the three that are correct, which one is </a:t>
            </a:r>
            <a:r>
              <a:rPr lang="en-US" dirty="0">
                <a:solidFill>
                  <a:srgbClr val="0000FF"/>
                </a:solidFill>
              </a:rPr>
              <a:t>preferred</a:t>
            </a:r>
            <a:r>
              <a:rPr lang="en-US" dirty="0"/>
              <a:t> most (the most accepted convention)? Why?</a:t>
            </a:r>
          </a:p>
          <a:p>
            <a:pPr marL="1958975" lvl="2" indent="-419100">
              <a:buFontTx/>
              <a:buNone/>
            </a:pPr>
            <a:r>
              <a:rPr lang="en-US" sz="2400" dirty="0" err="1">
                <a:solidFill>
                  <a:srgbClr val="0000FF"/>
                </a:solidFill>
              </a:rPr>
              <a:t>CaO</a:t>
            </a:r>
            <a:r>
              <a:rPr lang="en-US" sz="2400" dirty="0">
                <a:solidFill>
                  <a:srgbClr val="0000FF"/>
                </a:solidFill>
              </a:rPr>
              <a:t> + C </a:t>
            </a:r>
            <a:r>
              <a:rPr lang="en-US" sz="2400" dirty="0">
                <a:solidFill>
                  <a:srgbClr val="0000FF"/>
                </a:solidFill>
                <a:sym typeface="Symbol" charset="0"/>
              </a:rPr>
              <a:t></a:t>
            </a:r>
            <a:r>
              <a:rPr lang="en-US" sz="2400" dirty="0">
                <a:solidFill>
                  <a:srgbClr val="0000FF"/>
                </a:solidFill>
              </a:rPr>
              <a:t> CaC</a:t>
            </a:r>
            <a:r>
              <a:rPr lang="en-US" sz="2400" baseline="-25000" dirty="0">
                <a:solidFill>
                  <a:srgbClr val="0000FF"/>
                </a:solidFill>
              </a:rPr>
              <a:t>2</a:t>
            </a:r>
            <a:r>
              <a:rPr lang="en-US" sz="2400" dirty="0">
                <a:solidFill>
                  <a:srgbClr val="0000FF"/>
                </a:solidFill>
              </a:rPr>
              <a:t> + CO</a:t>
            </a:r>
            <a:r>
              <a:rPr lang="en-US" sz="2400" baseline="-25000" dirty="0">
                <a:solidFill>
                  <a:srgbClr val="0000FF"/>
                </a:solidFill>
              </a:rPr>
              <a:t>2</a:t>
            </a:r>
          </a:p>
          <a:p>
            <a:pPr marL="1958975" lvl="2" indent="-419100">
              <a:buFontTx/>
              <a:buNone/>
            </a:pPr>
            <a:endParaRPr lang="en-US" sz="2400" dirty="0"/>
          </a:p>
          <a:p>
            <a:pPr marL="1958975" lvl="2" indent="-419100">
              <a:buFontTx/>
              <a:buNone/>
            </a:pPr>
            <a:r>
              <a:rPr lang="en-US" sz="2400" dirty="0"/>
              <a:t>I. 	CaO</a:t>
            </a:r>
            <a:r>
              <a:rPr lang="en-US" sz="2400" baseline="-25000" dirty="0"/>
              <a:t>2 </a:t>
            </a:r>
            <a:r>
              <a:rPr lang="en-US" sz="2400" dirty="0"/>
              <a:t>+ 3C </a:t>
            </a:r>
            <a:r>
              <a:rPr lang="en-US" sz="2400" dirty="0">
                <a:sym typeface="Symbol" charset="0"/>
              </a:rPr>
              <a:t></a:t>
            </a:r>
            <a:r>
              <a:rPr lang="en-US" sz="2400" dirty="0"/>
              <a:t> CaC</a:t>
            </a:r>
            <a:r>
              <a:rPr lang="en-US" sz="2400" baseline="-25000" dirty="0"/>
              <a:t>2</a:t>
            </a:r>
            <a:r>
              <a:rPr lang="en-US" sz="2400" dirty="0"/>
              <a:t> + CO</a:t>
            </a:r>
            <a:r>
              <a:rPr lang="en-US" sz="2400" baseline="-25000" dirty="0"/>
              <a:t>2</a:t>
            </a:r>
            <a:endParaRPr lang="en-US" sz="2400" dirty="0"/>
          </a:p>
          <a:p>
            <a:pPr marL="1958975" lvl="2" indent="-419100">
              <a:buFontTx/>
              <a:buNone/>
            </a:pPr>
            <a:r>
              <a:rPr lang="en-US" sz="2400" dirty="0"/>
              <a:t>II.	2CaO + 5C </a:t>
            </a:r>
            <a:r>
              <a:rPr lang="en-US" sz="2400" dirty="0">
                <a:sym typeface="Symbol" charset="0"/>
              </a:rPr>
              <a:t></a:t>
            </a:r>
            <a:r>
              <a:rPr lang="en-US" sz="2400" dirty="0"/>
              <a:t> 2CaC</a:t>
            </a:r>
            <a:r>
              <a:rPr lang="en-US" sz="2400" baseline="-25000" dirty="0"/>
              <a:t>2</a:t>
            </a:r>
            <a:r>
              <a:rPr lang="en-US" sz="2400" dirty="0"/>
              <a:t> + CO</a:t>
            </a:r>
            <a:r>
              <a:rPr lang="en-US" sz="2400" baseline="-25000" dirty="0"/>
              <a:t>2</a:t>
            </a:r>
            <a:endParaRPr lang="en-US" sz="2400" dirty="0"/>
          </a:p>
          <a:p>
            <a:pPr marL="1958975" lvl="2" indent="-419100">
              <a:buFontTx/>
              <a:buNone/>
            </a:pPr>
            <a:r>
              <a:rPr lang="en-US" sz="2400" dirty="0"/>
              <a:t>III.	</a:t>
            </a:r>
            <a:r>
              <a:rPr lang="en-US" sz="2400" dirty="0" err="1"/>
              <a:t>CaO</a:t>
            </a:r>
            <a:r>
              <a:rPr lang="en-US" sz="2400" dirty="0"/>
              <a:t> + (2.5)C </a:t>
            </a:r>
            <a:r>
              <a:rPr lang="en-US" sz="2400" dirty="0">
                <a:sym typeface="Symbol" charset="0"/>
              </a:rPr>
              <a:t></a:t>
            </a:r>
            <a:r>
              <a:rPr lang="en-US" sz="2400" dirty="0"/>
              <a:t> CaC</a:t>
            </a:r>
            <a:r>
              <a:rPr lang="en-US" sz="2400" baseline="-25000" dirty="0"/>
              <a:t>2</a:t>
            </a:r>
            <a:r>
              <a:rPr lang="en-US" sz="2400" dirty="0"/>
              <a:t> + (0.5)CO</a:t>
            </a:r>
            <a:r>
              <a:rPr lang="en-US" sz="2400" baseline="-25000" dirty="0"/>
              <a:t>2</a:t>
            </a:r>
          </a:p>
          <a:p>
            <a:pPr marL="1958975" lvl="2" indent="-419100">
              <a:buFontTx/>
              <a:buNone/>
            </a:pPr>
            <a:r>
              <a:rPr lang="en-US" sz="2400" dirty="0"/>
              <a:t>IV.	4CaO + 10C </a:t>
            </a:r>
            <a:r>
              <a:rPr lang="en-US" sz="2400" dirty="0">
                <a:sym typeface="Symbol" charset="0"/>
              </a:rPr>
              <a:t></a:t>
            </a:r>
            <a:r>
              <a:rPr lang="en-US" sz="2400" dirty="0"/>
              <a:t> 4CaC</a:t>
            </a:r>
            <a:r>
              <a:rPr lang="en-US" sz="2400" baseline="-25000" dirty="0"/>
              <a:t>2</a:t>
            </a:r>
            <a:r>
              <a:rPr lang="en-US" sz="2400" dirty="0"/>
              <a:t> + 2CO</a:t>
            </a:r>
            <a:r>
              <a:rPr lang="en-US" sz="2400" baseline="-25000" dirty="0"/>
              <a:t>2</a:t>
            </a:r>
          </a:p>
          <a:p>
            <a:pPr marL="1958975" lvl="2" indent="-419100">
              <a:buFontTx/>
              <a:buNone/>
            </a:pPr>
            <a:endParaRPr lang="en-US" sz="2400" dirty="0">
              <a:solidFill>
                <a:srgbClr val="009900"/>
              </a:solidFill>
            </a:endParaRPr>
          </a:p>
        </p:txBody>
      </p:sp>
      <p:sp>
        <p:nvSpPr>
          <p:cNvPr id="325637" name="Rectangle 5" descr="null"/>
          <p:cNvSpPr>
            <a:spLocks noChangeArrowheads="1"/>
          </p:cNvSpPr>
          <p:nvPr/>
        </p:nvSpPr>
        <p:spPr bwMode="auto">
          <a:xfrm>
            <a:off x="1802462" y="3995216"/>
            <a:ext cx="4811486" cy="500838"/>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4167644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56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7"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1524000" y="1143000"/>
            <a:ext cx="7239000" cy="533400"/>
          </a:xfrm>
        </p:spPr>
        <p:txBody>
          <a:bodyPr/>
          <a:lstStyle/>
          <a:p>
            <a:r>
              <a:rPr lang="en-US" dirty="0"/>
              <a:t>Concept Check</a:t>
            </a:r>
          </a:p>
        </p:txBody>
      </p:sp>
      <p:sp>
        <p:nvSpPr>
          <p:cNvPr id="187395" name="Rectangle 3"/>
          <p:cNvSpPr>
            <a:spLocks noGrp="1" noChangeArrowheads="1"/>
          </p:cNvSpPr>
          <p:nvPr>
            <p:ph type="body" idx="1"/>
          </p:nvPr>
        </p:nvSpPr>
        <p:spPr>
          <a:xfrm>
            <a:off x="228600" y="2024418"/>
            <a:ext cx="8262257" cy="3810274"/>
          </a:xfrm>
        </p:spPr>
        <p:txBody>
          <a:bodyPr/>
          <a:lstStyle/>
          <a:p>
            <a:pPr indent="-53975">
              <a:buFontTx/>
              <a:buNone/>
            </a:pPr>
            <a:r>
              <a:rPr lang="en-US" dirty="0"/>
              <a:t>	In the context of balancing a chemical equation, which of the following statements is </a:t>
            </a:r>
            <a:r>
              <a:rPr lang="en-US" dirty="0">
                <a:solidFill>
                  <a:srgbClr val="0000FF"/>
                </a:solidFill>
              </a:rPr>
              <a:t>false</a:t>
            </a:r>
            <a:r>
              <a:rPr lang="en-US" dirty="0"/>
              <a:t>?	</a:t>
            </a:r>
          </a:p>
          <a:p>
            <a:pPr marL="914400" lvl="1" indent="-457200">
              <a:buFontTx/>
              <a:buNone/>
            </a:pPr>
            <a:r>
              <a:rPr lang="en-US" dirty="0"/>
              <a:t>a)	Subscripts in the reactants must be conserved in the products</a:t>
            </a:r>
          </a:p>
          <a:p>
            <a:pPr marL="914400" lvl="1" indent="-457200">
              <a:buFontTx/>
              <a:buNone/>
            </a:pPr>
            <a:r>
              <a:rPr lang="en-US" dirty="0"/>
              <a:t>b)	Coefficients are used to balance the atoms on both sides</a:t>
            </a:r>
          </a:p>
          <a:p>
            <a:pPr marL="914400" lvl="1" indent="-457200">
              <a:buFontTx/>
              <a:buNone/>
            </a:pPr>
            <a:r>
              <a:rPr lang="en-US" dirty="0"/>
              <a:t>c)	When one coefficient is doubled, the rest of the coefficients in the balanced equation must also be doubled</a:t>
            </a:r>
          </a:p>
          <a:p>
            <a:pPr marL="914400" lvl="1" indent="-457200">
              <a:buFontTx/>
              <a:buNone/>
            </a:pPr>
            <a:r>
              <a:rPr lang="en-US" dirty="0"/>
              <a:t>d)	Phases are often shown for each compound but are not critical to balancing an equation</a:t>
            </a:r>
          </a:p>
        </p:txBody>
      </p:sp>
      <p:sp>
        <p:nvSpPr>
          <p:cNvPr id="187397" name="Rectangle 5" descr="null"/>
          <p:cNvSpPr>
            <a:spLocks noChangeArrowheads="1"/>
          </p:cNvSpPr>
          <p:nvPr/>
        </p:nvSpPr>
        <p:spPr bwMode="auto">
          <a:xfrm>
            <a:off x="609600" y="2820022"/>
            <a:ext cx="7881256" cy="800101"/>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151470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73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7"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3" name="Rectangle 3"/>
          <p:cNvSpPr>
            <a:spLocks noGrp="1" noChangeArrowheads="1"/>
          </p:cNvSpPr>
          <p:nvPr>
            <p:ph type="title"/>
          </p:nvPr>
        </p:nvSpPr>
        <p:spPr>
          <a:xfrm>
            <a:off x="457200" y="1143000"/>
            <a:ext cx="7924800" cy="533400"/>
          </a:xfrm>
        </p:spPr>
        <p:txBody>
          <a:bodyPr/>
          <a:lstStyle/>
          <a:p>
            <a:r>
              <a:rPr lang="en-US" dirty="0"/>
              <a:t>Notice</a:t>
            </a:r>
          </a:p>
        </p:txBody>
      </p:sp>
      <p:sp>
        <p:nvSpPr>
          <p:cNvPr id="189442" name="Rectangle 2"/>
          <p:cNvSpPr>
            <a:spLocks noGrp="1" noChangeArrowheads="1"/>
          </p:cNvSpPr>
          <p:nvPr>
            <p:ph type="body" idx="1"/>
          </p:nvPr>
        </p:nvSpPr>
        <p:spPr>
          <a:xfrm>
            <a:off x="533400" y="1676400"/>
            <a:ext cx="7315200" cy="4450449"/>
          </a:xfrm>
        </p:spPr>
        <p:txBody>
          <a:bodyPr/>
          <a:lstStyle/>
          <a:p>
            <a:pPr marL="533400" indent="-533400"/>
            <a:r>
              <a:rPr lang="en-US" dirty="0"/>
              <a:t>The number of atoms of each type of element must be the same on both sides of a balanced equation</a:t>
            </a:r>
          </a:p>
          <a:p>
            <a:pPr marL="533400" indent="-533400"/>
            <a:r>
              <a:rPr lang="en-US" dirty="0"/>
              <a:t>Subscripts must not be changed to balance an equation</a:t>
            </a:r>
          </a:p>
          <a:p>
            <a:pPr marL="533400" indent="-533400"/>
            <a:r>
              <a:rPr lang="en-US" dirty="0"/>
              <a:t>A balanced equation tells us the ratio of the number of molecules that react and are produced in a chemical reaction</a:t>
            </a:r>
          </a:p>
          <a:p>
            <a:pPr marL="533400" indent="-533400"/>
            <a:r>
              <a:rPr lang="en-US" dirty="0"/>
              <a:t>Coefficients can be fractions, although they are usually the lowest integer multiples</a:t>
            </a:r>
          </a:p>
          <a:p>
            <a:pPr marL="533400" indent="-533400">
              <a:buFontTx/>
              <a:buNone/>
            </a:pPr>
            <a:endParaRPr lang="en-US" dirty="0"/>
          </a:p>
        </p:txBody>
      </p:sp>
    </p:spTree>
    <p:extLst>
      <p:ext uri="{BB962C8B-B14F-4D97-AF65-F5344CB8AC3E}">
        <p14:creationId xmlns:p14="http://schemas.microsoft.com/office/powerpoint/2010/main" val="1554815693"/>
      </p:ext>
    </p:extLst>
  </p:cSld>
  <p:clrMapOvr>
    <a:masterClrMapping/>
  </p:clrMapOvr>
</p:sld>
</file>

<file path=ppt/theme/theme1.xml><?xml version="1.0" encoding="utf-8"?>
<a:theme xmlns:a="http://schemas.openxmlformats.org/drawingml/2006/main" name="1_Section 6.1">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ection 6.2">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Section 6.3">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Section 6.1">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heck_x002d_in_x0020_Comment xmlns="0e13c682-55bc-4eac-8c72-cb1c29354c8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A5934DC7BD95242BE6BA2F7EBB887A7" ma:contentTypeVersion="7" ma:contentTypeDescription="Create a new document." ma:contentTypeScope="" ma:versionID="b502482696701f57dee8b51a511759b6">
  <xsd:schema xmlns:xsd="http://www.w3.org/2001/XMLSchema" xmlns:xs="http://www.w3.org/2001/XMLSchema" xmlns:p="http://schemas.microsoft.com/office/2006/metadata/properties" xmlns:ns2="5b47f0fb-e24d-44b9-89a4-ff46b5ce035f" xmlns:ns3="0e13c682-55bc-4eac-8c72-cb1c29354c87" targetNamespace="http://schemas.microsoft.com/office/2006/metadata/properties" ma:root="true" ma:fieldsID="47bfffb8bcbec2f48a78b0c1e25db6fa" ns2:_="" ns3:_="">
    <xsd:import namespace="5b47f0fb-e24d-44b9-89a4-ff46b5ce035f"/>
    <xsd:import namespace="0e13c682-55bc-4eac-8c72-cb1c29354c87"/>
    <xsd:element name="properties">
      <xsd:complexType>
        <xsd:sequence>
          <xsd:element name="documentManagement">
            <xsd:complexType>
              <xsd:all>
                <xsd:element ref="ns2:SharedWithUsers" minOccurs="0"/>
                <xsd:element ref="ns2:SharedWithDetails" minOccurs="0"/>
                <xsd:element ref="ns3:Check_x002d_in_x0020_Comment" minOccurs="0"/>
                <xsd:element ref="ns3:MediaServiceMetadata" minOccurs="0"/>
                <xsd:element ref="ns3:MediaServiceFastMetadata" minOccurs="0"/>
                <xsd:element ref="ns3:MediaServiceDateTaken" minOccurs="0"/>
                <xsd:element ref="ns3: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e13c682-55bc-4eac-8c72-cb1c29354c87" elementFormDefault="qualified">
    <xsd:import namespace="http://schemas.microsoft.com/office/2006/documentManagement/types"/>
    <xsd:import namespace="http://schemas.microsoft.com/office/infopath/2007/PartnerControls"/>
    <xsd:element name="Check_x002d_in_x0020_Comment" ma:index="10" nillable="true" ma:displayName="Check-in Comment" ma:internalName="Check_x002d_in_x0020_Comment">
      <xsd:simpleType>
        <xsd:restriction base="dms:Text">
          <xsd:maxLength value="255"/>
        </xsd:restriction>
      </xsd:simpleType>
    </xsd:element>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6A88733-9CB0-4B12-B4F0-09A86E915A2D}">
  <ds:schemaRefs>
    <ds:schemaRef ds:uri="http://schemas.microsoft.com/sharepoint/v3/contenttype/forms"/>
  </ds:schemaRefs>
</ds:datastoreItem>
</file>

<file path=customXml/itemProps2.xml><?xml version="1.0" encoding="utf-8"?>
<ds:datastoreItem xmlns:ds="http://schemas.openxmlformats.org/officeDocument/2006/customXml" ds:itemID="{E343E75A-DF56-4CDD-8B22-80D38B223349}">
  <ds:schemaRefs>
    <ds:schemaRef ds:uri="http://schemas.microsoft.com/office/infopath/2007/PartnerControls"/>
    <ds:schemaRef ds:uri="http://schemas.microsoft.com/office/2006/metadata/properties"/>
    <ds:schemaRef ds:uri="http://purl.org/dc/elements/1.1/"/>
    <ds:schemaRef ds:uri="5b47f0fb-e24d-44b9-89a4-ff46b5ce035f"/>
    <ds:schemaRef ds:uri="http://purl.org/dc/dcmitype/"/>
    <ds:schemaRef ds:uri="http://purl.org/dc/terms/"/>
    <ds:schemaRef ds:uri="http://schemas.microsoft.com/office/2006/documentManagement/types"/>
    <ds:schemaRef ds:uri="http://schemas.openxmlformats.org/package/2006/metadata/core-properties"/>
    <ds:schemaRef ds:uri="0e13c682-55bc-4eac-8c72-cb1c29354c87"/>
    <ds:schemaRef ds:uri="http://www.w3.org/XML/1998/namespace"/>
  </ds:schemaRefs>
</ds:datastoreItem>
</file>

<file path=customXml/itemProps3.xml><?xml version="1.0" encoding="utf-8"?>
<ds:datastoreItem xmlns:ds="http://schemas.openxmlformats.org/officeDocument/2006/customXml" ds:itemID="{3CCD3BAD-AFAA-45B9-8673-40C272047A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0e13c682-55bc-4eac-8c72-cb1c29354c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1653</TotalTime>
  <Words>867</Words>
  <Application>Microsoft Office PowerPoint</Application>
  <PresentationFormat>On-screen Show (4:3)</PresentationFormat>
  <Paragraphs>153</Paragraphs>
  <Slides>23</Slides>
  <Notes>23</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23</vt:i4>
      </vt:variant>
    </vt:vector>
  </HeadingPairs>
  <TitlesOfParts>
    <vt:vector size="35" baseType="lpstr">
      <vt:lpstr>ＭＳ Ｐゴシック</vt:lpstr>
      <vt:lpstr>Arial</vt:lpstr>
      <vt:lpstr>Arial Narrow</vt:lpstr>
      <vt:lpstr>Calibri</vt:lpstr>
      <vt:lpstr>Symbol</vt:lpstr>
      <vt:lpstr>Times</vt:lpstr>
      <vt:lpstr>Times New Roman</vt:lpstr>
      <vt:lpstr>Wingdings</vt:lpstr>
      <vt:lpstr>1_Section 6.1</vt:lpstr>
      <vt:lpstr>Section 6.2</vt:lpstr>
      <vt:lpstr>Section 6.3</vt:lpstr>
      <vt:lpstr>2_Section 6.1</vt:lpstr>
      <vt:lpstr>Chapter 6</vt:lpstr>
      <vt:lpstr>What are the clues that a chemical change has taken place?</vt:lpstr>
      <vt:lpstr>Some Clues That a Chemical Reaction Has Occurred</vt:lpstr>
      <vt:lpstr>Exercise, 1</vt:lpstr>
      <vt:lpstr>Exercise, 2</vt:lpstr>
      <vt:lpstr>Exercise, 3</vt:lpstr>
      <vt:lpstr>Chemical Reactions</vt:lpstr>
      <vt:lpstr>Chemical Reactions (continued)</vt:lpstr>
      <vt:lpstr>Balancing a Chemical Equation</vt:lpstr>
      <vt:lpstr>Physical States</vt:lpstr>
      <vt:lpstr>Example</vt:lpstr>
      <vt:lpstr> Exercise, 4</vt:lpstr>
      <vt:lpstr>Writing a Balanced Equation for a Chemical Reaction</vt:lpstr>
      <vt:lpstr>Writing a Balanced Equation for a Chemical Reaction (continued)</vt:lpstr>
      <vt:lpstr>How to Write and Balance Equations</vt:lpstr>
      <vt:lpstr>How to Write and Balance Equations (continued 1)</vt:lpstr>
      <vt:lpstr>How to Write and Balance Equations (continued 2)</vt:lpstr>
      <vt:lpstr>How to Write and Balance Equations (continued 3)</vt:lpstr>
      <vt:lpstr>Exercise, 5</vt:lpstr>
      <vt:lpstr>Exercise, 6</vt:lpstr>
      <vt:lpstr>Exercise, 7</vt:lpstr>
      <vt:lpstr>Concept Check</vt:lpstr>
      <vt:lpstr>Notice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Melinda Jensen</dc:creator>
  <cp:lastModifiedBy>EAWoods</cp:lastModifiedBy>
  <cp:revision>58</cp:revision>
  <dcterms:created xsi:type="dcterms:W3CDTF">2013-12-25T19:48:19Z</dcterms:created>
  <dcterms:modified xsi:type="dcterms:W3CDTF">2018-06-06T17:51:29Z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0x010100EA5934DC7BD95242BE6BA2F7EBB887A7</vt:lpwstr>
  </property>
</Properties>
</file>