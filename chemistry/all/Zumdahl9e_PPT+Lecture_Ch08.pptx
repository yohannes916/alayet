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8.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9.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10.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2" r:id="rId5"/>
    <p:sldMasterId id="2147483685" r:id="rId6"/>
    <p:sldMasterId id="2147483697" r:id="rId7"/>
    <p:sldMasterId id="2147483710" r:id="rId8"/>
    <p:sldMasterId id="2147483722" r:id="rId9"/>
    <p:sldMasterId id="2147483735" r:id="rId10"/>
    <p:sldMasterId id="2147483748" r:id="rId11"/>
    <p:sldMasterId id="2147483760" r:id="rId12"/>
    <p:sldMasterId id="2147483772" r:id="rId13"/>
    <p:sldMasterId id="2147483784" r:id="rId14"/>
  </p:sldMasterIdLst>
  <p:notesMasterIdLst>
    <p:notesMasterId r:id="rId53"/>
  </p:notesMasterIdLst>
  <p:sldIdLst>
    <p:sldId id="318" r:id="rId15"/>
    <p:sldId id="260" r:id="rId16"/>
    <p:sldId id="304" r:id="rId17"/>
    <p:sldId id="315" r:id="rId18"/>
    <p:sldId id="262" r:id="rId19"/>
    <p:sldId id="316" r:id="rId20"/>
    <p:sldId id="306" r:id="rId21"/>
    <p:sldId id="266" r:id="rId22"/>
    <p:sldId id="307" r:id="rId23"/>
    <p:sldId id="268" r:id="rId24"/>
    <p:sldId id="270" r:id="rId25"/>
    <p:sldId id="308" r:id="rId26"/>
    <p:sldId id="272" r:id="rId27"/>
    <p:sldId id="273" r:id="rId28"/>
    <p:sldId id="274" r:id="rId29"/>
    <p:sldId id="275" r:id="rId30"/>
    <p:sldId id="276" r:id="rId31"/>
    <p:sldId id="277" r:id="rId32"/>
    <p:sldId id="309" r:id="rId33"/>
    <p:sldId id="310" r:id="rId34"/>
    <p:sldId id="282" r:id="rId35"/>
    <p:sldId id="283" r:id="rId36"/>
    <p:sldId id="284" r:id="rId37"/>
    <p:sldId id="311" r:id="rId38"/>
    <p:sldId id="286" r:id="rId39"/>
    <p:sldId id="317" r:id="rId40"/>
    <p:sldId id="289" r:id="rId41"/>
    <p:sldId id="312" r:id="rId42"/>
    <p:sldId id="292" r:id="rId43"/>
    <p:sldId id="313" r:id="rId44"/>
    <p:sldId id="314" r:id="rId45"/>
    <p:sldId id="296" r:id="rId46"/>
    <p:sldId id="297" r:id="rId47"/>
    <p:sldId id="298" r:id="rId48"/>
    <p:sldId id="299" r:id="rId49"/>
    <p:sldId id="301" r:id="rId50"/>
    <p:sldId id="302" r:id="rId51"/>
    <p:sldId id="303"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akrystyniak" initials="" lastIdx="1" clrIdx="0"/>
  <p:cmAuthor id="1" name="Anindita Das" initials="AD" lastIdx="3" clrIdx="1">
    <p:extLst>
      <p:ext uri="{19B8F6BF-5375-455C-9EA6-DF929625EA0E}">
        <p15:presenceInfo xmlns:p15="http://schemas.microsoft.com/office/powerpoint/2012/main" userId="Anindita Das" providerId="None"/>
      </p:ext>
    </p:extLst>
  </p:cmAuthor>
  <p:cmAuthor id="2" name="Ashtami Devi" initials="AD" lastIdx="3" clrIdx="2">
    <p:extLst>
      <p:ext uri="{19B8F6BF-5375-455C-9EA6-DF929625EA0E}">
        <p15:presenceInfo xmlns:p15="http://schemas.microsoft.com/office/powerpoint/2012/main" userId="S-1-5-21-3361151005-2080053223-3394076701-161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894" autoAdjust="0"/>
  </p:normalViewPr>
  <p:slideViewPr>
    <p:cSldViewPr snapToGrid="0" snapToObjects="1">
      <p:cViewPr varScale="1">
        <p:scale>
          <a:sx n="43" d="100"/>
          <a:sy n="43" d="100"/>
        </p:scale>
        <p:origin x="1944" y="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slide" Target="slides/slide36.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7.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860594-4F56-514A-8BB8-C4463D83F947}" type="datetimeFigureOut">
              <a:rPr lang="en-US" smtClean="0"/>
              <a:pPr/>
              <a:t>7/22/2026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396263-A373-DC4A-8162-90298FCA234D}" type="slidenum">
              <a:rPr lang="en-US" smtClean="0"/>
              <a:pPr/>
              <a:t>‹#›</a:t>
            </a:fld>
            <a:endParaRPr lang="en-US"/>
          </a:p>
        </p:txBody>
      </p:sp>
    </p:spTree>
    <p:extLst>
      <p:ext uri="{BB962C8B-B14F-4D97-AF65-F5344CB8AC3E}">
        <p14:creationId xmlns:p14="http://schemas.microsoft.com/office/powerpoint/2010/main" val="274001513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BBA87E-7016-9048-9DE4-305E0E9B2EDB}"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311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311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19152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849304-9820-1E4A-8FD0-F158EFFB1B90}" type="slidenum">
              <a:rPr lang="en-US"/>
              <a:pPr/>
              <a:t>2</a:t>
            </a:fld>
            <a:endParaRPr lang="en-US"/>
          </a:p>
        </p:txBody>
      </p:sp>
      <p:sp>
        <p:nvSpPr>
          <p:cNvPr id="358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58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95827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004423-BDE5-AF44-A257-68D7615AE97A}" type="slidenum">
              <a:rPr lang="en-US"/>
              <a:pPr/>
              <a:t>3</a:t>
            </a:fld>
            <a:endParaRPr lang="en-US"/>
          </a:p>
        </p:txBody>
      </p:sp>
      <p:sp>
        <p:nvSpPr>
          <p:cNvPr id="2795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9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7116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BB887C-4266-0647-BE3F-4A58B49AB3A4}" type="slidenum">
              <a:rPr lang="en-US"/>
              <a:pPr/>
              <a:t>5</a:t>
            </a:fld>
            <a:endParaRPr lang="en-US"/>
          </a:p>
        </p:txBody>
      </p:sp>
      <p:sp>
        <p:nvSpPr>
          <p:cNvPr id="2826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2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15754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436578-041B-1D46-843C-50228FC869F9}" type="slidenum">
              <a:rPr lang="en-US"/>
              <a:pPr/>
              <a:t>6</a:t>
            </a:fld>
            <a:endParaRPr lang="en-US"/>
          </a:p>
        </p:txBody>
      </p:sp>
      <p:sp>
        <p:nvSpPr>
          <p:cNvPr id="1085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547" name="Rectangle 3"/>
          <p:cNvSpPr>
            <a:spLocks noGrp="1" noChangeArrowheads="1"/>
          </p:cNvSpPr>
          <p:nvPr>
            <p:ph type="body" idx="1"/>
          </p:nvPr>
        </p:nvSpPr>
        <p:spPr/>
        <p:txBody>
          <a:bodyPr/>
          <a:lstStyle/>
          <a:p>
            <a:r>
              <a:rPr lang="en-US"/>
              <a:t>Average mass of one marble = 37.60 g / 10 marbles = 3.76 g / marble</a:t>
            </a:r>
          </a:p>
          <a:p>
            <a:r>
              <a:rPr lang="en-US"/>
              <a:t>394.80 g / 3.76 g = 105 marbles</a:t>
            </a:r>
          </a:p>
        </p:txBody>
      </p:sp>
    </p:spTree>
    <p:extLst>
      <p:ext uri="{BB962C8B-B14F-4D97-AF65-F5344CB8AC3E}">
        <p14:creationId xmlns:p14="http://schemas.microsoft.com/office/powerpoint/2010/main" val="743076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17DCB0-8A75-2744-9546-DABA8EE22EAB}" type="slidenum">
              <a:rPr lang="en-US"/>
              <a:pPr/>
              <a:t>7</a:t>
            </a:fld>
            <a:endParaRPr lang="en-US"/>
          </a:p>
        </p:txBody>
      </p:sp>
      <p:sp>
        <p:nvSpPr>
          <p:cNvPr id="1249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24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7604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7AE6BB-8B03-484A-A33A-60876950CE7E}" type="slidenum">
              <a:rPr lang="en-US"/>
              <a:pPr/>
              <a:t>8</a:t>
            </a:fld>
            <a:endParaRPr lang="en-US"/>
          </a:p>
        </p:txBody>
      </p:sp>
      <p:sp>
        <p:nvSpPr>
          <p:cNvPr id="1290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2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29111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0AB510-8F59-7D43-B2D0-1A716283D2D0}" type="slidenum">
              <a:rPr lang="en-US"/>
              <a:pPr/>
              <a:t>9</a:t>
            </a:fld>
            <a:endParaRPr lang="en-US"/>
          </a:p>
        </p:txBody>
      </p:sp>
      <p:sp>
        <p:nvSpPr>
          <p:cNvPr id="3461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46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28035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B8B149-E91F-FC4C-AD3D-7B5D9DBF5C01}" type="slidenum">
              <a:rPr lang="en-US"/>
              <a:pPr/>
              <a:t>10</a:t>
            </a:fld>
            <a:endParaRPr lang="en-US"/>
          </a:p>
        </p:txBody>
      </p:sp>
      <p:sp>
        <p:nvSpPr>
          <p:cNvPr id="1331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3123" name="Rectangle 3"/>
          <p:cNvSpPr>
            <a:spLocks noGrp="1" noChangeArrowheads="1"/>
          </p:cNvSpPr>
          <p:nvPr>
            <p:ph type="body" idx="1"/>
          </p:nvPr>
        </p:nvSpPr>
        <p:spPr/>
        <p:txBody>
          <a:bodyPr/>
          <a:lstStyle/>
          <a:p>
            <a:r>
              <a:rPr lang="en-US" dirty="0"/>
              <a:t>Determine the mass of 1 Al atom. </a:t>
            </a:r>
            <a:r>
              <a:rPr lang="en-US" sz="1400" dirty="0">
                <a:solidFill>
                  <a:schemeClr val="tx2"/>
                </a:solidFill>
              </a:rPr>
              <a:t>1 atom of Al = 26.98 </a:t>
            </a:r>
            <a:r>
              <a:rPr lang="en-US" sz="1400" dirty="0" err="1">
                <a:solidFill>
                  <a:schemeClr val="tx2"/>
                </a:solidFill>
              </a:rPr>
              <a:t>amu</a:t>
            </a:r>
            <a:endParaRPr lang="en-US" sz="1400" dirty="0">
              <a:solidFill>
                <a:schemeClr val="tx2"/>
              </a:solidFill>
            </a:endParaRPr>
          </a:p>
          <a:p>
            <a:endParaRPr lang="en-US" sz="1400" dirty="0">
              <a:solidFill>
                <a:schemeClr val="tx2"/>
              </a:solidFill>
            </a:endParaRPr>
          </a:p>
          <a:p>
            <a:r>
              <a:rPr lang="en-US" dirty="0"/>
              <a:t>Use the relationship as a conversion factor.  75 Al atoms × (26.98 </a:t>
            </a:r>
            <a:r>
              <a:rPr lang="en-US" dirty="0" err="1"/>
              <a:t>amu</a:t>
            </a:r>
            <a:r>
              <a:rPr lang="en-US" dirty="0"/>
              <a:t>/1 Al atom) = 2024 </a:t>
            </a:r>
            <a:r>
              <a:rPr lang="en-US" dirty="0" err="1"/>
              <a:t>amu</a:t>
            </a:r>
            <a:endParaRPr lang="en-US" dirty="0">
              <a:solidFill>
                <a:srgbClr val="009900"/>
              </a:solidFill>
              <a:cs typeface="Arial" charset="0"/>
            </a:endParaRPr>
          </a:p>
        </p:txBody>
      </p:sp>
    </p:spTree>
    <p:extLst>
      <p:ext uri="{BB962C8B-B14F-4D97-AF65-F5344CB8AC3E}">
        <p14:creationId xmlns:p14="http://schemas.microsoft.com/office/powerpoint/2010/main" val="2131014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1563A3-902B-734F-9DDD-613CB79EB278}" type="slidenum">
              <a:rPr lang="en-US"/>
              <a:pPr/>
              <a:t>11</a:t>
            </a:fld>
            <a:endParaRPr lang="en-US"/>
          </a:p>
        </p:txBody>
      </p:sp>
      <p:sp>
        <p:nvSpPr>
          <p:cNvPr id="147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4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63441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8C4149-9857-3340-A11F-0645FA6F0628}" type="slidenum">
              <a:rPr lang="en-US"/>
              <a:pPr/>
              <a:t>12</a:t>
            </a:fld>
            <a:endParaRPr lang="en-US"/>
          </a:p>
        </p:txBody>
      </p:sp>
      <p:sp>
        <p:nvSpPr>
          <p:cNvPr id="2846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4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96670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E8EC3A-913B-CF48-8487-5F1330E3697A}" type="slidenum">
              <a:rPr lang="en-US"/>
              <a:pPr/>
              <a:t>13</a:t>
            </a:fld>
            <a:endParaRPr lang="en-US"/>
          </a:p>
        </p:txBody>
      </p:sp>
      <p:sp>
        <p:nvSpPr>
          <p:cNvPr id="3522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52259" name="Rectangle 3"/>
          <p:cNvSpPr>
            <a:spLocks noGrp="1" noChangeArrowheads="1"/>
          </p:cNvSpPr>
          <p:nvPr>
            <p:ph type="body" idx="1"/>
          </p:nvPr>
        </p:nvSpPr>
        <p:spPr/>
        <p:txBody>
          <a:bodyPr/>
          <a:lstStyle/>
          <a:p>
            <a:r>
              <a:rPr lang="en-US">
                <a:cs typeface="Arial" charset="0"/>
              </a:rPr>
              <a:t>6.022×10</a:t>
            </a:r>
            <a:r>
              <a:rPr lang="en-US" baseline="30000">
                <a:cs typeface="Arial" charset="0"/>
              </a:rPr>
              <a:t>23</a:t>
            </a:r>
            <a:r>
              <a:rPr lang="en-US">
                <a:cs typeface="Arial" charset="0"/>
              </a:rPr>
              <a:t> Cu atoms; 63.55 g of Cu is 1 mole of Cu, which is equal to Avogadro</a:t>
            </a:r>
            <a:r>
              <a:rPr lang="ja-JP" altLang="en-US">
                <a:latin typeface="Arial"/>
                <a:cs typeface="Arial" charset="0"/>
              </a:rPr>
              <a:t>’</a:t>
            </a:r>
            <a:r>
              <a:rPr lang="en-US">
                <a:cs typeface="Arial" charset="0"/>
              </a:rPr>
              <a:t>s number.</a:t>
            </a:r>
            <a:endParaRPr lang="en-US"/>
          </a:p>
        </p:txBody>
      </p:sp>
    </p:spTree>
    <p:extLst>
      <p:ext uri="{BB962C8B-B14F-4D97-AF65-F5344CB8AC3E}">
        <p14:creationId xmlns:p14="http://schemas.microsoft.com/office/powerpoint/2010/main" val="3535278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5DCFC4-9F06-D346-B1BC-539092C9D523}" type="slidenum">
              <a:rPr lang="en-US"/>
              <a:pPr/>
              <a:t>14</a:t>
            </a:fld>
            <a:endParaRPr lang="en-US"/>
          </a:p>
        </p:txBody>
      </p:sp>
      <p:sp>
        <p:nvSpPr>
          <p:cNvPr id="3502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50211" name="Rectangle 3"/>
          <p:cNvSpPr>
            <a:spLocks noGrp="1" noChangeArrowheads="1"/>
          </p:cNvSpPr>
          <p:nvPr>
            <p:ph type="body" idx="1"/>
          </p:nvPr>
        </p:nvSpPr>
        <p:spPr/>
        <p:txBody>
          <a:bodyPr/>
          <a:lstStyle/>
          <a:p>
            <a:r>
              <a:rPr lang="en-US" dirty="0"/>
              <a:t>The correct answer is e.</a:t>
            </a:r>
            <a:r>
              <a:rPr lang="en-US" baseline="0" dirty="0"/>
              <a:t> </a:t>
            </a:r>
            <a:r>
              <a:rPr lang="en-US" dirty="0"/>
              <a:t>The mass of one atom of copper is going to be extremely small, so only answer option </a:t>
            </a:r>
            <a:r>
              <a:rPr lang="ja-JP" altLang="en-US" dirty="0">
                <a:latin typeface="Arial"/>
              </a:rPr>
              <a:t>“</a:t>
            </a:r>
            <a:r>
              <a:rPr lang="en-US" dirty="0"/>
              <a:t>e</a:t>
            </a:r>
            <a:r>
              <a:rPr lang="ja-JP" altLang="en-US" dirty="0">
                <a:latin typeface="Arial"/>
              </a:rPr>
              <a:t>”</a:t>
            </a:r>
            <a:r>
              <a:rPr lang="en-US" dirty="0"/>
              <a:t> makes sense.  The calculated solution is (1 Cu atom) </a:t>
            </a:r>
            <a:r>
              <a:rPr lang="en-US" dirty="0">
                <a:cs typeface="Arial" charset="0"/>
              </a:rPr>
              <a:t>× (1 mol Cu/6.022×10</a:t>
            </a:r>
            <a:r>
              <a:rPr lang="en-US" baseline="30000" dirty="0">
                <a:cs typeface="Arial" charset="0"/>
              </a:rPr>
              <a:t>23</a:t>
            </a:r>
            <a:r>
              <a:rPr lang="en-US" dirty="0">
                <a:cs typeface="Arial" charset="0"/>
              </a:rPr>
              <a:t> Cu atoms) × (63.55 g Cu/1 mol Cu). </a:t>
            </a:r>
            <a:endParaRPr lang="en-US" dirty="0"/>
          </a:p>
        </p:txBody>
      </p:sp>
    </p:spTree>
    <p:extLst>
      <p:ext uri="{BB962C8B-B14F-4D97-AF65-F5344CB8AC3E}">
        <p14:creationId xmlns:p14="http://schemas.microsoft.com/office/powerpoint/2010/main" val="2350390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A825C1-D005-4944-AB07-8A0864FD31D6}" type="slidenum">
              <a:rPr lang="en-US"/>
              <a:pPr/>
              <a:t>15</a:t>
            </a:fld>
            <a:endParaRPr lang="en-US"/>
          </a:p>
        </p:txBody>
      </p:sp>
      <p:sp>
        <p:nvSpPr>
          <p:cNvPr id="1495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49507" name="Rectangle 3"/>
          <p:cNvSpPr>
            <a:spLocks noGrp="1" noChangeArrowheads="1"/>
          </p:cNvSpPr>
          <p:nvPr>
            <p:ph type="body" idx="1"/>
          </p:nvPr>
        </p:nvSpPr>
        <p:spPr/>
        <p:txBody>
          <a:bodyPr/>
          <a:lstStyle/>
          <a:p>
            <a:r>
              <a:rPr lang="en-US">
                <a:cs typeface="Arial" charset="0"/>
              </a:rPr>
              <a:t>(4.48 mol Fe) × (6.022×10</a:t>
            </a:r>
            <a:r>
              <a:rPr lang="en-US" baseline="30000">
                <a:cs typeface="Arial" charset="0"/>
              </a:rPr>
              <a:t>23</a:t>
            </a:r>
            <a:r>
              <a:rPr lang="en-US">
                <a:cs typeface="Arial" charset="0"/>
              </a:rPr>
              <a:t> Fe atoms / 1 mol Fe) = 2.70×10</a:t>
            </a:r>
            <a:r>
              <a:rPr lang="en-US" baseline="30000">
                <a:cs typeface="Arial" charset="0"/>
              </a:rPr>
              <a:t>24</a:t>
            </a:r>
            <a:r>
              <a:rPr lang="en-US">
                <a:cs typeface="Arial" charset="0"/>
              </a:rPr>
              <a:t> Fe atoms.</a:t>
            </a:r>
          </a:p>
        </p:txBody>
      </p:sp>
    </p:spTree>
    <p:extLst>
      <p:ext uri="{BB962C8B-B14F-4D97-AF65-F5344CB8AC3E}">
        <p14:creationId xmlns:p14="http://schemas.microsoft.com/office/powerpoint/2010/main" val="18271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1292F4-6814-A045-8D81-CBA16EDC7572}" type="slidenum">
              <a:rPr lang="en-US"/>
              <a:pPr/>
              <a:t>16</a:t>
            </a:fld>
            <a:endParaRPr lang="en-US"/>
          </a:p>
        </p:txBody>
      </p:sp>
      <p:sp>
        <p:nvSpPr>
          <p:cNvPr id="3584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58403" name="Rectangle 3"/>
          <p:cNvSpPr>
            <a:spLocks noGrp="1" noChangeArrowheads="1"/>
          </p:cNvSpPr>
          <p:nvPr>
            <p:ph type="body" idx="1"/>
          </p:nvPr>
        </p:nvSpPr>
        <p:spPr/>
        <p:txBody>
          <a:bodyPr/>
          <a:lstStyle/>
          <a:p>
            <a:r>
              <a:rPr lang="en-US" dirty="0">
                <a:cs typeface="Arial" charset="0"/>
              </a:rPr>
              <a:t>The correct answer is c</a:t>
            </a:r>
            <a:r>
              <a:rPr lang="en-US" baseline="0" dirty="0">
                <a:cs typeface="Arial" charset="0"/>
              </a:rPr>
              <a:t> t</a:t>
            </a:r>
            <a:r>
              <a:rPr lang="en-US" dirty="0">
                <a:cs typeface="Arial" charset="0"/>
              </a:rPr>
              <a:t>hat is </a:t>
            </a:r>
            <a:r>
              <a:rPr lang="en-US" dirty="0"/>
              <a:t>the mass of 1 mole of gold. The 26.98 g of Al represents 1 mole of Al. Thus, both samples contain Avogadro</a:t>
            </a:r>
            <a:r>
              <a:rPr lang="ja-JP" altLang="en-US" dirty="0">
                <a:latin typeface="Arial"/>
              </a:rPr>
              <a:t>’</a:t>
            </a:r>
            <a:r>
              <a:rPr lang="en-US" dirty="0"/>
              <a:t>s number, 6.022 </a:t>
            </a:r>
            <a:r>
              <a:rPr lang="en-US" dirty="0">
                <a:cs typeface="Times New Roman" charset="0"/>
              </a:rPr>
              <a:t>× </a:t>
            </a:r>
            <a:r>
              <a:rPr lang="en-US" dirty="0"/>
              <a:t>10</a:t>
            </a:r>
            <a:r>
              <a:rPr lang="en-US" baseline="30000" dirty="0"/>
              <a:t>23</a:t>
            </a:r>
            <a:r>
              <a:rPr lang="en-US" dirty="0"/>
              <a:t> atoms.</a:t>
            </a:r>
          </a:p>
        </p:txBody>
      </p:sp>
    </p:spTree>
    <p:extLst>
      <p:ext uri="{BB962C8B-B14F-4D97-AF65-F5344CB8AC3E}">
        <p14:creationId xmlns:p14="http://schemas.microsoft.com/office/powerpoint/2010/main" val="3774131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484272-AFCE-674F-8835-588081CF97DF}" type="slidenum">
              <a:rPr lang="en-US"/>
              <a:pPr/>
              <a:t>17</a:t>
            </a:fld>
            <a:endParaRPr lang="en-US"/>
          </a:p>
        </p:txBody>
      </p:sp>
      <p:sp>
        <p:nvSpPr>
          <p:cNvPr id="3543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54307" name="Rectangle 3"/>
          <p:cNvSpPr>
            <a:spLocks noGrp="1" noChangeArrowheads="1"/>
          </p:cNvSpPr>
          <p:nvPr>
            <p:ph type="body" idx="1"/>
          </p:nvPr>
        </p:nvSpPr>
        <p:spPr/>
        <p:txBody>
          <a:bodyPr/>
          <a:lstStyle/>
          <a:p>
            <a:r>
              <a:rPr lang="en-US" dirty="0"/>
              <a:t>The correct answer is a. Magnesium</a:t>
            </a:r>
            <a:r>
              <a:rPr lang="en-US" baseline="0" dirty="0"/>
              <a:t> </a:t>
            </a:r>
            <a:r>
              <a:rPr lang="en-US" dirty="0"/>
              <a:t>has the smallest average atomic mass (24.31 </a:t>
            </a:r>
            <a:r>
              <a:rPr lang="en-US" dirty="0" err="1"/>
              <a:t>amu</a:t>
            </a:r>
            <a:r>
              <a:rPr lang="en-US" dirty="0"/>
              <a:t>).</a:t>
            </a:r>
            <a:r>
              <a:rPr lang="en-US" baseline="0" dirty="0"/>
              <a:t> </a:t>
            </a:r>
            <a:r>
              <a:rPr lang="en-US" dirty="0"/>
              <a:t>Since magnesium is lighter than zinc and silver, it will take more atoms to reach 100.0 g.</a:t>
            </a:r>
          </a:p>
        </p:txBody>
      </p:sp>
    </p:spTree>
    <p:extLst>
      <p:ext uri="{BB962C8B-B14F-4D97-AF65-F5344CB8AC3E}">
        <p14:creationId xmlns:p14="http://schemas.microsoft.com/office/powerpoint/2010/main" val="2558481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D129B0-58B1-E146-AF42-86EFFEA61DBC}" type="slidenum">
              <a:rPr lang="en-US"/>
              <a:pPr/>
              <a:t>18</a:t>
            </a:fld>
            <a:endParaRPr lang="en-US"/>
          </a:p>
        </p:txBody>
      </p:sp>
      <p:sp>
        <p:nvSpPr>
          <p:cNvPr id="3563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56355" name="Rectangle 3"/>
          <p:cNvSpPr>
            <a:spLocks noGrp="1" noChangeArrowheads="1"/>
          </p:cNvSpPr>
          <p:nvPr>
            <p:ph type="body" idx="1"/>
          </p:nvPr>
        </p:nvSpPr>
        <p:spPr/>
        <p:txBody>
          <a:bodyPr/>
          <a:lstStyle/>
          <a:p>
            <a:r>
              <a:rPr lang="en-US" dirty="0"/>
              <a:t>b, a, c; The greater the number of moles, the greater the number of atoms present. Zinc contains 1.07 mol, Ag contains 1.000 mol, and Mg contains 0.864 mol.</a:t>
            </a:r>
          </a:p>
        </p:txBody>
      </p:sp>
    </p:spTree>
    <p:extLst>
      <p:ext uri="{BB962C8B-B14F-4D97-AF65-F5344CB8AC3E}">
        <p14:creationId xmlns:p14="http://schemas.microsoft.com/office/powerpoint/2010/main" val="794973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39FC8E-8E88-244B-B53F-D2D3ACFBFAB3}" type="slidenum">
              <a:rPr lang="en-US"/>
              <a:pPr/>
              <a:t>19</a:t>
            </a:fld>
            <a:endParaRPr lang="en-US"/>
          </a:p>
        </p:txBody>
      </p:sp>
      <p:sp>
        <p:nvSpPr>
          <p:cNvPr id="3020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02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52349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6CD1E1-64DF-3945-89F6-207625CAF854}" type="slidenum">
              <a:rPr lang="en-US"/>
              <a:pPr/>
              <a:t>20</a:t>
            </a:fld>
            <a:endParaRPr lang="en-US"/>
          </a:p>
        </p:txBody>
      </p:sp>
      <p:sp>
        <p:nvSpPr>
          <p:cNvPr id="3164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6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99294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9193D7-272C-1C4F-A23F-75C588630AEF}" type="slidenum">
              <a:rPr lang="en-US"/>
              <a:pPr/>
              <a:t>21</a:t>
            </a:fld>
            <a:endParaRPr lang="en-US"/>
          </a:p>
        </p:txBody>
      </p:sp>
      <p:sp>
        <p:nvSpPr>
          <p:cNvPr id="3184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8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4742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BF1A4E-4025-F944-B3D9-E0906B411E03}" type="slidenum">
              <a:rPr lang="en-US"/>
              <a:pPr/>
              <a:t>22</a:t>
            </a:fld>
            <a:endParaRPr lang="en-US"/>
          </a:p>
        </p:txBody>
      </p:sp>
      <p:sp>
        <p:nvSpPr>
          <p:cNvPr id="3481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48163" name="Rectangle 3"/>
          <p:cNvSpPr>
            <a:spLocks noGrp="1" noChangeArrowheads="1"/>
          </p:cNvSpPr>
          <p:nvPr>
            <p:ph type="body" idx="1"/>
          </p:nvPr>
        </p:nvSpPr>
        <p:spPr/>
        <p:txBody>
          <a:bodyPr/>
          <a:lstStyle/>
          <a:p>
            <a:r>
              <a:rPr lang="en-US" dirty="0">
                <a:solidFill>
                  <a:srgbClr val="009900"/>
                </a:solidFill>
                <a:cs typeface="Arial" charset="0"/>
              </a:rPr>
              <a:t>The correct answer is a.</a:t>
            </a:r>
            <a:r>
              <a:rPr lang="en-US" baseline="0" dirty="0">
                <a:solidFill>
                  <a:srgbClr val="009900"/>
                </a:solidFill>
                <a:cs typeface="Arial" charset="0"/>
              </a:rPr>
              <a:t> </a:t>
            </a:r>
            <a:r>
              <a:rPr lang="en-US" dirty="0">
                <a:solidFill>
                  <a:srgbClr val="009900"/>
                </a:solidFill>
                <a:cs typeface="Arial" charset="0"/>
              </a:rPr>
              <a:t>The formula for nickel(II) carbonate is NiCO</a:t>
            </a:r>
            <a:r>
              <a:rPr lang="en-US" baseline="-25000" dirty="0">
                <a:solidFill>
                  <a:srgbClr val="009900"/>
                </a:solidFill>
                <a:cs typeface="Arial" charset="0"/>
              </a:rPr>
              <a:t>3</a:t>
            </a:r>
            <a:r>
              <a:rPr lang="en-US" dirty="0">
                <a:solidFill>
                  <a:srgbClr val="009900"/>
                </a:solidFill>
                <a:cs typeface="Arial" charset="0"/>
              </a:rPr>
              <a:t>.  Therefore, the molar mass is 58.69 + 12.01 + 3(16.00) = 118.7 g/mol.</a:t>
            </a:r>
          </a:p>
        </p:txBody>
      </p:sp>
    </p:spTree>
    <p:extLst>
      <p:ext uri="{BB962C8B-B14F-4D97-AF65-F5344CB8AC3E}">
        <p14:creationId xmlns:p14="http://schemas.microsoft.com/office/powerpoint/2010/main" val="975519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3BC5C6-752B-3949-8FC7-0773A753C1B8}" type="slidenum">
              <a:rPr lang="en-US"/>
              <a:pPr/>
              <a:t>23</a:t>
            </a:fld>
            <a:endParaRPr lang="en-US"/>
          </a:p>
        </p:txBody>
      </p:sp>
      <p:sp>
        <p:nvSpPr>
          <p:cNvPr id="3604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60451" name="Rectangle 3"/>
          <p:cNvSpPr>
            <a:spLocks noGrp="1" noChangeArrowheads="1"/>
          </p:cNvSpPr>
          <p:nvPr>
            <p:ph type="body" idx="1"/>
          </p:nvPr>
        </p:nvSpPr>
        <p:spPr/>
        <p:txBody>
          <a:bodyPr/>
          <a:lstStyle/>
          <a:p>
            <a:r>
              <a:rPr lang="en-US" dirty="0">
                <a:solidFill>
                  <a:srgbClr val="009900"/>
                </a:solidFill>
                <a:cs typeface="Arial" charset="0"/>
              </a:rPr>
              <a:t>The correct answer is c. </a:t>
            </a:r>
            <a:r>
              <a:rPr lang="en-US" dirty="0"/>
              <a:t>Assume you have one mole of each sample</a:t>
            </a:r>
            <a:r>
              <a:rPr lang="en-US" dirty="0">
                <a:cs typeface="Arial" charset="0"/>
              </a:rPr>
              <a:t>. This means you have 1 mole of N in KCN, 2 moles of N in </a:t>
            </a:r>
            <a:r>
              <a:rPr lang="en-US" dirty="0"/>
              <a:t>N</a:t>
            </a:r>
            <a:r>
              <a:rPr lang="en-US" baseline="-25000" dirty="0"/>
              <a:t>2</a:t>
            </a:r>
            <a:r>
              <a:rPr lang="en-US" dirty="0"/>
              <a:t>O, and 3 moles of N in Al(NO</a:t>
            </a:r>
            <a:r>
              <a:rPr lang="en-US" baseline="-25000" dirty="0"/>
              <a:t>3</a:t>
            </a:r>
            <a:r>
              <a:rPr lang="en-US" dirty="0"/>
              <a:t>)</a:t>
            </a:r>
            <a:r>
              <a:rPr lang="en-US" baseline="-25000" dirty="0"/>
              <a:t>3</a:t>
            </a:r>
            <a:r>
              <a:rPr lang="en-US" dirty="0"/>
              <a:t>. Moles are directly related through Avogadro</a:t>
            </a:r>
            <a:r>
              <a:rPr lang="ja-JP" altLang="en-US" dirty="0">
                <a:latin typeface="Arial"/>
              </a:rPr>
              <a:t>’</a:t>
            </a:r>
            <a:r>
              <a:rPr lang="en-US" dirty="0"/>
              <a:t>s number.</a:t>
            </a:r>
          </a:p>
        </p:txBody>
      </p:sp>
    </p:spTree>
    <p:extLst>
      <p:ext uri="{BB962C8B-B14F-4D97-AF65-F5344CB8AC3E}">
        <p14:creationId xmlns:p14="http://schemas.microsoft.com/office/powerpoint/2010/main" val="706516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18BC6F-276B-DB4A-8945-34592A1DA696}" type="slidenum">
              <a:rPr lang="en-US"/>
              <a:pPr/>
              <a:t>24</a:t>
            </a:fld>
            <a:endParaRPr lang="en-US"/>
          </a:p>
        </p:txBody>
      </p:sp>
      <p:sp>
        <p:nvSpPr>
          <p:cNvPr id="3143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4371" name="Rectangle 3"/>
          <p:cNvSpPr>
            <a:spLocks noGrp="1" noChangeArrowheads="1"/>
          </p:cNvSpPr>
          <p:nvPr>
            <p:ph type="body" idx="1"/>
          </p:nvPr>
        </p:nvSpPr>
        <p:spPr/>
        <p:txBody>
          <a:bodyPr/>
          <a:lstStyle/>
          <a:p>
            <a:r>
              <a:rPr lang="en-US" sz="1400" dirty="0"/>
              <a:t>H</a:t>
            </a:r>
            <a:r>
              <a:rPr lang="en-US" sz="1400" baseline="-25000" dirty="0"/>
              <a:t>2</a:t>
            </a:r>
            <a:r>
              <a:rPr lang="en-US" sz="1400" dirty="0"/>
              <a:t>O, CO</a:t>
            </a:r>
            <a:r>
              <a:rPr lang="en-US" sz="1400" baseline="-25000" dirty="0"/>
              <a:t>2</a:t>
            </a:r>
            <a:r>
              <a:rPr lang="en-US" sz="1400" dirty="0"/>
              <a:t>, C</a:t>
            </a:r>
            <a:r>
              <a:rPr lang="en-US" sz="1400" baseline="-25000" dirty="0"/>
              <a:t>3</a:t>
            </a:r>
            <a:r>
              <a:rPr lang="en-US" sz="1400" dirty="0"/>
              <a:t>H</a:t>
            </a:r>
            <a:r>
              <a:rPr lang="en-US" sz="1400" baseline="-25000" dirty="0"/>
              <a:t>6</a:t>
            </a:r>
            <a:r>
              <a:rPr lang="en-US" sz="1400" dirty="0"/>
              <a:t>O</a:t>
            </a:r>
            <a:r>
              <a:rPr lang="en-US" sz="1400" baseline="-25000" dirty="0"/>
              <a:t>2</a:t>
            </a:r>
            <a:r>
              <a:rPr lang="en-US" sz="1400" dirty="0"/>
              <a:t>, N</a:t>
            </a:r>
            <a:r>
              <a:rPr lang="en-US" sz="1400" baseline="-25000" dirty="0"/>
              <a:t>2</a:t>
            </a:r>
            <a:r>
              <a:rPr lang="en-US" sz="1400" dirty="0"/>
              <a:t>O; </a:t>
            </a:r>
          </a:p>
          <a:p>
            <a:r>
              <a:rPr lang="en-US" sz="1400" dirty="0"/>
              <a:t>The number of oxygen atoms in each is:</a:t>
            </a:r>
          </a:p>
          <a:p>
            <a:r>
              <a:rPr lang="en-US" sz="1400" dirty="0"/>
              <a:t>H</a:t>
            </a:r>
            <a:r>
              <a:rPr lang="en-US" sz="1400" baseline="-25000" dirty="0"/>
              <a:t>2</a:t>
            </a:r>
            <a:r>
              <a:rPr lang="en-US" sz="1400" dirty="0"/>
              <a:t>O = 3.343</a:t>
            </a:r>
            <a:r>
              <a:rPr lang="en-US" sz="1400" dirty="0">
                <a:cs typeface="Arial" charset="0"/>
              </a:rPr>
              <a:t>×10</a:t>
            </a:r>
            <a:r>
              <a:rPr lang="en-US" sz="1400" baseline="30000" dirty="0">
                <a:cs typeface="Arial" charset="0"/>
              </a:rPr>
              <a:t>24</a:t>
            </a:r>
          </a:p>
          <a:p>
            <a:r>
              <a:rPr lang="en-US" sz="1400" dirty="0"/>
              <a:t>CO</a:t>
            </a:r>
            <a:r>
              <a:rPr lang="en-US" sz="1400" baseline="-25000" dirty="0"/>
              <a:t>2</a:t>
            </a:r>
            <a:r>
              <a:rPr lang="en-US" sz="1400" dirty="0"/>
              <a:t> = 2.737</a:t>
            </a:r>
            <a:r>
              <a:rPr lang="en-US" sz="1400" dirty="0">
                <a:cs typeface="Arial" charset="0"/>
              </a:rPr>
              <a:t>×10</a:t>
            </a:r>
            <a:r>
              <a:rPr lang="en-US" sz="1400" baseline="30000" dirty="0">
                <a:cs typeface="Arial" charset="0"/>
              </a:rPr>
              <a:t>24</a:t>
            </a:r>
          </a:p>
          <a:p>
            <a:r>
              <a:rPr lang="en-US" sz="1400" dirty="0"/>
              <a:t>C</a:t>
            </a:r>
            <a:r>
              <a:rPr lang="en-US" sz="1400" baseline="-25000" dirty="0"/>
              <a:t>3</a:t>
            </a:r>
            <a:r>
              <a:rPr lang="en-US" sz="1400" dirty="0"/>
              <a:t>H</a:t>
            </a:r>
            <a:r>
              <a:rPr lang="en-US" sz="1400" baseline="-25000" dirty="0"/>
              <a:t>6</a:t>
            </a:r>
            <a:r>
              <a:rPr lang="en-US" sz="1400" dirty="0"/>
              <a:t>O</a:t>
            </a:r>
            <a:r>
              <a:rPr lang="en-US" sz="1400" baseline="-25000" dirty="0"/>
              <a:t>2</a:t>
            </a:r>
            <a:r>
              <a:rPr lang="en-US" sz="1400" dirty="0"/>
              <a:t> = 1.626</a:t>
            </a:r>
            <a:r>
              <a:rPr lang="en-US" sz="1400" dirty="0">
                <a:cs typeface="Arial" charset="0"/>
              </a:rPr>
              <a:t>×10</a:t>
            </a:r>
            <a:r>
              <a:rPr lang="en-US" sz="1400" baseline="30000" dirty="0">
                <a:cs typeface="Arial" charset="0"/>
              </a:rPr>
              <a:t>24</a:t>
            </a:r>
          </a:p>
          <a:p>
            <a:r>
              <a:rPr lang="en-US" sz="1400" dirty="0"/>
              <a:t>N</a:t>
            </a:r>
            <a:r>
              <a:rPr lang="en-US" sz="1400" baseline="-25000" dirty="0"/>
              <a:t>2</a:t>
            </a:r>
            <a:r>
              <a:rPr lang="en-US" sz="1400" dirty="0"/>
              <a:t>O = 1.368</a:t>
            </a:r>
            <a:r>
              <a:rPr lang="en-US" sz="1400" dirty="0">
                <a:cs typeface="Arial" charset="0"/>
              </a:rPr>
              <a:t>×10</a:t>
            </a:r>
            <a:r>
              <a:rPr lang="en-US" sz="1400" baseline="30000" dirty="0">
                <a:cs typeface="Arial" charset="0"/>
              </a:rPr>
              <a:t>24</a:t>
            </a:r>
          </a:p>
          <a:p>
            <a:endParaRPr lang="en-US" dirty="0"/>
          </a:p>
        </p:txBody>
      </p:sp>
    </p:spTree>
    <p:extLst>
      <p:ext uri="{BB962C8B-B14F-4D97-AF65-F5344CB8AC3E}">
        <p14:creationId xmlns:p14="http://schemas.microsoft.com/office/powerpoint/2010/main" val="3308511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B8EF37-483A-4C49-8261-F945C9B082B1}" type="slidenum">
              <a:rPr lang="en-US"/>
              <a:pPr/>
              <a:t>25</a:t>
            </a:fld>
            <a:endParaRPr lang="en-US"/>
          </a:p>
        </p:txBody>
      </p:sp>
      <p:sp>
        <p:nvSpPr>
          <p:cNvPr id="3624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62499" name="Rectangle 3"/>
          <p:cNvSpPr>
            <a:spLocks noGrp="1" noChangeArrowheads="1"/>
          </p:cNvSpPr>
          <p:nvPr>
            <p:ph type="body" idx="1"/>
          </p:nvPr>
        </p:nvSpPr>
        <p:spPr/>
        <p:txBody>
          <a:bodyPr/>
          <a:lstStyle/>
          <a:p>
            <a:r>
              <a:rPr lang="en-US" dirty="0">
                <a:solidFill>
                  <a:srgbClr val="009900"/>
                </a:solidFill>
                <a:cs typeface="Arial" charset="0"/>
              </a:rPr>
              <a:t>The correct answer is b. </a:t>
            </a:r>
          </a:p>
          <a:p>
            <a:endParaRPr lang="en-US" dirty="0">
              <a:solidFill>
                <a:srgbClr val="009900"/>
              </a:solidFill>
              <a:cs typeface="Arial" charset="0"/>
            </a:endParaRPr>
          </a:p>
          <a:p>
            <a:r>
              <a:rPr lang="en-US" dirty="0">
                <a:solidFill>
                  <a:srgbClr val="009900"/>
                </a:solidFill>
                <a:cs typeface="Arial" charset="0"/>
              </a:rPr>
              <a:t>1 molecule BF</a:t>
            </a:r>
            <a:r>
              <a:rPr lang="en-US" baseline="-25000" dirty="0">
                <a:solidFill>
                  <a:srgbClr val="009900"/>
                </a:solidFill>
                <a:cs typeface="Arial" charset="0"/>
              </a:rPr>
              <a:t>3</a:t>
            </a:r>
            <a:r>
              <a:rPr lang="en-US" dirty="0">
                <a:solidFill>
                  <a:srgbClr val="009900"/>
                </a:solidFill>
                <a:cs typeface="Arial" charset="0"/>
              </a:rPr>
              <a:t> × (3 atoms F/1 molecule BF</a:t>
            </a:r>
            <a:r>
              <a:rPr lang="en-US" baseline="-25000" dirty="0">
                <a:solidFill>
                  <a:srgbClr val="009900"/>
                </a:solidFill>
                <a:cs typeface="Arial" charset="0"/>
              </a:rPr>
              <a:t>3</a:t>
            </a:r>
            <a:r>
              <a:rPr lang="en-US" dirty="0">
                <a:solidFill>
                  <a:srgbClr val="009900"/>
                </a:solidFill>
                <a:cs typeface="Arial" charset="0"/>
              </a:rPr>
              <a:t>) × (1 </a:t>
            </a:r>
            <a:r>
              <a:rPr lang="en-US" dirty="0" err="1">
                <a:solidFill>
                  <a:srgbClr val="009900"/>
                </a:solidFill>
                <a:cs typeface="Arial" charset="0"/>
              </a:rPr>
              <a:t>mol</a:t>
            </a:r>
            <a:r>
              <a:rPr lang="en-US" dirty="0">
                <a:solidFill>
                  <a:srgbClr val="009900"/>
                </a:solidFill>
                <a:cs typeface="Arial" charset="0"/>
              </a:rPr>
              <a:t> F/6.022×10</a:t>
            </a:r>
            <a:r>
              <a:rPr lang="en-US" baseline="30000" dirty="0">
                <a:solidFill>
                  <a:srgbClr val="009900"/>
                </a:solidFill>
                <a:cs typeface="Arial" charset="0"/>
              </a:rPr>
              <a:t>23</a:t>
            </a:r>
            <a:r>
              <a:rPr lang="en-US" dirty="0">
                <a:solidFill>
                  <a:srgbClr val="009900"/>
                </a:solidFill>
                <a:cs typeface="Arial" charset="0"/>
              </a:rPr>
              <a:t> atoms F) × (19.00 g F/1 </a:t>
            </a:r>
            <a:r>
              <a:rPr lang="en-US" dirty="0" err="1">
                <a:solidFill>
                  <a:srgbClr val="009900"/>
                </a:solidFill>
                <a:cs typeface="Arial" charset="0"/>
              </a:rPr>
              <a:t>mol</a:t>
            </a:r>
            <a:r>
              <a:rPr lang="en-US" dirty="0">
                <a:solidFill>
                  <a:srgbClr val="009900"/>
                </a:solidFill>
                <a:cs typeface="Arial" charset="0"/>
              </a:rPr>
              <a:t> F) = </a:t>
            </a:r>
            <a:r>
              <a:rPr lang="en-US" dirty="0"/>
              <a:t>9.465 × 10</a:t>
            </a:r>
            <a:r>
              <a:rPr lang="en-US" baseline="30000" dirty="0"/>
              <a:t>–23</a:t>
            </a:r>
            <a:r>
              <a:rPr lang="en-US" dirty="0"/>
              <a:t> g F</a:t>
            </a:r>
            <a:endParaRPr lang="en-US" dirty="0">
              <a:solidFill>
                <a:srgbClr val="009900"/>
              </a:solidFill>
              <a:cs typeface="Arial" charset="0"/>
            </a:endParaRPr>
          </a:p>
          <a:p>
            <a:endParaRPr lang="en-US" dirty="0">
              <a:solidFill>
                <a:srgbClr val="009900"/>
              </a:solidFill>
              <a:cs typeface="Arial" charset="0"/>
            </a:endParaRPr>
          </a:p>
        </p:txBody>
      </p:sp>
    </p:spTree>
    <p:extLst>
      <p:ext uri="{BB962C8B-B14F-4D97-AF65-F5344CB8AC3E}">
        <p14:creationId xmlns:p14="http://schemas.microsoft.com/office/powerpoint/2010/main" val="1166751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E7D6E5-0247-7B4C-B02C-B37AA85A0E7C}" type="slidenum">
              <a:rPr lang="en-US"/>
              <a:pPr/>
              <a:t>26</a:t>
            </a:fld>
            <a:endParaRPr lang="en-US"/>
          </a:p>
        </p:txBody>
      </p:sp>
      <p:sp>
        <p:nvSpPr>
          <p:cNvPr id="1658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658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7322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5F6806-92C1-EC44-9242-114306BCBC52}" type="slidenum">
              <a:rPr lang="en-US"/>
              <a:pPr/>
              <a:t>27</a:t>
            </a:fld>
            <a:endParaRPr lang="en-US"/>
          </a:p>
        </p:txBody>
      </p:sp>
      <p:sp>
        <p:nvSpPr>
          <p:cNvPr id="1679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67939" name="Rectangle 3"/>
          <p:cNvSpPr>
            <a:spLocks noGrp="1" noChangeArrowheads="1"/>
          </p:cNvSpPr>
          <p:nvPr>
            <p:ph type="body" idx="1"/>
          </p:nvPr>
        </p:nvSpPr>
        <p:spPr/>
        <p:txBody>
          <a:bodyPr/>
          <a:lstStyle/>
          <a:p>
            <a:r>
              <a:rPr lang="en-US" dirty="0"/>
              <a:t>The correct answer is d. First, determine the molar mass of the compound and then divide that into the total mass of carbon present. Finally, multiply that by 100 to convert from a fraction into a percentage.</a:t>
            </a:r>
          </a:p>
          <a:p>
            <a:endParaRPr lang="en-US" dirty="0"/>
          </a:p>
          <a:p>
            <a:r>
              <a:rPr lang="en-US" dirty="0"/>
              <a:t>(17 </a:t>
            </a:r>
            <a:r>
              <a:rPr lang="en-US" dirty="0">
                <a:sym typeface="Symbol" charset="0"/>
              </a:rPr>
              <a:t></a:t>
            </a:r>
            <a:r>
              <a:rPr lang="en-US" dirty="0"/>
              <a:t> 12.01) / [(17 </a:t>
            </a:r>
            <a:r>
              <a:rPr lang="en-US" dirty="0">
                <a:sym typeface="Symbol" charset="0"/>
              </a:rPr>
              <a:t></a:t>
            </a:r>
            <a:r>
              <a:rPr lang="en-US" dirty="0"/>
              <a:t> 12.01) + (19 </a:t>
            </a:r>
            <a:r>
              <a:rPr lang="en-US" dirty="0">
                <a:sym typeface="Symbol" charset="0"/>
              </a:rPr>
              <a:t></a:t>
            </a:r>
            <a:r>
              <a:rPr lang="en-US" dirty="0"/>
              <a:t> 1.01) + (1 </a:t>
            </a:r>
            <a:r>
              <a:rPr lang="en-US" dirty="0">
                <a:sym typeface="Symbol" charset="0"/>
              </a:rPr>
              <a:t></a:t>
            </a:r>
            <a:r>
              <a:rPr lang="en-US" dirty="0"/>
              <a:t> 14.01) + (3 </a:t>
            </a:r>
            <a:r>
              <a:rPr lang="en-US" dirty="0">
                <a:sym typeface="Symbol" charset="0"/>
              </a:rPr>
              <a:t></a:t>
            </a:r>
            <a:r>
              <a:rPr lang="en-US" dirty="0"/>
              <a:t> 16.00)] = 0.716</a:t>
            </a:r>
          </a:p>
          <a:p>
            <a:r>
              <a:rPr lang="en-US" dirty="0"/>
              <a:t>0.716 </a:t>
            </a:r>
            <a:r>
              <a:rPr lang="en-US" dirty="0">
                <a:sym typeface="Symbol" charset="0"/>
              </a:rPr>
              <a:t></a:t>
            </a:r>
            <a:r>
              <a:rPr lang="en-US" dirty="0"/>
              <a:t> 100 = 71.6 %</a:t>
            </a:r>
          </a:p>
        </p:txBody>
      </p:sp>
    </p:spTree>
    <p:extLst>
      <p:ext uri="{BB962C8B-B14F-4D97-AF65-F5344CB8AC3E}">
        <p14:creationId xmlns:p14="http://schemas.microsoft.com/office/powerpoint/2010/main" val="2140222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7043BC-8111-7F40-AC41-40B53CD3B953}" type="slidenum">
              <a:rPr lang="en-US"/>
              <a:pPr/>
              <a:t>28</a:t>
            </a:fld>
            <a:endParaRPr lang="en-US"/>
          </a:p>
        </p:txBody>
      </p:sp>
      <p:sp>
        <p:nvSpPr>
          <p:cNvPr id="3645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64547" name="Rectangle 3"/>
          <p:cNvSpPr>
            <a:spLocks noGrp="1" noChangeArrowheads="1"/>
          </p:cNvSpPr>
          <p:nvPr>
            <p:ph type="body" idx="1"/>
          </p:nvPr>
        </p:nvSpPr>
        <p:spPr/>
        <p:txBody>
          <a:bodyPr/>
          <a:lstStyle/>
          <a:p>
            <a:r>
              <a:rPr lang="en-US" sz="1400" dirty="0"/>
              <a:t>H</a:t>
            </a:r>
            <a:r>
              <a:rPr lang="en-US" sz="1400" baseline="-25000" dirty="0"/>
              <a:t>2</a:t>
            </a:r>
            <a:r>
              <a:rPr lang="en-US" sz="1400" dirty="0"/>
              <a:t>O, CO</a:t>
            </a:r>
            <a:r>
              <a:rPr lang="en-US" sz="1400" baseline="-25000" dirty="0"/>
              <a:t>2</a:t>
            </a:r>
            <a:r>
              <a:rPr lang="en-US" sz="1400" dirty="0"/>
              <a:t>, C</a:t>
            </a:r>
            <a:r>
              <a:rPr lang="en-US" sz="1400" baseline="-25000" dirty="0"/>
              <a:t>3</a:t>
            </a:r>
            <a:r>
              <a:rPr lang="en-US" sz="1400" dirty="0"/>
              <a:t>H</a:t>
            </a:r>
            <a:r>
              <a:rPr lang="en-US" sz="1400" baseline="-25000" dirty="0"/>
              <a:t>6</a:t>
            </a:r>
            <a:r>
              <a:rPr lang="en-US" sz="1400" dirty="0"/>
              <a:t>O</a:t>
            </a:r>
            <a:r>
              <a:rPr lang="en-US" sz="1400" baseline="-25000" dirty="0"/>
              <a:t>2</a:t>
            </a:r>
            <a:r>
              <a:rPr lang="en-US" sz="1400" dirty="0"/>
              <a:t>, N</a:t>
            </a:r>
            <a:r>
              <a:rPr lang="en-US" sz="1400" baseline="-25000" dirty="0"/>
              <a:t>2</a:t>
            </a:r>
            <a:r>
              <a:rPr lang="en-US" sz="1400" dirty="0"/>
              <a:t>O</a:t>
            </a:r>
          </a:p>
          <a:p>
            <a:r>
              <a:rPr lang="en-US" sz="1400" dirty="0"/>
              <a:t>The percent of oxygen by mass in each sample is:</a:t>
            </a:r>
          </a:p>
          <a:p>
            <a:r>
              <a:rPr lang="en-US" sz="1400" dirty="0"/>
              <a:t>H</a:t>
            </a:r>
            <a:r>
              <a:rPr lang="en-US" sz="1400" baseline="-25000" dirty="0"/>
              <a:t>2</a:t>
            </a:r>
            <a:r>
              <a:rPr lang="en-US" sz="1400" dirty="0"/>
              <a:t>O = 88.81%</a:t>
            </a:r>
            <a:endParaRPr lang="en-US" sz="1400" baseline="30000" dirty="0">
              <a:cs typeface="Arial" charset="0"/>
            </a:endParaRPr>
          </a:p>
          <a:p>
            <a:r>
              <a:rPr lang="en-US" sz="1400" dirty="0"/>
              <a:t>CO</a:t>
            </a:r>
            <a:r>
              <a:rPr lang="en-US" sz="1400" baseline="-25000" dirty="0"/>
              <a:t>2</a:t>
            </a:r>
            <a:r>
              <a:rPr lang="en-US" sz="1400" dirty="0"/>
              <a:t> = 72.71%</a:t>
            </a:r>
            <a:endParaRPr lang="en-US" sz="1400" baseline="30000" dirty="0">
              <a:cs typeface="Arial" charset="0"/>
            </a:endParaRPr>
          </a:p>
          <a:p>
            <a:r>
              <a:rPr lang="en-US" sz="1400" dirty="0"/>
              <a:t>C</a:t>
            </a:r>
            <a:r>
              <a:rPr lang="en-US" sz="1400" baseline="-25000" dirty="0"/>
              <a:t>3</a:t>
            </a:r>
            <a:r>
              <a:rPr lang="en-US" sz="1400" dirty="0"/>
              <a:t>H</a:t>
            </a:r>
            <a:r>
              <a:rPr lang="en-US" sz="1400" baseline="-25000" dirty="0"/>
              <a:t>6</a:t>
            </a:r>
            <a:r>
              <a:rPr lang="en-US" sz="1400" dirty="0"/>
              <a:t>O</a:t>
            </a:r>
            <a:r>
              <a:rPr lang="en-US" sz="1400" baseline="-25000" dirty="0"/>
              <a:t>2</a:t>
            </a:r>
            <a:r>
              <a:rPr lang="en-US" sz="1400" dirty="0"/>
              <a:t> = 43.20%</a:t>
            </a:r>
            <a:endParaRPr lang="en-US" sz="1400" baseline="30000" dirty="0">
              <a:cs typeface="Arial" charset="0"/>
            </a:endParaRPr>
          </a:p>
          <a:p>
            <a:r>
              <a:rPr lang="en-US" sz="1400" dirty="0"/>
              <a:t>N</a:t>
            </a:r>
            <a:r>
              <a:rPr lang="en-US" sz="1400" baseline="-25000" dirty="0"/>
              <a:t>2</a:t>
            </a:r>
            <a:r>
              <a:rPr lang="en-US" sz="1400" dirty="0"/>
              <a:t>O = 36.35%</a:t>
            </a:r>
            <a:endParaRPr lang="en-US" dirty="0"/>
          </a:p>
          <a:p>
            <a:endParaRPr lang="en-US" dirty="0"/>
          </a:p>
        </p:txBody>
      </p:sp>
    </p:spTree>
    <p:extLst>
      <p:ext uri="{BB962C8B-B14F-4D97-AF65-F5344CB8AC3E}">
        <p14:creationId xmlns:p14="http://schemas.microsoft.com/office/powerpoint/2010/main" val="342459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BC85AE-3410-4F44-8904-D06C0E4A338D}" type="slidenum">
              <a:rPr lang="en-US"/>
              <a:pPr/>
              <a:t>29</a:t>
            </a:fld>
            <a:endParaRPr lang="en-US"/>
          </a:p>
        </p:txBody>
      </p:sp>
      <p:sp>
        <p:nvSpPr>
          <p:cNvPr id="1699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699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549931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DAC802-1E42-3442-8650-C17E1A1F031D}" type="slidenum">
              <a:rPr lang="en-US"/>
              <a:pPr/>
              <a:t>30</a:t>
            </a:fld>
            <a:endParaRPr lang="en-US"/>
          </a:p>
        </p:txBody>
      </p:sp>
      <p:sp>
        <p:nvSpPr>
          <p:cNvPr id="3235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235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56935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61FD1D-603E-6A4A-B1C1-9A9A2F10C7EF}" type="slidenum">
              <a:rPr lang="en-US"/>
              <a:pPr/>
              <a:t>31</a:t>
            </a:fld>
            <a:endParaRPr lang="en-US"/>
          </a:p>
        </p:txBody>
      </p:sp>
      <p:sp>
        <p:nvSpPr>
          <p:cNvPr id="3256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25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862376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23D5FD-5E23-B241-B7F2-F0A4E625E0D4}" type="slidenum">
              <a:rPr lang="en-US"/>
              <a:pPr/>
              <a:t>32</a:t>
            </a:fld>
            <a:endParaRPr lang="en-US"/>
          </a:p>
        </p:txBody>
      </p:sp>
      <p:sp>
        <p:nvSpPr>
          <p:cNvPr id="3276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276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68305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50755D-2EEE-1D46-83A6-19937C01B683}" type="slidenum">
              <a:rPr lang="en-US"/>
              <a:pPr/>
              <a:t>33</a:t>
            </a:fld>
            <a:endParaRPr lang="en-US"/>
          </a:p>
        </p:txBody>
      </p:sp>
      <p:sp>
        <p:nvSpPr>
          <p:cNvPr id="3297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29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5755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2DCC32-3B54-BF44-8B65-7BC1F30D5635}" type="slidenum">
              <a:rPr lang="en-US"/>
              <a:pPr/>
              <a:t>34</a:t>
            </a:fld>
            <a:endParaRPr lang="en-US"/>
          </a:p>
        </p:txBody>
      </p:sp>
      <p:sp>
        <p:nvSpPr>
          <p:cNvPr id="3317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17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144848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750A21-B1C6-B348-B62E-347B1E7C850A}" type="slidenum">
              <a:rPr lang="en-US"/>
              <a:pPr/>
              <a:t>35</a:t>
            </a:fld>
            <a:endParaRPr lang="en-US"/>
          </a:p>
        </p:txBody>
      </p:sp>
      <p:sp>
        <p:nvSpPr>
          <p:cNvPr id="3338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3827" name="Rectangle 3"/>
          <p:cNvSpPr>
            <a:spLocks noGrp="1" noChangeArrowheads="1"/>
          </p:cNvSpPr>
          <p:nvPr>
            <p:ph type="body" idx="1"/>
          </p:nvPr>
        </p:nvSpPr>
        <p:spPr/>
        <p:txBody>
          <a:bodyPr/>
          <a:lstStyle/>
          <a:p>
            <a:r>
              <a:rPr lang="en-US" dirty="0">
                <a:sym typeface="Wingdings" charset="0"/>
              </a:rPr>
              <a:t>Assume 100.0g. </a:t>
            </a:r>
          </a:p>
          <a:p>
            <a:r>
              <a:rPr lang="en-US" dirty="0">
                <a:sym typeface="Wingdings" charset="0"/>
              </a:rPr>
              <a:t>49.3 g of carbon is 4.105 </a:t>
            </a:r>
            <a:r>
              <a:rPr lang="en-US" dirty="0" err="1">
                <a:sym typeface="Wingdings" charset="0"/>
              </a:rPr>
              <a:t>mol</a:t>
            </a:r>
            <a:r>
              <a:rPr lang="en-US" dirty="0">
                <a:sym typeface="Wingdings" charset="0"/>
              </a:rPr>
              <a:t> C (49.3/12.01). 6.9 g of hydrogen is 6.845 </a:t>
            </a:r>
            <a:r>
              <a:rPr lang="en-US" dirty="0" err="1">
                <a:sym typeface="Wingdings" charset="0"/>
              </a:rPr>
              <a:t>mol</a:t>
            </a:r>
            <a:r>
              <a:rPr lang="en-US" dirty="0">
                <a:sym typeface="Wingdings" charset="0"/>
              </a:rPr>
              <a:t> H (6.9/1.008). 43.8 g of oxygen is 2.7375 </a:t>
            </a:r>
            <a:r>
              <a:rPr lang="en-US" dirty="0" err="1">
                <a:sym typeface="Wingdings" charset="0"/>
              </a:rPr>
              <a:t>mol</a:t>
            </a:r>
            <a:r>
              <a:rPr lang="en-US" dirty="0">
                <a:sym typeface="Wingdings" charset="0"/>
              </a:rPr>
              <a:t> O (43.8/16.00). The ratio of C:H:O is 1.5:2.5:1 (C: 4.105/2.7375 = 1.5; H: 6.845/2.7375 = 2.5). Multiplying each aspect</a:t>
            </a:r>
            <a:r>
              <a:rPr lang="en-US" baseline="0" dirty="0">
                <a:sym typeface="Wingdings" charset="0"/>
              </a:rPr>
              <a:t> of the ratio </a:t>
            </a:r>
            <a:r>
              <a:rPr lang="en-US" dirty="0">
                <a:sym typeface="Wingdings" charset="0"/>
              </a:rPr>
              <a:t>by 2 results in a ratio of 3:5:2. The empirical formula is therefore </a:t>
            </a:r>
            <a:r>
              <a:rPr lang="en-US" sz="1400" dirty="0">
                <a:solidFill>
                  <a:srgbClr val="009900"/>
                </a:solidFill>
              </a:rPr>
              <a:t>C</a:t>
            </a:r>
            <a:r>
              <a:rPr lang="en-US" sz="1400" baseline="-25000" dirty="0">
                <a:solidFill>
                  <a:srgbClr val="009900"/>
                </a:solidFill>
              </a:rPr>
              <a:t>3</a:t>
            </a:r>
            <a:r>
              <a:rPr lang="en-US" sz="1400" dirty="0">
                <a:solidFill>
                  <a:srgbClr val="009900"/>
                </a:solidFill>
              </a:rPr>
              <a:t>H</a:t>
            </a:r>
            <a:r>
              <a:rPr lang="en-US" sz="1400" baseline="-25000" dirty="0">
                <a:solidFill>
                  <a:srgbClr val="009900"/>
                </a:solidFill>
              </a:rPr>
              <a:t>5</a:t>
            </a:r>
            <a:r>
              <a:rPr lang="en-US" sz="1400" dirty="0">
                <a:solidFill>
                  <a:srgbClr val="009900"/>
                </a:solidFill>
              </a:rPr>
              <a:t>O</a:t>
            </a:r>
            <a:r>
              <a:rPr lang="en-US" sz="1400" baseline="-25000" dirty="0">
                <a:solidFill>
                  <a:srgbClr val="009900"/>
                </a:solidFill>
              </a:rPr>
              <a:t>2</a:t>
            </a:r>
            <a:r>
              <a:rPr lang="en-US" dirty="0">
                <a:sym typeface="Wingdings" charset="0"/>
              </a:rPr>
              <a:t>.  </a:t>
            </a:r>
          </a:p>
        </p:txBody>
      </p:sp>
    </p:spTree>
    <p:extLst>
      <p:ext uri="{BB962C8B-B14F-4D97-AF65-F5344CB8AC3E}">
        <p14:creationId xmlns:p14="http://schemas.microsoft.com/office/powerpoint/2010/main" val="24223536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172DC0-0EEA-1E43-9CBC-B4B86E751E42}" type="slidenum">
              <a:rPr lang="en-US"/>
              <a:pPr/>
              <a:t>36</a:t>
            </a:fld>
            <a:endParaRPr lang="en-US"/>
          </a:p>
        </p:txBody>
      </p:sp>
      <p:sp>
        <p:nvSpPr>
          <p:cNvPr id="1822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82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07703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02162C-7936-0949-9557-E73C272F773B}" type="slidenum">
              <a:rPr lang="en-US"/>
              <a:pPr/>
              <a:t>37</a:t>
            </a:fld>
            <a:endParaRPr lang="en-US"/>
          </a:p>
        </p:txBody>
      </p:sp>
      <p:sp>
        <p:nvSpPr>
          <p:cNvPr id="3358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5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224655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5481E6-0C83-A042-A965-0BA44B401499}" type="slidenum">
              <a:rPr lang="en-US"/>
              <a:pPr/>
              <a:t>38</a:t>
            </a:fld>
            <a:endParaRPr lang="en-US"/>
          </a:p>
        </p:txBody>
      </p:sp>
      <p:sp>
        <p:nvSpPr>
          <p:cNvPr id="3440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44067" name="Rectangle 3"/>
          <p:cNvSpPr>
            <a:spLocks noGrp="1" noChangeArrowheads="1"/>
          </p:cNvSpPr>
          <p:nvPr>
            <p:ph type="body" idx="1"/>
          </p:nvPr>
        </p:nvSpPr>
        <p:spPr/>
        <p:txBody>
          <a:bodyPr/>
          <a:lstStyle/>
          <a:p>
            <a:r>
              <a:rPr lang="en-US" dirty="0">
                <a:sym typeface="Wingdings" charset="0"/>
              </a:rPr>
              <a:t>The molar mass of the empirical formula is 73.07 g/mol.</a:t>
            </a:r>
            <a:r>
              <a:rPr lang="en-US" baseline="0" dirty="0">
                <a:sym typeface="Wingdings" charset="0"/>
              </a:rPr>
              <a:t> This mass multiplied by 2 gives the molar mass of the compound</a:t>
            </a:r>
            <a:r>
              <a:rPr lang="en-US" dirty="0">
                <a:sym typeface="Wingdings" charset="0"/>
              </a:rPr>
              <a:t> (146/73.07).  The molecular formula is therefore </a:t>
            </a:r>
            <a:r>
              <a:rPr lang="en-US" sz="1400" dirty="0">
                <a:solidFill>
                  <a:srgbClr val="009900"/>
                </a:solidFill>
              </a:rPr>
              <a:t>C</a:t>
            </a:r>
            <a:r>
              <a:rPr lang="en-US" sz="1400" baseline="-25000" dirty="0">
                <a:solidFill>
                  <a:srgbClr val="009900"/>
                </a:solidFill>
              </a:rPr>
              <a:t>6</a:t>
            </a:r>
            <a:r>
              <a:rPr lang="en-US" sz="1400" dirty="0">
                <a:solidFill>
                  <a:srgbClr val="009900"/>
                </a:solidFill>
              </a:rPr>
              <a:t>H</a:t>
            </a:r>
            <a:r>
              <a:rPr lang="en-US" sz="1400" baseline="-25000" dirty="0">
                <a:solidFill>
                  <a:srgbClr val="009900"/>
                </a:solidFill>
              </a:rPr>
              <a:t>10</a:t>
            </a:r>
            <a:r>
              <a:rPr lang="en-US" sz="1400" dirty="0">
                <a:solidFill>
                  <a:srgbClr val="009900"/>
                </a:solidFill>
              </a:rPr>
              <a:t>O</a:t>
            </a:r>
            <a:r>
              <a:rPr lang="en-US" sz="1400" baseline="-25000" dirty="0">
                <a:solidFill>
                  <a:srgbClr val="009900"/>
                </a:solidFill>
              </a:rPr>
              <a:t>4</a:t>
            </a:r>
            <a:r>
              <a:rPr lang="en-US" dirty="0">
                <a:sym typeface="Wingdings" charset="0"/>
              </a:rPr>
              <a:t>. </a:t>
            </a:r>
          </a:p>
        </p:txBody>
      </p:sp>
    </p:spTree>
    <p:extLst>
      <p:ext uri="{BB962C8B-B14F-4D97-AF65-F5344CB8AC3E}">
        <p14:creationId xmlns:p14="http://schemas.microsoft.com/office/powerpoint/2010/main" val="4575559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42720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784906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960076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152162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841357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59944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80399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391570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537514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365136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253989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93521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defRPr sz="2200"/>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934079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172387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173333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24654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645465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40941912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456165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4532904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340444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619424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lstStyle/>
          <a:p>
            <a:r>
              <a:rPr lang="en-US"/>
              <a:t>Click to edit Master title style</a:t>
            </a:r>
          </a:p>
        </p:txBody>
      </p:sp>
      <p:sp>
        <p:nvSpPr>
          <p:cNvPr id="3" name="Text Placeholder 2"/>
          <p:cNvSpPr>
            <a:spLocks noGrp="1"/>
          </p:cNvSpPr>
          <p:nvPr>
            <p:ph type="body" sz="half" idx="1"/>
          </p:nvPr>
        </p:nvSpPr>
        <p:spPr>
          <a:xfrm>
            <a:off x="457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t>Copyright © Cengage Learning. All rights reserved</a:t>
            </a:r>
          </a:p>
        </p:txBody>
      </p:sp>
      <p:sp>
        <p:nvSpPr>
          <p:cNvPr id="6" name="Slide Number Placeholder 5"/>
          <p:cNvSpPr>
            <a:spLocks noGrp="1"/>
          </p:cNvSpPr>
          <p:nvPr>
            <p:ph type="sldNum" sz="quarter" idx="11"/>
          </p:nvPr>
        </p:nvSpPr>
        <p:spPr>
          <a:xfrm>
            <a:off x="6629400" y="6629400"/>
            <a:ext cx="2438400" cy="228600"/>
          </a:xfrm>
        </p:spPr>
        <p:txBody>
          <a:bodyPr/>
          <a:lstStyle>
            <a:lvl1pPr>
              <a:defRPr/>
            </a:lvl1pPr>
          </a:lstStyle>
          <a:p>
            <a:fld id="{E4A442A9-EA71-EE41-A30A-44C2A8288429}" type="slidenum">
              <a:rPr lang="en-US"/>
              <a:pPr/>
              <a:t>‹#›</a:t>
            </a:fld>
            <a:endParaRPr lang="en-US"/>
          </a:p>
        </p:txBody>
      </p:sp>
    </p:spTree>
    <p:extLst>
      <p:ext uri="{BB962C8B-B14F-4D97-AF65-F5344CB8AC3E}">
        <p14:creationId xmlns:p14="http://schemas.microsoft.com/office/powerpoint/2010/main" val="406644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797028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2349372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0591449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681966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3741906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7697867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964068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3854411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2514090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0427808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5675271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012658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3729803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704425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8779595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283351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6166624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1834024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0756132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7179211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40589382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8413592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lstStyle/>
          <a:p>
            <a:r>
              <a:rPr lang="en-US"/>
              <a:t>Click to edit Master title style</a:t>
            </a:r>
          </a:p>
        </p:txBody>
      </p:sp>
      <p:sp>
        <p:nvSpPr>
          <p:cNvPr id="3" name="Text Placeholder 2"/>
          <p:cNvSpPr>
            <a:spLocks noGrp="1"/>
          </p:cNvSpPr>
          <p:nvPr>
            <p:ph type="body" sz="half" idx="1"/>
          </p:nvPr>
        </p:nvSpPr>
        <p:spPr>
          <a:xfrm>
            <a:off x="457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t>Copyright © Cengage Learning. All rights reserved</a:t>
            </a:r>
          </a:p>
        </p:txBody>
      </p:sp>
      <p:sp>
        <p:nvSpPr>
          <p:cNvPr id="6" name="Slide Number Placeholder 5"/>
          <p:cNvSpPr>
            <a:spLocks noGrp="1"/>
          </p:cNvSpPr>
          <p:nvPr>
            <p:ph type="sldNum" sz="quarter" idx="11"/>
          </p:nvPr>
        </p:nvSpPr>
        <p:spPr>
          <a:xfrm>
            <a:off x="6629400" y="6629400"/>
            <a:ext cx="2438400" cy="228600"/>
          </a:xfrm>
        </p:spPr>
        <p:txBody>
          <a:bodyPr/>
          <a:lstStyle>
            <a:lvl1pPr>
              <a:defRPr/>
            </a:lvl1pPr>
          </a:lstStyle>
          <a:p>
            <a:fld id="{E4A442A9-EA71-EE41-A30A-44C2A8288429}" type="slidenum">
              <a:rPr lang="en-US"/>
              <a:pPr/>
              <a:t>‹#›</a:t>
            </a:fld>
            <a:endParaRPr lang="en-US"/>
          </a:p>
        </p:txBody>
      </p:sp>
    </p:spTree>
    <p:extLst>
      <p:ext uri="{BB962C8B-B14F-4D97-AF65-F5344CB8AC3E}">
        <p14:creationId xmlns:p14="http://schemas.microsoft.com/office/powerpoint/2010/main" val="19989766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5532693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7304320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8759311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9279151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3518356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5256671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8740774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8904793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8275412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8759539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8298262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132328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674929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4577439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8691215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7944530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213085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5820420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6577523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9066763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0935903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785041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lstStyle/>
          <a:p>
            <a:r>
              <a:rPr lang="en-US"/>
              <a:t>Click to edit Master title style</a:t>
            </a:r>
          </a:p>
        </p:txBody>
      </p:sp>
      <p:sp>
        <p:nvSpPr>
          <p:cNvPr id="3" name="Text Placeholder 2"/>
          <p:cNvSpPr>
            <a:spLocks noGrp="1"/>
          </p:cNvSpPr>
          <p:nvPr>
            <p:ph type="body" sz="half" idx="1"/>
          </p:nvPr>
        </p:nvSpPr>
        <p:spPr>
          <a:xfrm>
            <a:off x="457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t>Copyright © Cengage Learning. All rights reserved</a:t>
            </a:r>
          </a:p>
        </p:txBody>
      </p:sp>
      <p:sp>
        <p:nvSpPr>
          <p:cNvPr id="6" name="Slide Number Placeholder 5"/>
          <p:cNvSpPr>
            <a:spLocks noGrp="1"/>
          </p:cNvSpPr>
          <p:nvPr>
            <p:ph type="sldNum" sz="quarter" idx="11"/>
          </p:nvPr>
        </p:nvSpPr>
        <p:spPr>
          <a:xfrm>
            <a:off x="6629400" y="6629400"/>
            <a:ext cx="2438400" cy="228600"/>
          </a:xfrm>
        </p:spPr>
        <p:txBody>
          <a:bodyPr/>
          <a:lstStyle>
            <a:lvl1pPr>
              <a:defRPr/>
            </a:lvl1pPr>
          </a:lstStyle>
          <a:p>
            <a:fld id="{E4A442A9-EA71-EE41-A30A-44C2A8288429}" type="slidenum">
              <a:rPr lang="en-US"/>
              <a:pPr/>
              <a:t>‹#›</a:t>
            </a:fld>
            <a:endParaRPr lang="en-US"/>
          </a:p>
        </p:txBody>
      </p:sp>
    </p:spTree>
    <p:extLst>
      <p:ext uri="{BB962C8B-B14F-4D97-AF65-F5344CB8AC3E}">
        <p14:creationId xmlns:p14="http://schemas.microsoft.com/office/powerpoint/2010/main" val="4804150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74173257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2804623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7340821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9875794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8320711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41952963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8102635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9891862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13875075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13556786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91552254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lstStyle/>
          <a:p>
            <a:r>
              <a:rPr lang="en-US"/>
              <a:t>Click to edit Master title style</a:t>
            </a:r>
          </a:p>
        </p:txBody>
      </p:sp>
      <p:sp>
        <p:nvSpPr>
          <p:cNvPr id="3" name="Text Placeholder 2"/>
          <p:cNvSpPr>
            <a:spLocks noGrp="1"/>
          </p:cNvSpPr>
          <p:nvPr>
            <p:ph type="body" sz="half" idx="1"/>
          </p:nvPr>
        </p:nvSpPr>
        <p:spPr>
          <a:xfrm>
            <a:off x="457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t>Copyright © Cengage Learning. All rights reserved</a:t>
            </a:r>
          </a:p>
        </p:txBody>
      </p:sp>
      <p:sp>
        <p:nvSpPr>
          <p:cNvPr id="6" name="Slide Number Placeholder 5"/>
          <p:cNvSpPr>
            <a:spLocks noGrp="1"/>
          </p:cNvSpPr>
          <p:nvPr>
            <p:ph type="sldNum" sz="quarter" idx="11"/>
          </p:nvPr>
        </p:nvSpPr>
        <p:spPr>
          <a:xfrm>
            <a:off x="6629400" y="6629400"/>
            <a:ext cx="2438400" cy="228600"/>
          </a:xfrm>
        </p:spPr>
        <p:txBody>
          <a:bodyPr/>
          <a:lstStyle>
            <a:lvl1pPr>
              <a:defRPr/>
            </a:lvl1pPr>
          </a:lstStyle>
          <a:p>
            <a:fld id="{E4A442A9-EA71-EE41-A30A-44C2A8288429}" type="slidenum">
              <a:rPr lang="en-US"/>
              <a:pPr/>
              <a:t>‹#›</a:t>
            </a:fld>
            <a:endParaRPr lang="en-US"/>
          </a:p>
        </p:txBody>
      </p:sp>
    </p:spTree>
    <p:extLst>
      <p:ext uri="{BB962C8B-B14F-4D97-AF65-F5344CB8AC3E}">
        <p14:creationId xmlns:p14="http://schemas.microsoft.com/office/powerpoint/2010/main" val="277444672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50754791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24684367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39505050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98050892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407542505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42010385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4681209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64291601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6891127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0885218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359889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759968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55718565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297456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23101905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49366909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17830980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414402838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409977920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78136841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2350544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93514470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6004082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45758416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28261881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66932592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258498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92202088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68452633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424396442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27627419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58139442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87313" y="6618288"/>
            <a:ext cx="5867400" cy="228600"/>
          </a:xfrm>
          <a:prstGeom prst="rect">
            <a:avLst/>
          </a:prstGeom>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9000206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A54D1A"/>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6" name="Picture 13" descr="BrooksCole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6">
            <a:extLst>
              <a:ext uri="{FF2B5EF4-FFF2-40B4-BE49-F238E27FC236}">
                <a16:creationId xmlns:a16="http://schemas.microsoft.com/office/drawing/2014/main" id="{E4293FEF-8687-4A0D-9084-2477B4F7E3ED}"/>
              </a:ext>
            </a:extLst>
          </p:cNvPr>
          <p:cNvPicPr>
            <a:picLocks noChangeAspect="1"/>
          </p:cNvPicPr>
          <p:nvPr userDrawn="1"/>
        </p:nvPicPr>
        <p:blipFill>
          <a:blip r:embed="rId3"/>
          <a:stretch>
            <a:fillRect/>
          </a:stretch>
        </p:blipFill>
        <p:spPr>
          <a:xfrm>
            <a:off x="380999" y="533400"/>
            <a:ext cx="4239491" cy="5486400"/>
          </a:xfrm>
          <a:prstGeom prst="rect">
            <a:avLst/>
          </a:prstGeom>
        </p:spPr>
      </p:pic>
    </p:spTree>
    <p:extLst>
      <p:ext uri="{BB962C8B-B14F-4D97-AF65-F5344CB8AC3E}">
        <p14:creationId xmlns:p14="http://schemas.microsoft.com/office/powerpoint/2010/main" val="350855530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89959321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05750678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43452056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8789080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03853339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16900076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49822189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9321790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82402694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p:txBody>
          <a:bodyPr/>
          <a:lstStyle>
            <a:lvl1pPr>
              <a:defRPr/>
            </a:lvl1pPr>
          </a:lstStyle>
          <a:p>
            <a:fld id="{1363E223-6943-9741-92C6-46845804409E}"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96452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image" Target="../media/image1.jpe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1.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image" Target="../media/image1.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image" Target="../media/image1.jpeg"/><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8.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image" Target="../media/image1.jpeg"/><Relationship Id="rId3" Type="http://schemas.openxmlformats.org/officeDocument/2006/relationships/slideLayout" Target="../slideLayouts/slideLayout95.xml"/><Relationship Id="rId7" Type="http://schemas.openxmlformats.org/officeDocument/2006/relationships/slideLayout" Target="../slideLayouts/slideLayout99.xml"/><Relationship Id="rId12" Type="http://schemas.openxmlformats.org/officeDocument/2006/relationships/theme" Target="../theme/theme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image" Target="../media/image1.jpeg"/><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theme" Target="../theme/theme10.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image" Target="../media/image1.jpeg"/><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theme" Target="../theme/theme11.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Chapter 8</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Table of Contents</a:t>
            </a:r>
            <a:endParaRPr lang="en-US" sz="2400" b="1" dirty="0">
              <a:solidFill>
                <a:srgbClr val="FFFFFF"/>
              </a:solidFill>
              <a:latin typeface="Arial" charset="0"/>
              <a:ea typeface="ＭＳ Ｐゴシック" charset="0"/>
            </a:endParaRPr>
          </a:p>
        </p:txBody>
      </p:sp>
      <p:sp>
        <p:nvSpPr>
          <p:cNvPr id="1041" name="Rectangle 17"/>
          <p:cNvSpPr>
            <a:spLocks noGrp="1" noChangeArrowheads="1"/>
          </p:cNvSpPr>
          <p:nvPr>
            <p:ph type="ftr" sz="quarter" idx="3"/>
          </p:nvPr>
        </p:nvSpPr>
        <p:spPr bwMode="auto">
          <a:xfrm>
            <a:off x="87313" y="6618288"/>
            <a:ext cx="5867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000" baseline="0">
                <a:latin typeface="+mn-lt"/>
              </a:defRPr>
            </a:lvl1pPr>
          </a:lstStyle>
          <a:p>
            <a:pPr defTabSz="914400" eaLnBrk="0" fontAlgn="base" hangingPunct="0">
              <a:spcBef>
                <a:spcPct val="0"/>
              </a:spcBef>
              <a:spcAft>
                <a:spcPct val="0"/>
              </a:spcAft>
            </a:pPr>
            <a:r>
              <a:rPr lang="en-US" dirty="0">
                <a:solidFill>
                  <a:srgbClr val="000000"/>
                </a:solidFill>
                <a:latin typeface="Arial"/>
                <a:ea typeface="ＭＳ Ｐゴシック" charset="0"/>
              </a:rPr>
              <a:t>Copyright © </a:t>
            </a:r>
            <a:r>
              <a:rPr lang="en-US" dirty="0" err="1">
                <a:solidFill>
                  <a:srgbClr val="000000"/>
                </a:solidFill>
                <a:latin typeface="Arial"/>
                <a:ea typeface="ＭＳ Ｐゴシック" charset="0"/>
              </a:rPr>
              <a:t>Cengage</a:t>
            </a:r>
            <a:r>
              <a:rPr lang="en-US" dirty="0">
                <a:solidFill>
                  <a:srgbClr val="000000"/>
                </a:solidFill>
                <a:latin typeface="Arial"/>
                <a:ea typeface="ＭＳ Ｐゴシック" charset="0"/>
              </a:rPr>
              <a:t> Learning. All rights reserved</a:t>
            </a: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Tree>
    <p:extLst>
      <p:ext uri="{BB962C8B-B14F-4D97-AF65-F5344CB8AC3E}">
        <p14:creationId xmlns:p14="http://schemas.microsoft.com/office/powerpoint/2010/main" val="33983651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fontAlgn="base">
        <a:spcBef>
          <a:spcPct val="0"/>
        </a:spcBef>
        <a:spcAft>
          <a:spcPct val="0"/>
        </a:spcAft>
        <a:defRPr sz="24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400">
          <a:solidFill>
            <a:schemeClr val="tx1"/>
          </a:solidFill>
          <a:latin typeface="+mn-lt"/>
          <a:ea typeface="+mn-ea"/>
        </a:defRPr>
      </a:lvl2pPr>
      <a:lvl3pPr marL="1143000" indent="-228600" algn="l" rtl="0" fontAlgn="base">
        <a:spcBef>
          <a:spcPct val="20000"/>
        </a:spcBef>
        <a:spcAft>
          <a:spcPct val="0"/>
        </a:spcAft>
        <a:buChar char="•"/>
        <a:defRPr sz="22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8.1</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Counting by Weighing</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0238778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400">
          <a:solidFill>
            <a:schemeClr val="tx1"/>
          </a:solidFill>
          <a:latin typeface="+mn-lt"/>
          <a:ea typeface="+mn-ea"/>
        </a:defRPr>
      </a:lvl2pPr>
      <a:lvl3pPr marL="1143000" indent="-228600" algn="l" rtl="0" fontAlgn="base">
        <a:spcBef>
          <a:spcPct val="20000"/>
        </a:spcBef>
        <a:spcAft>
          <a:spcPct val="0"/>
        </a:spcAft>
        <a:buChar char="•"/>
        <a:defRPr sz="22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8.2</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Atomic Masses: Counting Atoms by Weighing</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3262065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8.3</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The Mole</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32338859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8.4</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Learning to Solve Problems</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92790376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8.5</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Molar Mass</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186377525"/>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8.6</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Percent Composition of Compounds</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480503515"/>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8.7</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Formulas of Compounds </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500280273"/>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8.8</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Calculation of Empirical Formulas</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71820167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8.9</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Calculation of Molecular Formulas</a:t>
            </a:r>
            <a:endParaRPr lang="en-US" sz="2600" b="1" dirty="0">
              <a:solidFill>
                <a:srgbClr val="FFFFFF"/>
              </a:solidFill>
              <a:latin typeface="Arial" charset="0"/>
              <a:ea typeface="ＭＳ Ｐゴシック" charset="0"/>
            </a:endParaRP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
        <p:nvSpPr>
          <p:cNvPr id="11" name="Text Placeholder 2"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1219200"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900" dirty="0">
                <a:solidFill>
                  <a:srgbClr val="000000"/>
                </a:solidFill>
                <a:latin typeface="Arial Narrow" panose="020B0606020202030204" pitchFamily="34" charset="0"/>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59543001"/>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A54D1A"/>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2.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39" y="436563"/>
            <a:ext cx="9175752" cy="563562"/>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A54D1A"/>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202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Chapter 8</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Table of Contents</a:t>
            </a:r>
            <a:endParaRPr lang="en-US" sz="2400" b="1" dirty="0">
              <a:solidFill>
                <a:srgbClr val="FFFFFF"/>
              </a:solidFill>
              <a:latin typeface="Arial" charset="0"/>
              <a:ea typeface="ＭＳ Ｐゴシック" charset="0"/>
            </a:endParaRPr>
          </a:p>
        </p:txBody>
      </p:sp>
      <p:sp>
        <p:nvSpPr>
          <p:cNvPr id="1041" name="Rectangle 17"/>
          <p:cNvSpPr>
            <a:spLocks noGrp="1" noChangeArrowheads="1"/>
          </p:cNvSpPr>
          <p:nvPr>
            <p:ph type="ftr" sz="quarter" idx="3"/>
          </p:nvPr>
        </p:nvSpPr>
        <p:spPr bwMode="auto">
          <a:xfrm>
            <a:off x="87313" y="6618288"/>
            <a:ext cx="5867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000" baseline="0">
                <a:latin typeface="+mn-lt"/>
              </a:defRPr>
            </a:lvl1pPr>
          </a:lstStyle>
          <a:p>
            <a:pPr defTabSz="914400" eaLnBrk="0" fontAlgn="base" hangingPunct="0">
              <a:spcBef>
                <a:spcPct val="0"/>
              </a:spcBef>
              <a:spcAft>
                <a:spcPct val="0"/>
              </a:spcAft>
            </a:pPr>
            <a:r>
              <a:rPr lang="en-US" dirty="0">
                <a:solidFill>
                  <a:srgbClr val="000000"/>
                </a:solidFill>
                <a:latin typeface="Arial"/>
                <a:ea typeface="ＭＳ Ｐゴシック" charset="0"/>
              </a:rPr>
              <a:t>Copyright © </a:t>
            </a:r>
            <a:r>
              <a:rPr lang="en-US" dirty="0" err="1">
                <a:solidFill>
                  <a:srgbClr val="000000"/>
                </a:solidFill>
                <a:latin typeface="Arial"/>
                <a:ea typeface="ＭＳ Ｐゴシック" charset="0"/>
              </a:rPr>
              <a:t>Cengage</a:t>
            </a:r>
            <a:r>
              <a:rPr lang="en-US" dirty="0">
                <a:solidFill>
                  <a:srgbClr val="000000"/>
                </a:solidFill>
                <a:latin typeface="Arial"/>
                <a:ea typeface="ＭＳ Ｐゴシック" charset="0"/>
              </a:rPr>
              <a:t> Learning. All rights reserved</a:t>
            </a:r>
          </a:p>
        </p:txBody>
      </p:sp>
      <p:sp>
        <p:nvSpPr>
          <p:cNvPr id="1042" name="Rectangle 18"/>
          <p:cNvSpPr>
            <a:spLocks noGrp="1" noChangeArrowheads="1"/>
          </p:cNvSpPr>
          <p:nvPr>
            <p:ph type="sldNum" sz="quarter" idx="4"/>
          </p:nvPr>
        </p:nvSpPr>
        <p:spPr bwMode="auto">
          <a:xfrm>
            <a:off x="6629400" y="6629400"/>
            <a:ext cx="2438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baseline="0">
                <a:latin typeface="+mn-lt"/>
              </a:defRPr>
            </a:lvl1pPr>
          </a:lstStyle>
          <a:p>
            <a:pPr defTabSz="914400" eaLnBrk="0" fontAlgn="base" hangingPunct="0">
              <a:spcBef>
                <a:spcPct val="0"/>
              </a:spcBef>
              <a:spcAft>
                <a:spcPct val="0"/>
              </a:spcAft>
            </a:pPr>
            <a:fld id="{47926A21-7C55-2E43-BE77-D1E75D93BE7E}" type="slidenum">
              <a:rPr lang="en-US">
                <a:solidFill>
                  <a:srgbClr val="000000"/>
                </a:solidFill>
                <a:latin typeface="Arial"/>
                <a:ea typeface="ＭＳ Ｐゴシック" charset="0"/>
              </a:rPr>
              <a:pPr defTabSz="914400" eaLnBrk="0" fontAlgn="base" hangingPunct="0">
                <a:spcBef>
                  <a:spcPct val="0"/>
                </a:spcBef>
                <a:spcAft>
                  <a:spcPct val="0"/>
                </a:spcAft>
              </a:pPr>
              <a:t>‹#›</a:t>
            </a:fld>
            <a:endParaRPr lang="en-US">
              <a:solidFill>
                <a:srgbClr val="000000"/>
              </a:solidFill>
              <a:latin typeface="Arial"/>
              <a:ea typeface="ＭＳ Ｐゴシック" charset="0"/>
            </a:endParaRPr>
          </a:p>
        </p:txBody>
      </p:sp>
    </p:spTree>
    <p:extLst>
      <p:ext uri="{BB962C8B-B14F-4D97-AF65-F5344CB8AC3E}">
        <p14:creationId xmlns:p14="http://schemas.microsoft.com/office/powerpoint/2010/main" val="3072648841"/>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hf hdr="0" dt="0"/>
  <p:txStyles>
    <p:titleStyle>
      <a:lvl1pPr algn="l" rtl="0" fontAlgn="base">
        <a:spcBef>
          <a:spcPct val="0"/>
        </a:spcBef>
        <a:spcAft>
          <a:spcPct val="0"/>
        </a:spcAft>
        <a:defRPr sz="24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Char char="–"/>
        <a:defRPr sz="2400">
          <a:solidFill>
            <a:schemeClr val="tx1"/>
          </a:solidFill>
          <a:latin typeface="+mn-lt"/>
          <a:ea typeface="+mn-ea"/>
        </a:defRPr>
      </a:lvl2pPr>
      <a:lvl3pPr marL="1143000" indent="-228600" algn="l" rtl="0" fontAlgn="base">
        <a:spcBef>
          <a:spcPct val="20000"/>
        </a:spcBef>
        <a:spcAft>
          <a:spcPct val="0"/>
        </a:spcAft>
        <a:buChar char="•"/>
        <a:defRPr sz="22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5.xml"/><Relationship Id="rId1" Type="http://schemas.openxmlformats.org/officeDocument/2006/relationships/vmlDrawing" Target="../drawings/vmlDrawing3.v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5.xml"/><Relationship Id="rId1" Type="http://schemas.openxmlformats.org/officeDocument/2006/relationships/vmlDrawing" Target="../drawings/vmlDrawing4.v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6.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9.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20.xml"/><Relationship Id="rId7" Type="http://schemas.openxmlformats.org/officeDocument/2006/relationships/image" Target="../media/image12.wmf"/><Relationship Id="rId2" Type="http://schemas.openxmlformats.org/officeDocument/2006/relationships/slideLayout" Target="../slideLayouts/slideLayout69.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11.emf"/><Relationship Id="rId4" Type="http://schemas.openxmlformats.org/officeDocument/2006/relationships/oleObject" Target="../embeddings/oleObject6.bin"/><Relationship Id="rId9" Type="http://schemas.openxmlformats.org/officeDocument/2006/relationships/image" Target="../media/image13.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9.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25.xml"/><Relationship Id="rId7" Type="http://schemas.openxmlformats.org/officeDocument/2006/relationships/image" Target="../media/image15.wmf"/><Relationship Id="rId2" Type="http://schemas.openxmlformats.org/officeDocument/2006/relationships/slideLayout" Target="../slideLayouts/slideLayout71.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4.wmf"/><Relationship Id="rId4" Type="http://schemas.openxmlformats.org/officeDocument/2006/relationships/oleObject" Target="../embeddings/oleObject9.bin"/><Relationship Id="rId9" Type="http://schemas.openxmlformats.org/officeDocument/2006/relationships/image" Target="../media/image16.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4.xml"/><Relationship Id="rId1" Type="http://schemas.openxmlformats.org/officeDocument/2006/relationships/vmlDrawing" Target="../drawings/vmlDrawing8.vml"/><Relationship Id="rId5" Type="http://schemas.openxmlformats.org/officeDocument/2006/relationships/image" Target="../media/image17.wmf"/><Relationship Id="rId4"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4.xml"/><Relationship Id="rId1" Type="http://schemas.openxmlformats.org/officeDocument/2006/relationships/vmlDrawing" Target="../drawings/vmlDrawing9.vml"/><Relationship Id="rId5" Type="http://schemas.openxmlformats.org/officeDocument/2006/relationships/image" Target="../media/image18.wmf"/><Relationship Id="rId4" Type="http://schemas.openxmlformats.org/officeDocument/2006/relationships/oleObject" Target="../embeddings/oleObject13.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5.xml"/><Relationship Id="rId1" Type="http://schemas.openxmlformats.org/officeDocument/2006/relationships/vmlDrawing" Target="../drawings/vmlDrawing10.vml"/><Relationship Id="rId5" Type="http://schemas.openxmlformats.org/officeDocument/2006/relationships/image" Target="../media/image19.wmf"/><Relationship Id="rId4" Type="http://schemas.openxmlformats.org/officeDocument/2006/relationships/oleObject" Target="../embeddings/oleObject14.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8</a:t>
            </a:r>
          </a:p>
        </p:txBody>
      </p:sp>
      <p:sp>
        <p:nvSpPr>
          <p:cNvPr id="3" name="Subtitle 2"/>
          <p:cNvSpPr>
            <a:spLocks noGrp="1"/>
          </p:cNvSpPr>
          <p:nvPr>
            <p:ph type="subTitle" idx="1"/>
          </p:nvPr>
        </p:nvSpPr>
        <p:spPr/>
        <p:txBody>
          <a:bodyPr/>
          <a:lstStyle/>
          <a:p>
            <a:r>
              <a:rPr lang="en-US" dirty="0"/>
              <a:t>Chemical Composition</a:t>
            </a:r>
            <a:endParaRPr lang="en-US" dirty="0">
              <a:solidFill>
                <a:srgbClr val="FF0000"/>
              </a:solidFill>
            </a:endParaRPr>
          </a:p>
        </p:txBody>
      </p:sp>
      <p:sp>
        <p:nvSpPr>
          <p:cNvPr id="4" name="Text Placeholder 2" descr="©McGraw-Hill Education. All rights reserved. Authorized only for instructor use in the classroom.  No reproduction or further distribution permitted without the prior written consent of McGraw-Hill Education.&#10;"/>
          <p:cNvSpPr txBox="1">
            <a:spLocks/>
          </p:cNvSpPr>
          <p:nvPr/>
        </p:nvSpPr>
        <p:spPr>
          <a:xfrm>
            <a:off x="770021" y="6629400"/>
            <a:ext cx="7511845" cy="2286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900" b="0" i="0" u="none" strike="noStrike" kern="1200" cap="none" spc="0" normalizeH="0" baseline="0" noProof="0" dirty="0">
                <a:ln>
                  <a:noFill/>
                </a:ln>
                <a:solidFill>
                  <a:srgbClr val="000000"/>
                </a:solidFill>
                <a:effectLst/>
                <a:uLnTx/>
                <a:uFillTx/>
                <a:latin typeface="Arial Narrow" panose="020B0606020202030204" pitchFamily="34" charset="0"/>
                <a:ea typeface="ＭＳ Ｐゴシック"/>
                <a:cs typeface="+mn-cs"/>
              </a:rPr>
              <a:t>Copyright ©2019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889239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Average Mass</a:t>
            </a:r>
          </a:p>
        </p:txBody>
      </p:sp>
      <p:sp>
        <p:nvSpPr>
          <p:cNvPr id="34818" name="Rectangle 2"/>
          <p:cNvSpPr>
            <a:spLocks noGrp="1" noChangeArrowheads="1"/>
          </p:cNvSpPr>
          <p:nvPr>
            <p:ph type="body" idx="1"/>
          </p:nvPr>
        </p:nvSpPr>
        <p:spPr>
          <a:xfrm>
            <a:off x="457200" y="1752600"/>
            <a:ext cx="8229600" cy="2419124"/>
          </a:xfrm>
        </p:spPr>
        <p:txBody>
          <a:bodyPr/>
          <a:lstStyle/>
          <a:p>
            <a:r>
              <a:rPr lang="en-US" dirty="0"/>
              <a:t>Objects do not need to have identical masses to be counted by weighing</a:t>
            </a:r>
          </a:p>
          <a:p>
            <a:pPr lvl="1"/>
            <a:r>
              <a:rPr lang="en-US" dirty="0"/>
              <a:t>All one needs to know is the average mass of the objects</a:t>
            </a:r>
          </a:p>
          <a:p>
            <a:r>
              <a:rPr lang="en-US" dirty="0"/>
              <a:t>To count the atoms in a sample of a given element by weighing, one must know the mass of the sample and the average mass for that element</a:t>
            </a:r>
          </a:p>
        </p:txBody>
      </p:sp>
      <p:sp>
        <p:nvSpPr>
          <p:cNvPr id="4" name="Slide Number Placeholder 4"/>
          <p:cNvSpPr>
            <a:spLocks noGrp="1"/>
          </p:cNvSpPr>
          <p:nvPr>
            <p:ph type="sldNum" sz="quarter" idx="11"/>
          </p:nvPr>
        </p:nvSpPr>
        <p:spPr/>
        <p:txBody>
          <a:bodyPr/>
          <a:lstStyle/>
          <a:p>
            <a:fld id="{EAF763E6-B1DA-D940-96B2-CB0D7782CA30}" type="slidenum">
              <a:rPr lang="en-US" smtClean="0"/>
              <a:pPr/>
              <a:t>2</a:t>
            </a:fld>
            <a:endParaRPr lang="en-US"/>
          </a:p>
        </p:txBody>
      </p:sp>
    </p:spTree>
    <p:extLst>
      <p:ext uri="{BB962C8B-B14F-4D97-AF65-F5344CB8AC3E}">
        <p14:creationId xmlns:p14="http://schemas.microsoft.com/office/powerpoint/2010/main" val="184542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8531" name="Rectangle 3"/>
          <p:cNvSpPr>
            <a:spLocks noGrp="1" noChangeArrowheads="1"/>
          </p:cNvSpPr>
          <p:nvPr>
            <p:ph type="title"/>
          </p:nvPr>
        </p:nvSpPr>
        <p:spPr/>
        <p:txBody>
          <a:bodyPr/>
          <a:lstStyle/>
          <a:p>
            <a:r>
              <a:rPr lang="en-US" dirty="0"/>
              <a:t>Averaging the Mass of Similar Objects</a:t>
            </a:r>
          </a:p>
        </p:txBody>
      </p:sp>
      <p:sp>
        <p:nvSpPr>
          <p:cNvPr id="278530" name="Rectangle 2"/>
          <p:cNvSpPr>
            <a:spLocks noGrp="1" noChangeArrowheads="1"/>
          </p:cNvSpPr>
          <p:nvPr>
            <p:ph type="body" sz="half" idx="1"/>
          </p:nvPr>
        </p:nvSpPr>
        <p:spPr>
          <a:xfrm>
            <a:off x="457200" y="1752600"/>
            <a:ext cx="8153400" cy="4007251"/>
          </a:xfrm>
        </p:spPr>
        <p:txBody>
          <a:bodyPr/>
          <a:lstStyle/>
          <a:p>
            <a:pPr marL="533400" indent="-533400"/>
            <a:r>
              <a:rPr lang="en-US" dirty="0"/>
              <a:t>Example- What is the mass of 1000 jelly beans?</a:t>
            </a:r>
          </a:p>
          <a:p>
            <a:pPr marL="914400" lvl="1" indent="-457200"/>
            <a:r>
              <a:rPr lang="en-US" sz="2200" dirty="0"/>
              <a:t>Not all jelly beans have the same mass</a:t>
            </a:r>
          </a:p>
          <a:p>
            <a:pPr marL="914400" lvl="1" indent="-457200"/>
            <a:r>
              <a:rPr lang="en-US" sz="2200" dirty="0"/>
              <a:t>Suppose we weigh 10 jelly beans and find the following:</a:t>
            </a:r>
          </a:p>
          <a:p>
            <a:pPr marL="457200" lvl="1" indent="0">
              <a:buNone/>
            </a:pPr>
            <a:endParaRPr lang="en-US" sz="2200" dirty="0"/>
          </a:p>
          <a:p>
            <a:pPr marL="914400" lvl="1" indent="-457200">
              <a:buFontTx/>
              <a:buNone/>
            </a:pPr>
            <a:endParaRPr lang="en-US" sz="2200" dirty="0"/>
          </a:p>
          <a:p>
            <a:pPr marL="914400" lvl="1" indent="-457200">
              <a:buFontTx/>
              <a:buNone/>
            </a:pPr>
            <a:endParaRPr lang="en-US" sz="2000" dirty="0"/>
          </a:p>
          <a:p>
            <a:pPr marL="914400" lvl="1" indent="-457200">
              <a:buFontTx/>
              <a:buNone/>
            </a:pPr>
            <a:endParaRPr lang="en-US" sz="2000" dirty="0"/>
          </a:p>
          <a:p>
            <a:pPr marL="914400" lvl="1" indent="-457200">
              <a:buFontTx/>
              <a:buNone/>
            </a:pPr>
            <a:endParaRPr lang="en-US" sz="2000" dirty="0"/>
          </a:p>
          <a:p>
            <a:pPr marL="914400" lvl="1" indent="-457200">
              <a:buFontTx/>
              <a:buNone/>
            </a:pPr>
            <a:endParaRPr lang="en-US" sz="2000" dirty="0"/>
          </a:p>
          <a:p>
            <a:pPr marL="914400" lvl="1" indent="-457200">
              <a:buFontTx/>
              <a:buNone/>
            </a:pPr>
            <a:endParaRPr lang="en-US" dirty="0"/>
          </a:p>
        </p:txBody>
      </p:sp>
      <p:graphicFrame>
        <p:nvGraphicFramePr>
          <p:cNvPr id="278584" name="Group 56"/>
          <p:cNvGraphicFramePr>
            <a:graphicFrameLocks noGrp="1"/>
          </p:cNvGraphicFramePr>
          <p:nvPr>
            <p:ph sz="half" idx="2"/>
            <p:extLst>
              <p:ext uri="{D42A27DB-BD31-4B8C-83A1-F6EECF244321}">
                <p14:modId xmlns:p14="http://schemas.microsoft.com/office/powerpoint/2010/main" val="1258789135"/>
              </p:ext>
            </p:extLst>
          </p:nvPr>
        </p:nvGraphicFramePr>
        <p:xfrm>
          <a:off x="1524000" y="3048000"/>
          <a:ext cx="6781800" cy="838200"/>
        </p:xfrm>
        <a:graphic>
          <a:graphicData uri="http://schemas.openxmlformats.org/drawingml/2006/table">
            <a:tbl>
              <a:tblPr firstRow="1"/>
              <a:tblGrid>
                <a:gridCol w="615950">
                  <a:extLst>
                    <a:ext uri="{9D8B030D-6E8A-4147-A177-3AD203B41FA5}">
                      <a16:colId xmlns:a16="http://schemas.microsoft.com/office/drawing/2014/main" val="20000"/>
                    </a:ext>
                  </a:extLst>
                </a:gridCol>
                <a:gridCol w="617538">
                  <a:extLst>
                    <a:ext uri="{9D8B030D-6E8A-4147-A177-3AD203B41FA5}">
                      <a16:colId xmlns:a16="http://schemas.microsoft.com/office/drawing/2014/main" val="20001"/>
                    </a:ext>
                  </a:extLst>
                </a:gridCol>
                <a:gridCol w="615950">
                  <a:extLst>
                    <a:ext uri="{9D8B030D-6E8A-4147-A177-3AD203B41FA5}">
                      <a16:colId xmlns:a16="http://schemas.microsoft.com/office/drawing/2014/main" val="20002"/>
                    </a:ext>
                  </a:extLst>
                </a:gridCol>
                <a:gridCol w="615950">
                  <a:extLst>
                    <a:ext uri="{9D8B030D-6E8A-4147-A177-3AD203B41FA5}">
                      <a16:colId xmlns:a16="http://schemas.microsoft.com/office/drawing/2014/main" val="20003"/>
                    </a:ext>
                  </a:extLst>
                </a:gridCol>
                <a:gridCol w="615950">
                  <a:extLst>
                    <a:ext uri="{9D8B030D-6E8A-4147-A177-3AD203B41FA5}">
                      <a16:colId xmlns:a16="http://schemas.microsoft.com/office/drawing/2014/main" val="20004"/>
                    </a:ext>
                  </a:extLst>
                </a:gridCol>
                <a:gridCol w="619125">
                  <a:extLst>
                    <a:ext uri="{9D8B030D-6E8A-4147-A177-3AD203B41FA5}">
                      <a16:colId xmlns:a16="http://schemas.microsoft.com/office/drawing/2014/main" val="20005"/>
                    </a:ext>
                  </a:extLst>
                </a:gridCol>
                <a:gridCol w="615950">
                  <a:extLst>
                    <a:ext uri="{9D8B030D-6E8A-4147-A177-3AD203B41FA5}">
                      <a16:colId xmlns:a16="http://schemas.microsoft.com/office/drawing/2014/main" val="20006"/>
                    </a:ext>
                  </a:extLst>
                </a:gridCol>
                <a:gridCol w="615950">
                  <a:extLst>
                    <a:ext uri="{9D8B030D-6E8A-4147-A177-3AD203B41FA5}">
                      <a16:colId xmlns:a16="http://schemas.microsoft.com/office/drawing/2014/main" val="20007"/>
                    </a:ext>
                  </a:extLst>
                </a:gridCol>
                <a:gridCol w="615950">
                  <a:extLst>
                    <a:ext uri="{9D8B030D-6E8A-4147-A177-3AD203B41FA5}">
                      <a16:colId xmlns:a16="http://schemas.microsoft.com/office/drawing/2014/main" val="20008"/>
                    </a:ext>
                  </a:extLst>
                </a:gridCol>
                <a:gridCol w="617537">
                  <a:extLst>
                    <a:ext uri="{9D8B030D-6E8A-4147-A177-3AD203B41FA5}">
                      <a16:colId xmlns:a16="http://schemas.microsoft.com/office/drawing/2014/main" val="20009"/>
                    </a:ext>
                  </a:extLst>
                </a:gridCol>
                <a:gridCol w="615950">
                  <a:extLst>
                    <a:ext uri="{9D8B030D-6E8A-4147-A177-3AD203B41FA5}">
                      <a16:colId xmlns:a16="http://schemas.microsoft.com/office/drawing/2014/main" val="20010"/>
                    </a:ext>
                  </a:extLst>
                </a:gridCol>
              </a:tblGrid>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rPr>
                        <a:t>Bean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rPr>
                        <a:t>Mass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rPr>
                        <a:t>5.1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5.2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5.0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4.8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4.9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5.0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5.0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5.1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ＭＳ Ｐゴシック" charset="0"/>
                        </a:rPr>
                        <a:t>4.9 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ＭＳ Ｐゴシック" charset="0"/>
                        </a:rPr>
                        <a:t>5.0 g</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4" name="Slide Number Placeholder 5"/>
          <p:cNvSpPr>
            <a:spLocks noGrp="1"/>
          </p:cNvSpPr>
          <p:nvPr>
            <p:ph type="sldNum" sz="quarter" idx="11"/>
          </p:nvPr>
        </p:nvSpPr>
        <p:spPr/>
        <p:txBody>
          <a:bodyPr/>
          <a:lstStyle/>
          <a:p>
            <a:fld id="{21B80B93-3B72-294B-9B1D-5AE2A75A74FF}" type="slidenum">
              <a:rPr lang="en-US" smtClean="0"/>
              <a:pPr/>
              <a:t>3</a:t>
            </a:fld>
            <a:endParaRPr lang="en-US"/>
          </a:p>
        </p:txBody>
      </p:sp>
    </p:spTree>
    <p:extLst>
      <p:ext uri="{BB962C8B-B14F-4D97-AF65-F5344CB8AC3E}">
        <p14:creationId xmlns:p14="http://schemas.microsoft.com/office/powerpoint/2010/main" val="190765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Averaging the Mass of Similar Objects </a:t>
            </a:r>
            <a:r>
              <a:rPr lang="en-US" sz="1600" dirty="0"/>
              <a:t>(continued)</a:t>
            </a:r>
            <a:endParaRPr lang="en-US" dirty="0"/>
          </a:p>
        </p:txBody>
      </p:sp>
      <p:sp>
        <p:nvSpPr>
          <p:cNvPr id="3" name="Content Placeholder 2"/>
          <p:cNvSpPr>
            <a:spLocks noGrp="1"/>
          </p:cNvSpPr>
          <p:nvPr>
            <p:ph idx="1"/>
          </p:nvPr>
        </p:nvSpPr>
        <p:spPr>
          <a:xfrm>
            <a:off x="457200" y="1752600"/>
            <a:ext cx="8229600" cy="4302716"/>
          </a:xfrm>
        </p:spPr>
        <p:txBody>
          <a:bodyPr/>
          <a:lstStyle/>
          <a:p>
            <a:r>
              <a:rPr lang="en-US" dirty="0"/>
              <a:t>Now, we can find the average mass of a bean</a:t>
            </a:r>
          </a:p>
          <a:p>
            <a:endParaRPr lang="en-US" dirty="0"/>
          </a:p>
          <a:p>
            <a:endParaRPr lang="en-US" dirty="0"/>
          </a:p>
          <a:p>
            <a:endParaRPr lang="en-US" dirty="0"/>
          </a:p>
          <a:p>
            <a:endParaRPr lang="en-US" dirty="0"/>
          </a:p>
          <a:p>
            <a:endParaRPr lang="en-US" dirty="0"/>
          </a:p>
          <a:p>
            <a:r>
              <a:rPr lang="en-US" dirty="0"/>
              <a:t>Finally, we can multiply the average mass of a single bean with the total number of beans to find the average mass</a:t>
            </a:r>
          </a:p>
          <a:p>
            <a:endParaRPr lang="en-US" dirty="0"/>
          </a:p>
        </p:txBody>
      </p:sp>
      <p:graphicFrame>
        <p:nvGraphicFramePr>
          <p:cNvPr id="6" name="Object 5" descr="Average mass equals total mass of beans divided by number of beans equals 5.1 g plus 5.2 g plus 5.0 g plus 4.8 g plus 4.9 g plus 5.0 g plus 5.0 g plus 5.1 g plus 4.9 g plus 5.0 g divided by 10 equals 50.0 divided by 10 equals 5.0 g."/>
          <p:cNvGraphicFramePr>
            <a:graphicFrameLocks noChangeAspect="1"/>
          </p:cNvGraphicFramePr>
          <p:nvPr>
            <p:extLst>
              <p:ext uri="{D42A27DB-BD31-4B8C-83A1-F6EECF244321}">
                <p14:modId xmlns:p14="http://schemas.microsoft.com/office/powerpoint/2010/main" val="3616222124"/>
              </p:ext>
            </p:extLst>
          </p:nvPr>
        </p:nvGraphicFramePr>
        <p:xfrm>
          <a:off x="798513" y="2460625"/>
          <a:ext cx="7981950" cy="1887538"/>
        </p:xfrm>
        <a:graphic>
          <a:graphicData uri="http://schemas.openxmlformats.org/presentationml/2006/ole">
            <mc:AlternateContent xmlns:mc="http://schemas.openxmlformats.org/markup-compatibility/2006">
              <mc:Choice xmlns:v="urn:schemas-microsoft-com:vml" Requires="v">
                <p:oleObj spid="_x0000_s202803" name="Equation" r:id="rId3" imgW="5206680" imgH="1231560" progId="Equation.DSMT4">
                  <p:embed/>
                </p:oleObj>
              </mc:Choice>
              <mc:Fallback>
                <p:oleObj name="Equation" r:id="rId3" imgW="5206680" imgH="1231560" progId="Equation.DSMT4">
                  <p:embed/>
                  <p:pic>
                    <p:nvPicPr>
                      <p:cNvPr id="0" name=""/>
                      <p:cNvPicPr/>
                      <p:nvPr/>
                    </p:nvPicPr>
                    <p:blipFill>
                      <a:blip r:embed="rId4"/>
                      <a:stretch>
                        <a:fillRect/>
                      </a:stretch>
                    </p:blipFill>
                    <p:spPr>
                      <a:xfrm>
                        <a:off x="798513" y="2460625"/>
                        <a:ext cx="7981950" cy="1887538"/>
                      </a:xfrm>
                      <a:prstGeom prst="rect">
                        <a:avLst/>
                      </a:prstGeom>
                    </p:spPr>
                  </p:pic>
                </p:oleObj>
              </mc:Fallback>
            </mc:AlternateContent>
          </a:graphicData>
        </a:graphic>
      </p:graphicFrame>
      <p:sp>
        <p:nvSpPr>
          <p:cNvPr id="5" name="Slide Number Placeholder 4"/>
          <p:cNvSpPr>
            <a:spLocks noGrp="1"/>
          </p:cNvSpPr>
          <p:nvPr>
            <p:ph type="sldNum" sz="quarter" idx="11"/>
          </p:nvPr>
        </p:nvSpPr>
        <p:spPr/>
        <p:txBody>
          <a:bodyPr/>
          <a:lstStyle/>
          <a:p>
            <a:fld id="{46092B02-CF88-894A-8A99-22CE79F0C308}" type="slidenum">
              <a:rPr lang="en-US" smtClean="0">
                <a:solidFill>
                  <a:srgbClr val="000000"/>
                </a:solidFill>
                <a:latin typeface="Arial"/>
              </a:rPr>
              <a:pPr/>
              <a:t>4</a:t>
            </a:fld>
            <a:endParaRPr lang="en-US">
              <a:solidFill>
                <a:srgbClr val="000000"/>
              </a:solidFill>
              <a:latin typeface="Arial"/>
            </a:endParaRPr>
          </a:p>
        </p:txBody>
      </p:sp>
    </p:spTree>
    <p:extLst>
      <p:ext uri="{BB962C8B-B14F-4D97-AF65-F5344CB8AC3E}">
        <p14:creationId xmlns:p14="http://schemas.microsoft.com/office/powerpoint/2010/main" val="3034756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r>
              <a:rPr lang="en-US"/>
              <a:t>Averaging the Mass of Different Objects</a:t>
            </a:r>
          </a:p>
        </p:txBody>
      </p:sp>
      <p:sp>
        <p:nvSpPr>
          <p:cNvPr id="281603" name="Rectangle 3"/>
          <p:cNvSpPr>
            <a:spLocks noGrp="1" noChangeArrowheads="1"/>
          </p:cNvSpPr>
          <p:nvPr>
            <p:ph idx="1"/>
          </p:nvPr>
        </p:nvSpPr>
        <p:spPr>
          <a:xfrm>
            <a:off x="457200" y="1752600"/>
            <a:ext cx="8229600" cy="2252924"/>
          </a:xfrm>
        </p:spPr>
        <p:txBody>
          <a:bodyPr/>
          <a:lstStyle/>
          <a:p>
            <a:r>
              <a:rPr lang="en-US" dirty="0"/>
              <a:t>Consider two samples containing different types of components, A and B</a:t>
            </a:r>
          </a:p>
          <a:p>
            <a:pPr lvl="1"/>
            <a:r>
              <a:rPr lang="en-US" dirty="0"/>
              <a:t>Both samples are likely to contain the same number of components if the ratio of the sample masses is the same as the ratio of the masses of the individual components of A and B</a:t>
            </a:r>
          </a:p>
        </p:txBody>
      </p:sp>
      <p:sp>
        <p:nvSpPr>
          <p:cNvPr id="5" name="Slide Number Placeholder 5"/>
          <p:cNvSpPr>
            <a:spLocks noGrp="1"/>
          </p:cNvSpPr>
          <p:nvPr>
            <p:ph type="sldNum" sz="quarter" idx="11"/>
          </p:nvPr>
        </p:nvSpPr>
        <p:spPr/>
        <p:txBody>
          <a:bodyPr/>
          <a:lstStyle/>
          <a:p>
            <a:fld id="{393A25DA-DAC4-6E41-A776-4DF76C5BF490}" type="slidenum">
              <a:rPr lang="en-US" smtClean="0"/>
              <a:pPr/>
              <a:t>5</a:t>
            </a:fld>
            <a:endParaRPr lang="en-US"/>
          </a:p>
        </p:txBody>
      </p:sp>
    </p:spTree>
    <p:extLst>
      <p:ext uri="{BB962C8B-B14F-4D97-AF65-F5344CB8AC3E}">
        <p14:creationId xmlns:p14="http://schemas.microsoft.com/office/powerpoint/2010/main" val="1065646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524000" y="1143000"/>
            <a:ext cx="7086600" cy="533400"/>
          </a:xfrm>
        </p:spPr>
        <p:txBody>
          <a:bodyPr/>
          <a:lstStyle/>
          <a:p>
            <a:r>
              <a:rPr lang="en-US" dirty="0"/>
              <a:t>Exercise</a:t>
            </a:r>
          </a:p>
        </p:txBody>
      </p:sp>
      <p:sp>
        <p:nvSpPr>
          <p:cNvPr id="107523" name="Rectangle 3"/>
          <p:cNvSpPr>
            <a:spLocks noGrp="1" noChangeArrowheads="1"/>
          </p:cNvSpPr>
          <p:nvPr>
            <p:ph type="body" idx="1"/>
          </p:nvPr>
        </p:nvSpPr>
        <p:spPr>
          <a:xfrm>
            <a:off x="381000" y="2133600"/>
            <a:ext cx="8229600" cy="830997"/>
          </a:xfrm>
        </p:spPr>
        <p:txBody>
          <a:bodyPr/>
          <a:lstStyle/>
          <a:p>
            <a:pPr marL="457200" indent="-60325">
              <a:buFontTx/>
              <a:buNone/>
            </a:pPr>
            <a:r>
              <a:rPr lang="en-US" dirty="0"/>
              <a:t>	A pile of marbles weigh 394.80 g. 10 marbles weigh 37.60 g. How many marbles are in the pile?</a:t>
            </a:r>
          </a:p>
        </p:txBody>
      </p:sp>
      <p:sp>
        <p:nvSpPr>
          <p:cNvPr id="107532" name="Rectangle 12" descr="green box"/>
          <p:cNvSpPr>
            <a:spLocks noChangeArrowheads="1"/>
          </p:cNvSpPr>
          <p:nvPr/>
        </p:nvSpPr>
        <p:spPr bwMode="auto">
          <a:xfrm>
            <a:off x="1066800" y="3657600"/>
            <a:ext cx="7391400" cy="1905000"/>
          </a:xfrm>
          <a:prstGeom prst="rect">
            <a:avLst/>
          </a:prstGeom>
          <a:noFill/>
          <a:ln w="38100">
            <a:solidFill>
              <a:srgbClr val="008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2" name="Object 1" descr="Average mass of 1 marble equals 37.60 divided by 10 marbles equals 3.76 g per marble. 394.80 g divided by 3.76 g equals 105 marbles."/>
          <p:cNvGraphicFramePr>
            <a:graphicFrameLocks noChangeAspect="1"/>
          </p:cNvGraphicFramePr>
          <p:nvPr>
            <p:extLst>
              <p:ext uri="{D42A27DB-BD31-4B8C-83A1-F6EECF244321}">
                <p14:modId xmlns:p14="http://schemas.microsoft.com/office/powerpoint/2010/main" val="263415347"/>
              </p:ext>
            </p:extLst>
          </p:nvPr>
        </p:nvGraphicFramePr>
        <p:xfrm>
          <a:off x="1174750" y="3849688"/>
          <a:ext cx="6942555" cy="1580716"/>
        </p:xfrm>
        <a:graphic>
          <a:graphicData uri="http://schemas.openxmlformats.org/presentationml/2006/ole">
            <mc:AlternateContent xmlns:mc="http://schemas.openxmlformats.org/markup-compatibility/2006">
              <mc:Choice xmlns:v="urn:schemas-microsoft-com:vml" Requires="v">
                <p:oleObj spid="_x0000_s203827" name="Equation" r:id="rId4" imgW="3682800" imgH="838080" progId="Equation.DSMT4">
                  <p:embed/>
                </p:oleObj>
              </mc:Choice>
              <mc:Fallback>
                <p:oleObj name="Equation" r:id="rId4" imgW="3682800" imgH="838080" progId="Equation.DSMT4">
                  <p:embed/>
                  <p:pic>
                    <p:nvPicPr>
                      <p:cNvPr id="0" name=""/>
                      <p:cNvPicPr/>
                      <p:nvPr/>
                    </p:nvPicPr>
                    <p:blipFill>
                      <a:blip r:embed="rId5"/>
                      <a:stretch>
                        <a:fillRect/>
                      </a:stretch>
                    </p:blipFill>
                    <p:spPr>
                      <a:xfrm>
                        <a:off x="1174750" y="3849688"/>
                        <a:ext cx="6942555" cy="1580716"/>
                      </a:xfrm>
                      <a:prstGeom prst="rect">
                        <a:avLst/>
                      </a:prstGeom>
                    </p:spPr>
                  </p:pic>
                </p:oleObj>
              </mc:Fallback>
            </mc:AlternateContent>
          </a:graphicData>
        </a:graphic>
      </p:graphicFrame>
      <p:sp>
        <p:nvSpPr>
          <p:cNvPr id="12" name="Slide Number Placeholder 4"/>
          <p:cNvSpPr>
            <a:spLocks noGrp="1"/>
          </p:cNvSpPr>
          <p:nvPr>
            <p:ph type="sldNum" sz="quarter" idx="11"/>
          </p:nvPr>
        </p:nvSpPr>
        <p:spPr/>
        <p:txBody>
          <a:bodyPr/>
          <a:lstStyle/>
          <a:p>
            <a:fld id="{D903FFBF-CA98-7C4A-A861-21D05A72C68E}" type="slidenum">
              <a:rPr lang="en-US"/>
              <a:pPr/>
              <a:t>6</a:t>
            </a:fld>
            <a:endParaRPr lang="en-US"/>
          </a:p>
        </p:txBody>
      </p:sp>
    </p:spTree>
    <p:extLst>
      <p:ext uri="{BB962C8B-B14F-4D97-AF65-F5344CB8AC3E}">
        <p14:creationId xmlns:p14="http://schemas.microsoft.com/office/powerpoint/2010/main" val="252227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Determining the Atomic Mass</a:t>
            </a:r>
          </a:p>
        </p:txBody>
      </p:sp>
      <p:sp>
        <p:nvSpPr>
          <p:cNvPr id="123906" name="Rectangle 2"/>
          <p:cNvSpPr>
            <a:spLocks noGrp="1" noChangeArrowheads="1"/>
          </p:cNvSpPr>
          <p:nvPr>
            <p:ph idx="1"/>
          </p:nvPr>
        </p:nvSpPr>
        <p:spPr>
          <a:xfrm>
            <a:off x="457200" y="1752600"/>
            <a:ext cx="8229600" cy="2086725"/>
          </a:xfrm>
        </p:spPr>
        <p:txBody>
          <a:bodyPr/>
          <a:lstStyle/>
          <a:p>
            <a:r>
              <a:rPr lang="en-US" dirty="0"/>
              <a:t>Atoms have tiny masses, so scientists created a unit to avoid using very small numbers</a:t>
            </a:r>
          </a:p>
          <a:p>
            <a:pPr>
              <a:buNone/>
            </a:pPr>
            <a:r>
              <a:rPr lang="en-US" dirty="0"/>
              <a:t>		1 </a:t>
            </a:r>
            <a:r>
              <a:rPr lang="en-US" b="1" dirty="0"/>
              <a:t>atomic mass unit (</a:t>
            </a:r>
            <a:r>
              <a:rPr lang="en-US" b="1" dirty="0" err="1"/>
              <a:t>amu</a:t>
            </a:r>
            <a:r>
              <a:rPr lang="en-US" b="1" dirty="0"/>
              <a:t>) </a:t>
            </a:r>
            <a:r>
              <a:rPr lang="en-US" dirty="0"/>
              <a:t>= 1.66 </a:t>
            </a:r>
            <a:r>
              <a:rPr lang="en-US" dirty="0">
                <a:sym typeface="Symbol" charset="0"/>
              </a:rPr>
              <a:t></a:t>
            </a:r>
            <a:r>
              <a:rPr lang="en-US" dirty="0"/>
              <a:t>10</a:t>
            </a:r>
            <a:r>
              <a:rPr lang="en-US" baseline="30000" dirty="0"/>
              <a:t>–24</a:t>
            </a:r>
            <a:r>
              <a:rPr lang="en-US" dirty="0"/>
              <a:t> g </a:t>
            </a:r>
          </a:p>
          <a:p>
            <a:r>
              <a:rPr lang="en-US" dirty="0"/>
              <a:t>The average atomic mass for an element is the weighted average of the masses of all the isotopes of the element</a:t>
            </a:r>
          </a:p>
        </p:txBody>
      </p:sp>
      <p:sp>
        <p:nvSpPr>
          <p:cNvPr id="4" name="Slide Number Placeholder 4"/>
          <p:cNvSpPr>
            <a:spLocks noGrp="1"/>
          </p:cNvSpPr>
          <p:nvPr>
            <p:ph type="sldNum" sz="quarter" idx="11"/>
          </p:nvPr>
        </p:nvSpPr>
        <p:spPr/>
        <p:txBody>
          <a:bodyPr/>
          <a:lstStyle/>
          <a:p>
            <a:fld id="{C5B97AE5-F477-B141-9835-2525CAC14C65}" type="slidenum">
              <a:rPr lang="en-US" smtClean="0"/>
              <a:pPr/>
              <a:t>7</a:t>
            </a:fld>
            <a:endParaRPr lang="en-US"/>
          </a:p>
        </p:txBody>
      </p:sp>
    </p:spTree>
    <p:extLst>
      <p:ext uri="{BB962C8B-B14F-4D97-AF65-F5344CB8AC3E}">
        <p14:creationId xmlns:p14="http://schemas.microsoft.com/office/powerpoint/2010/main" val="1548022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noChangeArrowheads="1"/>
          </p:cNvSpPr>
          <p:nvPr>
            <p:ph type="title"/>
          </p:nvPr>
        </p:nvSpPr>
        <p:spPr/>
        <p:txBody>
          <a:bodyPr/>
          <a:lstStyle/>
          <a:p>
            <a:r>
              <a:rPr lang="en-US"/>
              <a:t>Average Atomic Mass for Carbon</a:t>
            </a:r>
          </a:p>
        </p:txBody>
      </p:sp>
      <p:sp>
        <p:nvSpPr>
          <p:cNvPr id="128002" name="Rectangle 2"/>
          <p:cNvSpPr>
            <a:spLocks noGrp="1" noChangeArrowheads="1"/>
          </p:cNvSpPr>
          <p:nvPr>
            <p:ph idx="1"/>
          </p:nvPr>
        </p:nvSpPr>
        <p:spPr>
          <a:xfrm>
            <a:off x="457200" y="1752600"/>
            <a:ext cx="8229600" cy="2382191"/>
          </a:xfrm>
        </p:spPr>
        <p:txBody>
          <a:bodyPr/>
          <a:lstStyle/>
          <a:p>
            <a:r>
              <a:rPr lang="en-US" dirty="0"/>
              <a:t>Even though natural carbon does not contain a single atom with a mass of 12.01, carbon is treated as though it is composed of only one type of atom with the same  mass</a:t>
            </a:r>
          </a:p>
          <a:p>
            <a:r>
              <a:rPr lang="en-US" dirty="0"/>
              <a:t>This enables counting atoms of natural carbon by weighing a sample of carbon</a:t>
            </a:r>
          </a:p>
        </p:txBody>
      </p:sp>
      <p:sp>
        <p:nvSpPr>
          <p:cNvPr id="5" name="Slide Number Placeholder 4"/>
          <p:cNvSpPr>
            <a:spLocks noGrp="1"/>
          </p:cNvSpPr>
          <p:nvPr>
            <p:ph type="sldNum" sz="quarter" idx="11"/>
          </p:nvPr>
        </p:nvSpPr>
        <p:spPr/>
        <p:txBody>
          <a:bodyPr/>
          <a:lstStyle/>
          <a:p>
            <a:fld id="{D3046A64-4594-CA4B-8430-AE60A8D6037D}" type="slidenum">
              <a:rPr lang="en-US" smtClean="0"/>
              <a:pPr/>
              <a:t>8</a:t>
            </a:fld>
            <a:endParaRPr lang="en-US"/>
          </a:p>
        </p:txBody>
      </p:sp>
    </p:spTree>
    <p:extLst>
      <p:ext uri="{BB962C8B-B14F-4D97-AF65-F5344CB8AC3E}">
        <p14:creationId xmlns:p14="http://schemas.microsoft.com/office/powerpoint/2010/main" val="2445559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5091" name="Rectangle 3"/>
          <p:cNvSpPr>
            <a:spLocks noGrp="1" noChangeArrowheads="1"/>
          </p:cNvSpPr>
          <p:nvPr>
            <p:ph type="title"/>
          </p:nvPr>
        </p:nvSpPr>
        <p:spPr/>
        <p:txBody>
          <a:bodyPr/>
          <a:lstStyle/>
          <a:p>
            <a:r>
              <a:rPr lang="en-US"/>
              <a:t>Example Using Atomic Mass Units</a:t>
            </a:r>
          </a:p>
        </p:txBody>
      </p:sp>
      <p:sp>
        <p:nvSpPr>
          <p:cNvPr id="345090" name="Rectangle 2"/>
          <p:cNvSpPr>
            <a:spLocks noGrp="1" noChangeArrowheads="1"/>
          </p:cNvSpPr>
          <p:nvPr>
            <p:ph idx="1"/>
          </p:nvPr>
        </p:nvSpPr>
        <p:spPr>
          <a:xfrm>
            <a:off x="457200" y="1752600"/>
            <a:ext cx="8229600" cy="1348061"/>
          </a:xfrm>
        </p:spPr>
        <p:txBody>
          <a:bodyPr/>
          <a:lstStyle/>
          <a:p>
            <a:pPr>
              <a:buNone/>
            </a:pPr>
            <a:r>
              <a:rPr lang="en-US" dirty="0">
                <a:solidFill>
                  <a:srgbClr val="0000FF"/>
                </a:solidFill>
              </a:rPr>
              <a:t>Calculate the mass (in </a:t>
            </a:r>
            <a:r>
              <a:rPr lang="en-US" dirty="0" err="1">
                <a:solidFill>
                  <a:srgbClr val="0000FF"/>
                </a:solidFill>
              </a:rPr>
              <a:t>amu</a:t>
            </a:r>
            <a:r>
              <a:rPr lang="en-US" dirty="0">
                <a:solidFill>
                  <a:srgbClr val="0000FF"/>
                </a:solidFill>
              </a:rPr>
              <a:t>) of 431 atoms of carbon</a:t>
            </a:r>
          </a:p>
          <a:p>
            <a:r>
              <a:rPr lang="en-US" dirty="0"/>
              <a:t>The mass of 1 carbon atom = 12.01 </a:t>
            </a:r>
            <a:r>
              <a:rPr lang="en-US" dirty="0" err="1"/>
              <a:t>amu</a:t>
            </a:r>
            <a:endParaRPr lang="en-US" dirty="0"/>
          </a:p>
          <a:p>
            <a:r>
              <a:rPr lang="en-US" dirty="0"/>
              <a:t>Use the relationship as a conversion factor</a:t>
            </a:r>
          </a:p>
        </p:txBody>
      </p:sp>
      <p:graphicFrame>
        <p:nvGraphicFramePr>
          <p:cNvPr id="2" name="Object 1" descr="431 C atoms multiplied by 12.01 amu divided by 1 C atom equals 5176 amu. Atoms and 1 C atom have been scored out in the equation."/>
          <p:cNvGraphicFramePr>
            <a:graphicFrameLocks noChangeAspect="1"/>
          </p:cNvGraphicFramePr>
          <p:nvPr>
            <p:extLst>
              <p:ext uri="{D42A27DB-BD31-4B8C-83A1-F6EECF244321}">
                <p14:modId xmlns:p14="http://schemas.microsoft.com/office/powerpoint/2010/main" val="3649878384"/>
              </p:ext>
            </p:extLst>
          </p:nvPr>
        </p:nvGraphicFramePr>
        <p:xfrm>
          <a:off x="2146650" y="3800976"/>
          <a:ext cx="4595713" cy="703848"/>
        </p:xfrm>
        <a:graphic>
          <a:graphicData uri="http://schemas.openxmlformats.org/presentationml/2006/ole">
            <mc:AlternateContent xmlns:mc="http://schemas.openxmlformats.org/markup-compatibility/2006">
              <mc:Choice xmlns:v="urn:schemas-microsoft-com:vml" Requires="v">
                <p:oleObj spid="_x0000_s201792" name="Equation" r:id="rId4" imgW="2819160" imgH="431640" progId="Equation.DSMT4">
                  <p:embed/>
                </p:oleObj>
              </mc:Choice>
              <mc:Fallback>
                <p:oleObj name="Equation" r:id="rId4" imgW="2819160" imgH="431640" progId="Equation.DSMT4">
                  <p:embed/>
                  <p:pic>
                    <p:nvPicPr>
                      <p:cNvPr id="0" name=""/>
                      <p:cNvPicPr/>
                      <p:nvPr/>
                    </p:nvPicPr>
                    <p:blipFill>
                      <a:blip r:embed="rId5"/>
                      <a:stretch>
                        <a:fillRect/>
                      </a:stretch>
                    </p:blipFill>
                    <p:spPr>
                      <a:xfrm>
                        <a:off x="2146650" y="3800976"/>
                        <a:ext cx="4595713" cy="703848"/>
                      </a:xfrm>
                      <a:prstGeom prst="rect">
                        <a:avLst/>
                      </a:prstGeom>
                    </p:spPr>
                  </p:pic>
                </p:oleObj>
              </mc:Fallback>
            </mc:AlternateContent>
          </a:graphicData>
        </a:graphic>
      </p:graphicFrame>
      <p:sp>
        <p:nvSpPr>
          <p:cNvPr id="8" name="Slide Number Placeholder 4"/>
          <p:cNvSpPr>
            <a:spLocks noGrp="1"/>
          </p:cNvSpPr>
          <p:nvPr>
            <p:ph type="sldNum" sz="quarter" idx="11"/>
          </p:nvPr>
        </p:nvSpPr>
        <p:spPr/>
        <p:txBody>
          <a:bodyPr/>
          <a:lstStyle/>
          <a:p>
            <a:fld id="{1F23BD00-FEB3-1F48-9157-3702AA96ECE2}" type="slidenum">
              <a:rPr lang="en-US" smtClean="0"/>
              <a:pPr/>
              <a:t>9</a:t>
            </a:fld>
            <a:endParaRPr lang="en-US"/>
          </a:p>
        </p:txBody>
      </p:sp>
    </p:spTree>
    <p:extLst>
      <p:ext uri="{BB962C8B-B14F-4D97-AF65-F5344CB8AC3E}">
        <p14:creationId xmlns:p14="http://schemas.microsoft.com/office/powerpoint/2010/main" val="745146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524000" y="1143000"/>
            <a:ext cx="7239000" cy="533400"/>
          </a:xfrm>
        </p:spPr>
        <p:txBody>
          <a:bodyPr/>
          <a:lstStyle/>
          <a:p>
            <a:r>
              <a:rPr lang="en-US" dirty="0"/>
              <a:t>Exercise, 1</a:t>
            </a:r>
            <a:endParaRPr lang="en-US" dirty="0">
              <a:solidFill>
                <a:srgbClr val="FF0000"/>
              </a:solidFill>
            </a:endParaRPr>
          </a:p>
        </p:txBody>
      </p:sp>
      <p:sp>
        <p:nvSpPr>
          <p:cNvPr id="132099" name="Rectangle 3"/>
          <p:cNvSpPr>
            <a:spLocks noGrp="1" noChangeArrowheads="1"/>
          </p:cNvSpPr>
          <p:nvPr>
            <p:ph idx="1"/>
          </p:nvPr>
        </p:nvSpPr>
        <p:spPr>
          <a:xfrm>
            <a:off x="381000" y="2133600"/>
            <a:ext cx="8229600" cy="3108543"/>
          </a:xfrm>
        </p:spPr>
        <p:txBody>
          <a:bodyPr/>
          <a:lstStyle/>
          <a:p>
            <a:pPr marL="746125" indent="-349250">
              <a:buNone/>
            </a:pPr>
            <a:r>
              <a:rPr lang="en-US" sz="2800" dirty="0"/>
              <a:t>	</a:t>
            </a:r>
            <a:r>
              <a:rPr lang="en-US" dirty="0">
                <a:solidFill>
                  <a:srgbClr val="0000FF"/>
                </a:solidFill>
              </a:rPr>
              <a:t>Calculate the mass, in </a:t>
            </a:r>
            <a:r>
              <a:rPr lang="en-US" dirty="0" err="1">
                <a:solidFill>
                  <a:srgbClr val="0000FF"/>
                </a:solidFill>
              </a:rPr>
              <a:t>amu</a:t>
            </a:r>
            <a:r>
              <a:rPr lang="en-US" dirty="0">
                <a:solidFill>
                  <a:srgbClr val="0000FF"/>
                </a:solidFill>
              </a:rPr>
              <a:t>, of a sample of aluminum that contains 75 atoms</a:t>
            </a:r>
          </a:p>
          <a:p>
            <a:pPr marL="746125" indent="-349250">
              <a:buFontTx/>
              <a:buNone/>
            </a:pPr>
            <a:endParaRPr lang="en-US" dirty="0"/>
          </a:p>
          <a:p>
            <a:pPr marL="746125" indent="-349250">
              <a:buFontTx/>
              <a:buNone/>
            </a:pPr>
            <a:r>
              <a:rPr lang="en-US" dirty="0"/>
              <a:t>			     </a:t>
            </a:r>
            <a:r>
              <a:rPr lang="en-US" dirty="0">
                <a:solidFill>
                  <a:srgbClr val="009900"/>
                </a:solidFill>
              </a:rPr>
              <a:t>	     </a:t>
            </a:r>
          </a:p>
          <a:p>
            <a:pPr marL="746125" indent="-349250">
              <a:buFontTx/>
              <a:buNone/>
            </a:pPr>
            <a:endParaRPr lang="en-US" dirty="0">
              <a:solidFill>
                <a:srgbClr val="009900"/>
              </a:solidFill>
            </a:endParaRPr>
          </a:p>
          <a:p>
            <a:pPr marL="746125" indent="-349250">
              <a:buFontTx/>
              <a:buNone/>
            </a:pPr>
            <a:endParaRPr lang="en-US" dirty="0">
              <a:solidFill>
                <a:srgbClr val="009900"/>
              </a:solidFill>
            </a:endParaRPr>
          </a:p>
          <a:p>
            <a:pPr marL="746125" indent="-349250">
              <a:buFontTx/>
              <a:buNone/>
            </a:pPr>
            <a:r>
              <a:rPr lang="en-US" dirty="0">
                <a:solidFill>
                  <a:srgbClr val="009900"/>
                </a:solidFill>
              </a:rPr>
              <a:t>				     </a:t>
            </a:r>
            <a:r>
              <a:rPr lang="en-US" dirty="0">
                <a:solidFill>
                  <a:srgbClr val="009900"/>
                </a:solidFill>
                <a:cs typeface="Arial" charset="0"/>
              </a:rPr>
              <a:t>2024 </a:t>
            </a:r>
            <a:r>
              <a:rPr lang="en-US" dirty="0" err="1">
                <a:solidFill>
                  <a:srgbClr val="009900"/>
                </a:solidFill>
                <a:cs typeface="Arial" charset="0"/>
              </a:rPr>
              <a:t>amu</a:t>
            </a:r>
            <a:endParaRPr lang="en-US" dirty="0">
              <a:solidFill>
                <a:srgbClr val="009900"/>
              </a:solidFill>
              <a:cs typeface="Arial" charset="0"/>
            </a:endParaRPr>
          </a:p>
        </p:txBody>
      </p:sp>
      <p:graphicFrame>
        <p:nvGraphicFramePr>
          <p:cNvPr id="2" name="Object 1" descr="75 A l atoms multiplied by 26.98 a m u divided by 1 A l atom equals."/>
          <p:cNvGraphicFramePr>
            <a:graphicFrameLocks noChangeAspect="1"/>
          </p:cNvGraphicFramePr>
          <p:nvPr>
            <p:extLst>
              <p:ext uri="{D42A27DB-BD31-4B8C-83A1-F6EECF244321}">
                <p14:modId xmlns:p14="http://schemas.microsoft.com/office/powerpoint/2010/main" val="3524066914"/>
              </p:ext>
            </p:extLst>
          </p:nvPr>
        </p:nvGraphicFramePr>
        <p:xfrm>
          <a:off x="1030288" y="3368675"/>
          <a:ext cx="4695825" cy="914400"/>
        </p:xfrm>
        <a:graphic>
          <a:graphicData uri="http://schemas.openxmlformats.org/presentationml/2006/ole">
            <mc:AlternateContent xmlns:mc="http://schemas.openxmlformats.org/markup-compatibility/2006">
              <mc:Choice xmlns:v="urn:schemas-microsoft-com:vml" Requires="v">
                <p:oleObj spid="_x0000_s3139" name="Equation" r:id="rId4" imgW="2019240" imgH="393480" progId="Equation.DSMT4">
                  <p:embed/>
                </p:oleObj>
              </mc:Choice>
              <mc:Fallback>
                <p:oleObj name="Equation" r:id="rId4" imgW="2019240" imgH="393480" progId="Equation.DSMT4">
                  <p:embed/>
                  <p:pic>
                    <p:nvPicPr>
                      <p:cNvPr id="0" name=""/>
                      <p:cNvPicPr/>
                      <p:nvPr/>
                    </p:nvPicPr>
                    <p:blipFill>
                      <a:blip r:embed="rId5"/>
                      <a:stretch>
                        <a:fillRect/>
                      </a:stretch>
                    </p:blipFill>
                    <p:spPr>
                      <a:xfrm>
                        <a:off x="1030288" y="3368675"/>
                        <a:ext cx="4695825" cy="914400"/>
                      </a:xfrm>
                      <a:prstGeom prst="rect">
                        <a:avLst/>
                      </a:prstGeom>
                    </p:spPr>
                  </p:pic>
                </p:oleObj>
              </mc:Fallback>
            </mc:AlternateContent>
          </a:graphicData>
        </a:graphic>
      </p:graphicFrame>
      <p:sp>
        <p:nvSpPr>
          <p:cNvPr id="7" name="Slide Number Placeholder 4"/>
          <p:cNvSpPr>
            <a:spLocks noGrp="1"/>
          </p:cNvSpPr>
          <p:nvPr>
            <p:ph type="sldNum" sz="quarter" idx="11"/>
          </p:nvPr>
        </p:nvSpPr>
        <p:spPr/>
        <p:txBody>
          <a:bodyPr/>
          <a:lstStyle/>
          <a:p>
            <a:fld id="{D1AF2D83-30DD-3C40-B9D7-D8A947459A4C}" type="slidenum">
              <a:rPr lang="en-US"/>
              <a:pPr/>
              <a:t>10</a:t>
            </a:fld>
            <a:endParaRPr lang="en-US"/>
          </a:p>
        </p:txBody>
      </p:sp>
    </p:spTree>
    <p:extLst>
      <p:ext uri="{BB962C8B-B14F-4D97-AF65-F5344CB8AC3E}">
        <p14:creationId xmlns:p14="http://schemas.microsoft.com/office/powerpoint/2010/main" val="4237273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Definition of Mole</a:t>
            </a:r>
          </a:p>
        </p:txBody>
      </p:sp>
      <p:sp>
        <p:nvSpPr>
          <p:cNvPr id="146434" name="Rectangle 2"/>
          <p:cNvSpPr>
            <a:spLocks noGrp="1" noChangeArrowheads="1"/>
          </p:cNvSpPr>
          <p:nvPr>
            <p:ph idx="1"/>
          </p:nvPr>
        </p:nvSpPr>
        <p:spPr>
          <a:xfrm>
            <a:off x="457200" y="1752600"/>
            <a:ext cx="8229600" cy="2086725"/>
          </a:xfrm>
        </p:spPr>
        <p:txBody>
          <a:bodyPr/>
          <a:lstStyle/>
          <a:p>
            <a:r>
              <a:rPr lang="en-US" dirty="0"/>
              <a:t>The number equal to the number of carbon atoms in 12.01 grams of carbon</a:t>
            </a:r>
          </a:p>
          <a:p>
            <a:r>
              <a:rPr lang="en-US" dirty="0"/>
              <a:t>1 mole of anything = 6.022 x 10</a:t>
            </a:r>
            <a:r>
              <a:rPr lang="en-US" baseline="30000" dirty="0"/>
              <a:t>23</a:t>
            </a:r>
            <a:r>
              <a:rPr lang="en-US" dirty="0"/>
              <a:t> units of that thing, </a:t>
            </a:r>
            <a:r>
              <a:rPr lang="en-US" b="1" dirty="0"/>
              <a:t>Avogadro</a:t>
            </a:r>
            <a:r>
              <a:rPr lang="en-US" altLang="ja-JP" b="1" dirty="0"/>
              <a:t>’</a:t>
            </a:r>
            <a:r>
              <a:rPr lang="en-US" b="1" dirty="0"/>
              <a:t>s number</a:t>
            </a:r>
          </a:p>
          <a:p>
            <a:r>
              <a:rPr lang="en-US" dirty="0"/>
              <a:t>1 mole of C = 6.022 x 10</a:t>
            </a:r>
            <a:r>
              <a:rPr lang="en-US" baseline="30000" dirty="0"/>
              <a:t>23</a:t>
            </a:r>
            <a:r>
              <a:rPr lang="en-US" dirty="0"/>
              <a:t> C atoms = 12.01 g C</a:t>
            </a:r>
          </a:p>
        </p:txBody>
      </p:sp>
      <p:sp>
        <p:nvSpPr>
          <p:cNvPr id="7" name="Slide Number Placeholder 4"/>
          <p:cNvSpPr>
            <a:spLocks noGrp="1"/>
          </p:cNvSpPr>
          <p:nvPr>
            <p:ph type="sldNum" sz="quarter" idx="11"/>
          </p:nvPr>
        </p:nvSpPr>
        <p:spPr/>
        <p:txBody>
          <a:bodyPr/>
          <a:lstStyle/>
          <a:p>
            <a:fld id="{3DD34036-79E5-8447-ABC7-2792DD1FE338}" type="slidenum">
              <a:rPr lang="en-US" smtClean="0"/>
              <a:pPr/>
              <a:t>11</a:t>
            </a:fld>
            <a:endParaRPr lang="en-US"/>
          </a:p>
        </p:txBody>
      </p:sp>
    </p:spTree>
    <p:extLst>
      <p:ext uri="{BB962C8B-B14F-4D97-AF65-F5344CB8AC3E}">
        <p14:creationId xmlns:p14="http://schemas.microsoft.com/office/powerpoint/2010/main" val="102571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Understanding the Mole Concept</a:t>
            </a:r>
          </a:p>
        </p:txBody>
      </p:sp>
      <p:sp>
        <p:nvSpPr>
          <p:cNvPr id="283650" name="Rectangle 2"/>
          <p:cNvSpPr>
            <a:spLocks noGrp="1" noChangeArrowheads="1"/>
          </p:cNvSpPr>
          <p:nvPr>
            <p:ph idx="1"/>
          </p:nvPr>
        </p:nvSpPr>
        <p:spPr>
          <a:xfrm>
            <a:off x="457200" y="1752600"/>
            <a:ext cx="8229600" cy="1643527"/>
          </a:xfrm>
        </p:spPr>
        <p:txBody>
          <a:bodyPr/>
          <a:lstStyle/>
          <a:p>
            <a:r>
              <a:rPr lang="en-US" dirty="0"/>
              <a:t>A sample of an element with a mass equal to that element</a:t>
            </a:r>
            <a:r>
              <a:rPr lang="en-US" altLang="ja-JP" dirty="0"/>
              <a:t>’</a:t>
            </a:r>
            <a:r>
              <a:rPr lang="en-US" dirty="0"/>
              <a:t>s average atomic mass (expressed in g) contains one mole of atoms (6.022 × 10</a:t>
            </a:r>
            <a:r>
              <a:rPr lang="en-US" baseline="30000" dirty="0"/>
              <a:t>23</a:t>
            </a:r>
            <a:r>
              <a:rPr lang="en-US" dirty="0"/>
              <a:t> atoms)</a:t>
            </a:r>
          </a:p>
          <a:p>
            <a:r>
              <a:rPr lang="en-US" dirty="0"/>
              <a:t>Comparison of 1-Mol samples of various elements</a:t>
            </a:r>
          </a:p>
        </p:txBody>
      </p:sp>
      <p:pic>
        <p:nvPicPr>
          <p:cNvPr id="10" name="Picture 9" title="Table 8.2 Comparison of 1-Mole Samples of Various Elements"/>
          <p:cNvPicPr>
            <a:picLocks noChangeAspect="1"/>
          </p:cNvPicPr>
          <p:nvPr/>
        </p:nvPicPr>
        <p:blipFill>
          <a:blip r:embed="rId3"/>
          <a:stretch>
            <a:fillRect/>
          </a:stretch>
        </p:blipFill>
        <p:spPr>
          <a:xfrm>
            <a:off x="457200" y="3396127"/>
            <a:ext cx="7906918" cy="2728697"/>
          </a:xfrm>
          <a:prstGeom prst="rect">
            <a:avLst/>
          </a:prstGeom>
        </p:spPr>
      </p:pic>
      <p:sp>
        <p:nvSpPr>
          <p:cNvPr id="5" name="Slide Number Placeholder 4"/>
          <p:cNvSpPr>
            <a:spLocks noGrp="1"/>
          </p:cNvSpPr>
          <p:nvPr>
            <p:ph type="sldNum" sz="quarter" idx="11"/>
          </p:nvPr>
        </p:nvSpPr>
        <p:spPr/>
        <p:txBody>
          <a:bodyPr/>
          <a:lstStyle/>
          <a:p>
            <a:fld id="{B6A3111C-4ADD-B54B-8B77-ACBC371B7579}" type="slidenum">
              <a:rPr lang="en-US" smtClean="0"/>
              <a:pPr/>
              <a:t>12</a:t>
            </a:fld>
            <a:endParaRPr lang="en-US"/>
          </a:p>
        </p:txBody>
      </p:sp>
    </p:spTree>
    <p:extLst>
      <p:ext uri="{BB962C8B-B14F-4D97-AF65-F5344CB8AC3E}">
        <p14:creationId xmlns:p14="http://schemas.microsoft.com/office/powerpoint/2010/main" val="114903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a:xfrm>
            <a:off x="1524000" y="1143000"/>
            <a:ext cx="7391400" cy="533400"/>
          </a:xfrm>
        </p:spPr>
        <p:txBody>
          <a:bodyPr/>
          <a:lstStyle/>
          <a:p>
            <a:r>
              <a:rPr lang="en-US" dirty="0"/>
              <a:t>Concept Check, 1</a:t>
            </a:r>
          </a:p>
        </p:txBody>
      </p:sp>
      <p:sp>
        <p:nvSpPr>
          <p:cNvPr id="351235" name="Rectangle 3"/>
          <p:cNvSpPr>
            <a:spLocks noGrp="1" noChangeArrowheads="1"/>
          </p:cNvSpPr>
          <p:nvPr>
            <p:ph idx="1"/>
          </p:nvPr>
        </p:nvSpPr>
        <p:spPr>
          <a:xfrm>
            <a:off x="228600" y="2133600"/>
            <a:ext cx="8229600" cy="1717393"/>
          </a:xfrm>
        </p:spPr>
        <p:txBody>
          <a:bodyPr/>
          <a:lstStyle/>
          <a:p>
            <a:pPr indent="3175">
              <a:buFontTx/>
              <a:buNone/>
            </a:pPr>
            <a:r>
              <a:rPr lang="en-US" dirty="0"/>
              <a:t>Determine the number of copper </a:t>
            </a:r>
            <a:r>
              <a:rPr lang="en-US" dirty="0">
                <a:solidFill>
                  <a:srgbClr val="0000FF"/>
                </a:solidFill>
              </a:rPr>
              <a:t>atoms</a:t>
            </a:r>
            <a:r>
              <a:rPr lang="en-US" dirty="0"/>
              <a:t> in a 63.55-g sample of copper</a:t>
            </a:r>
          </a:p>
          <a:p>
            <a:pPr indent="3175">
              <a:buFontTx/>
              <a:buNone/>
            </a:pPr>
            <a:endParaRPr lang="en-US" dirty="0"/>
          </a:p>
          <a:p>
            <a:pPr indent="3175">
              <a:buFontTx/>
              <a:buNone/>
            </a:pPr>
            <a:r>
              <a:rPr lang="en-US" dirty="0"/>
              <a:t>			 </a:t>
            </a:r>
            <a:r>
              <a:rPr lang="en-US" dirty="0">
                <a:solidFill>
                  <a:srgbClr val="009900"/>
                </a:solidFill>
                <a:cs typeface="Arial" charset="0"/>
              </a:rPr>
              <a:t>6.022×10</a:t>
            </a:r>
            <a:r>
              <a:rPr lang="en-US" baseline="30000" dirty="0">
                <a:solidFill>
                  <a:srgbClr val="009900"/>
                </a:solidFill>
                <a:cs typeface="Arial" charset="0"/>
              </a:rPr>
              <a:t>23</a:t>
            </a:r>
            <a:r>
              <a:rPr lang="en-US" dirty="0">
                <a:solidFill>
                  <a:srgbClr val="009900"/>
                </a:solidFill>
                <a:cs typeface="Arial" charset="0"/>
              </a:rPr>
              <a:t> Cu atoms</a:t>
            </a:r>
            <a:endParaRPr lang="en-US" dirty="0"/>
          </a:p>
        </p:txBody>
      </p:sp>
      <p:sp>
        <p:nvSpPr>
          <p:cNvPr id="6" name="Slide Number Placeholder 4"/>
          <p:cNvSpPr>
            <a:spLocks noGrp="1"/>
          </p:cNvSpPr>
          <p:nvPr>
            <p:ph type="sldNum" sz="quarter" idx="11"/>
          </p:nvPr>
        </p:nvSpPr>
        <p:spPr/>
        <p:txBody>
          <a:bodyPr/>
          <a:lstStyle/>
          <a:p>
            <a:fld id="{3C5BF727-7F74-344F-81A8-241DDBF20173}" type="slidenum">
              <a:rPr lang="en-US"/>
              <a:pPr/>
              <a:t>13</a:t>
            </a:fld>
            <a:endParaRPr lang="en-US"/>
          </a:p>
        </p:txBody>
      </p:sp>
    </p:spTree>
    <p:extLst>
      <p:ext uri="{BB962C8B-B14F-4D97-AF65-F5344CB8AC3E}">
        <p14:creationId xmlns:p14="http://schemas.microsoft.com/office/powerpoint/2010/main" val="3138003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a:xfrm>
            <a:off x="1371600" y="1143000"/>
            <a:ext cx="7315200" cy="533400"/>
          </a:xfrm>
        </p:spPr>
        <p:txBody>
          <a:bodyPr/>
          <a:lstStyle/>
          <a:p>
            <a:r>
              <a:rPr lang="en-US" dirty="0"/>
              <a:t>Concept Check, 2</a:t>
            </a:r>
          </a:p>
        </p:txBody>
      </p:sp>
      <p:sp>
        <p:nvSpPr>
          <p:cNvPr id="349187" name="Rectangle 3"/>
          <p:cNvSpPr>
            <a:spLocks noGrp="1" noChangeArrowheads="1"/>
          </p:cNvSpPr>
          <p:nvPr>
            <p:ph type="body" sz="half" idx="1"/>
          </p:nvPr>
        </p:nvSpPr>
        <p:spPr>
          <a:xfrm>
            <a:off x="457200" y="2057400"/>
            <a:ext cx="7772400" cy="4087813"/>
          </a:xfrm>
        </p:spPr>
        <p:txBody>
          <a:bodyPr/>
          <a:lstStyle/>
          <a:p>
            <a:pPr indent="-53975">
              <a:buFontTx/>
              <a:buNone/>
            </a:pPr>
            <a:r>
              <a:rPr lang="en-US" sz="2800" dirty="0"/>
              <a:t>	</a:t>
            </a:r>
            <a:r>
              <a:rPr lang="en-US" dirty="0"/>
              <a:t>Which of the following is closest to the average mass of </a:t>
            </a:r>
            <a:r>
              <a:rPr lang="en-US" dirty="0">
                <a:solidFill>
                  <a:srgbClr val="0000FF"/>
                </a:solidFill>
              </a:rPr>
              <a:t>one atom </a:t>
            </a:r>
            <a:r>
              <a:rPr lang="en-US" dirty="0"/>
              <a:t>of copper?</a:t>
            </a:r>
          </a:p>
          <a:p>
            <a:pPr indent="-53975">
              <a:buFontTx/>
              <a:buNone/>
            </a:pPr>
            <a:endParaRPr lang="en-US" dirty="0"/>
          </a:p>
          <a:p>
            <a:pPr indent="-53975">
              <a:buFontTx/>
              <a:buNone/>
            </a:pPr>
            <a:r>
              <a:rPr lang="en-US" dirty="0"/>
              <a:t>a)  63.55 g	 	 	</a:t>
            </a:r>
          </a:p>
          <a:p>
            <a:pPr indent="-53975">
              <a:buFontTx/>
              <a:buNone/>
            </a:pPr>
            <a:r>
              <a:rPr lang="en-US" dirty="0"/>
              <a:t>b)  52.00 g</a:t>
            </a:r>
          </a:p>
          <a:p>
            <a:pPr indent="-53975">
              <a:buFontTx/>
              <a:buNone/>
            </a:pPr>
            <a:r>
              <a:rPr lang="en-US" dirty="0"/>
              <a:t>c)  58.93 g</a:t>
            </a:r>
          </a:p>
          <a:p>
            <a:pPr indent="-53975">
              <a:buFontTx/>
              <a:buNone/>
            </a:pPr>
            <a:r>
              <a:rPr lang="en-US" dirty="0"/>
              <a:t>d)  65.38 g       </a:t>
            </a:r>
          </a:p>
          <a:p>
            <a:pPr indent="-53975">
              <a:buFontTx/>
              <a:buNone/>
            </a:pPr>
            <a:r>
              <a:rPr lang="en-US" dirty="0"/>
              <a:t>e)  1.055 x 10</a:t>
            </a:r>
            <a:r>
              <a:rPr lang="en-US" baseline="30000" dirty="0"/>
              <a:t>-22</a:t>
            </a:r>
            <a:r>
              <a:rPr lang="en-US" dirty="0"/>
              <a:t> g</a:t>
            </a:r>
          </a:p>
          <a:p>
            <a:pPr indent="-53975">
              <a:buFontTx/>
              <a:buNone/>
            </a:pPr>
            <a:endParaRPr lang="en-US" dirty="0"/>
          </a:p>
        </p:txBody>
      </p:sp>
      <p:sp>
        <p:nvSpPr>
          <p:cNvPr id="349189" name="Rectangle 5" descr="green box"/>
          <p:cNvSpPr>
            <a:spLocks noChangeArrowheads="1"/>
          </p:cNvSpPr>
          <p:nvPr/>
        </p:nvSpPr>
        <p:spPr bwMode="auto">
          <a:xfrm>
            <a:off x="624840" y="5145324"/>
            <a:ext cx="2743200" cy="533400"/>
          </a:xfrm>
          <a:prstGeom prst="rect">
            <a:avLst/>
          </a:prstGeom>
          <a:noFill/>
          <a:ln w="38100">
            <a:solidFill>
              <a:srgbClr val="008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2" name="Object 1" descr="1 C u atom multiplied by 1 mol C u divided by 6.022 multiplied by 10 superscript 23 C u atoms multiplied by 63.55 g C u divided by 1 mol C u equals 1.055 multiplied by 10 superscript minus 22 g C u."/>
          <p:cNvGraphicFramePr>
            <a:graphicFrameLocks noChangeAspect="1"/>
          </p:cNvGraphicFramePr>
          <p:nvPr>
            <p:extLst>
              <p:ext uri="{D42A27DB-BD31-4B8C-83A1-F6EECF244321}">
                <p14:modId xmlns:p14="http://schemas.microsoft.com/office/powerpoint/2010/main" val="880366207"/>
              </p:ext>
            </p:extLst>
          </p:nvPr>
        </p:nvGraphicFramePr>
        <p:xfrm>
          <a:off x="3231931" y="5926582"/>
          <a:ext cx="5454869" cy="415481"/>
        </p:xfrm>
        <a:graphic>
          <a:graphicData uri="http://schemas.openxmlformats.org/presentationml/2006/ole">
            <mc:AlternateContent xmlns:mc="http://schemas.openxmlformats.org/markup-compatibility/2006">
              <mc:Choice xmlns:v="urn:schemas-microsoft-com:vml" Requires="v">
                <p:oleObj spid="_x0000_s5188" name="Equation" r:id="rId4" imgW="5168880" imgH="393480" progId="Equation.DSMT4">
                  <p:embed/>
                </p:oleObj>
              </mc:Choice>
              <mc:Fallback>
                <p:oleObj name="Equation" r:id="rId4" imgW="5168880" imgH="393480" progId="Equation.DSMT4">
                  <p:embed/>
                  <p:pic>
                    <p:nvPicPr>
                      <p:cNvPr id="0" name=""/>
                      <p:cNvPicPr/>
                      <p:nvPr/>
                    </p:nvPicPr>
                    <p:blipFill>
                      <a:blip r:embed="rId5"/>
                      <a:stretch>
                        <a:fillRect/>
                      </a:stretch>
                    </p:blipFill>
                    <p:spPr>
                      <a:xfrm>
                        <a:off x="3231931" y="5926582"/>
                        <a:ext cx="5454869" cy="415481"/>
                      </a:xfrm>
                      <a:prstGeom prst="rect">
                        <a:avLst/>
                      </a:prstGeom>
                    </p:spPr>
                  </p:pic>
                </p:oleObj>
              </mc:Fallback>
            </mc:AlternateContent>
          </a:graphicData>
        </a:graphic>
      </p:graphicFrame>
      <p:sp>
        <p:nvSpPr>
          <p:cNvPr id="8" name="Slide Number Placeholder 5"/>
          <p:cNvSpPr>
            <a:spLocks noGrp="1"/>
          </p:cNvSpPr>
          <p:nvPr>
            <p:ph type="sldNum" sz="quarter" idx="11"/>
          </p:nvPr>
        </p:nvSpPr>
        <p:spPr/>
        <p:txBody>
          <a:bodyPr/>
          <a:lstStyle/>
          <a:p>
            <a:fld id="{5B8A73F6-897D-214F-A912-094A8E2A2CA6}" type="slidenum">
              <a:rPr lang="en-US"/>
              <a:pPr/>
              <a:t>14</a:t>
            </a:fld>
            <a:endParaRPr lang="en-US"/>
          </a:p>
        </p:txBody>
      </p:sp>
    </p:spTree>
    <p:extLst>
      <p:ext uri="{BB962C8B-B14F-4D97-AF65-F5344CB8AC3E}">
        <p14:creationId xmlns:p14="http://schemas.microsoft.com/office/powerpoint/2010/main" val="10173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9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9"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1371600" y="1143000"/>
            <a:ext cx="7315200" cy="533400"/>
          </a:xfrm>
        </p:spPr>
        <p:txBody>
          <a:bodyPr/>
          <a:lstStyle/>
          <a:p>
            <a:r>
              <a:rPr lang="en-US" dirty="0"/>
              <a:t>Concept Check, 3</a:t>
            </a:r>
          </a:p>
        </p:txBody>
      </p:sp>
      <p:sp>
        <p:nvSpPr>
          <p:cNvPr id="148483" name="Rectangle 3"/>
          <p:cNvSpPr>
            <a:spLocks noGrp="1" noChangeArrowheads="1"/>
          </p:cNvSpPr>
          <p:nvPr>
            <p:ph type="body" sz="half" idx="1"/>
          </p:nvPr>
        </p:nvSpPr>
        <p:spPr>
          <a:xfrm>
            <a:off x="457200" y="1981200"/>
            <a:ext cx="8153400" cy="3120854"/>
          </a:xfrm>
        </p:spPr>
        <p:txBody>
          <a:bodyPr/>
          <a:lstStyle/>
          <a:p>
            <a:pPr indent="3175">
              <a:buFontTx/>
              <a:buNone/>
            </a:pPr>
            <a:r>
              <a:rPr lang="en-US" dirty="0"/>
              <a:t>Calculate the number of iron </a:t>
            </a:r>
            <a:r>
              <a:rPr lang="en-US" dirty="0">
                <a:solidFill>
                  <a:srgbClr val="0000FF"/>
                </a:solidFill>
              </a:rPr>
              <a:t>atoms</a:t>
            </a:r>
            <a:r>
              <a:rPr lang="en-US" dirty="0"/>
              <a:t> in a 4.48-mole sample of iron</a:t>
            </a:r>
          </a:p>
          <a:p>
            <a:pPr indent="3175">
              <a:buFontTx/>
              <a:buNone/>
            </a:pPr>
            <a:endParaRPr lang="en-US" dirty="0"/>
          </a:p>
          <a:p>
            <a:pPr indent="3175">
              <a:buFontTx/>
              <a:buNone/>
            </a:pPr>
            <a:r>
              <a:rPr lang="en-US" dirty="0"/>
              <a:t>			 </a:t>
            </a:r>
          </a:p>
          <a:p>
            <a:pPr indent="3175">
              <a:buFontTx/>
              <a:buNone/>
            </a:pPr>
            <a:endParaRPr lang="en-US" dirty="0"/>
          </a:p>
          <a:p>
            <a:pPr indent="3175">
              <a:buFontTx/>
              <a:buNone/>
            </a:pPr>
            <a:r>
              <a:rPr lang="en-US" dirty="0"/>
              <a:t>			</a:t>
            </a:r>
          </a:p>
          <a:p>
            <a:pPr indent="3175">
              <a:buFontTx/>
              <a:buNone/>
            </a:pPr>
            <a:r>
              <a:rPr lang="en-US" dirty="0"/>
              <a:t>			</a:t>
            </a:r>
            <a:endParaRPr lang="en-US" dirty="0">
              <a:solidFill>
                <a:srgbClr val="009900"/>
              </a:solidFill>
              <a:cs typeface="Arial" charset="0"/>
            </a:endParaRPr>
          </a:p>
        </p:txBody>
      </p:sp>
      <p:sp>
        <p:nvSpPr>
          <p:cNvPr id="7" name="Slide Number Placeholder 5"/>
          <p:cNvSpPr>
            <a:spLocks noGrp="1"/>
          </p:cNvSpPr>
          <p:nvPr>
            <p:ph type="sldNum" sz="quarter" idx="11"/>
          </p:nvPr>
        </p:nvSpPr>
        <p:spPr/>
        <p:txBody>
          <a:bodyPr/>
          <a:lstStyle/>
          <a:p>
            <a:fld id="{C6F66B3A-3930-6547-9F76-CDCF7EA889BD}" type="slidenum">
              <a:rPr lang="en-US"/>
              <a:pPr/>
              <a:t>15</a:t>
            </a:fld>
            <a:endParaRPr lang="en-US"/>
          </a:p>
        </p:txBody>
      </p:sp>
    </p:spTree>
    <p:extLst>
      <p:ext uri="{BB962C8B-B14F-4D97-AF65-F5344CB8AC3E}">
        <p14:creationId xmlns:p14="http://schemas.microsoft.com/office/powerpoint/2010/main" val="361827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1524000" y="1143000"/>
            <a:ext cx="7162800" cy="533400"/>
          </a:xfrm>
        </p:spPr>
        <p:txBody>
          <a:bodyPr/>
          <a:lstStyle/>
          <a:p>
            <a:r>
              <a:rPr lang="en-US" dirty="0"/>
              <a:t>Concept Check, 4</a:t>
            </a:r>
          </a:p>
        </p:txBody>
      </p:sp>
      <p:sp>
        <p:nvSpPr>
          <p:cNvPr id="357379" name="Rectangle 3"/>
          <p:cNvSpPr>
            <a:spLocks noGrp="1" noChangeArrowheads="1"/>
          </p:cNvSpPr>
          <p:nvPr>
            <p:ph idx="1"/>
          </p:nvPr>
        </p:nvSpPr>
        <p:spPr>
          <a:xfrm>
            <a:off x="228600" y="2133600"/>
            <a:ext cx="8229600" cy="3120854"/>
          </a:xfrm>
        </p:spPr>
        <p:txBody>
          <a:bodyPr/>
          <a:lstStyle/>
          <a:p>
            <a:pPr indent="3175">
              <a:buFontTx/>
              <a:buNone/>
            </a:pPr>
            <a:r>
              <a:rPr lang="en-US" dirty="0"/>
              <a:t>A sample of 26.98 grams of Al has the same number of atoms as _______ grams of Au</a:t>
            </a:r>
          </a:p>
          <a:p>
            <a:pPr indent="3175">
              <a:buFontTx/>
              <a:buNone/>
            </a:pPr>
            <a:endParaRPr lang="en-US" sz="2800" dirty="0"/>
          </a:p>
          <a:p>
            <a:pPr marL="746125" lvl="1">
              <a:buFontTx/>
              <a:buNone/>
            </a:pPr>
            <a:r>
              <a:rPr lang="en-US" sz="2400" dirty="0"/>
              <a:t>a)		26.98 g</a:t>
            </a:r>
          </a:p>
          <a:p>
            <a:pPr marL="746125" lvl="1">
              <a:buFontTx/>
              <a:buNone/>
            </a:pPr>
            <a:r>
              <a:rPr lang="en-US" sz="2400" dirty="0"/>
              <a:t>b)		13.49 g</a:t>
            </a:r>
          </a:p>
          <a:p>
            <a:pPr marL="746125" lvl="1">
              <a:buFontTx/>
              <a:buNone/>
            </a:pPr>
            <a:r>
              <a:rPr lang="en-US" sz="2400" dirty="0"/>
              <a:t>c)		197.0 g</a:t>
            </a:r>
          </a:p>
          <a:p>
            <a:pPr marL="746125" lvl="1">
              <a:buFontTx/>
              <a:buNone/>
            </a:pPr>
            <a:r>
              <a:rPr lang="en-US" sz="2400" dirty="0"/>
              <a:t>d)		256.5 g</a:t>
            </a:r>
          </a:p>
        </p:txBody>
      </p:sp>
      <p:sp>
        <p:nvSpPr>
          <p:cNvPr id="7" name="Slide Number Placeholder 4"/>
          <p:cNvSpPr>
            <a:spLocks noGrp="1"/>
          </p:cNvSpPr>
          <p:nvPr>
            <p:ph type="sldNum" sz="quarter" idx="11"/>
          </p:nvPr>
        </p:nvSpPr>
        <p:spPr/>
        <p:txBody>
          <a:bodyPr/>
          <a:lstStyle/>
          <a:p>
            <a:fld id="{19C158AF-9219-5F4E-ADE1-F3BF825D0CC9}" type="slidenum">
              <a:rPr lang="en-US"/>
              <a:pPr/>
              <a:t>16</a:t>
            </a:fld>
            <a:endParaRPr lang="en-US"/>
          </a:p>
        </p:txBody>
      </p:sp>
    </p:spTree>
    <p:extLst>
      <p:ext uri="{BB962C8B-B14F-4D97-AF65-F5344CB8AC3E}">
        <p14:creationId xmlns:p14="http://schemas.microsoft.com/office/powerpoint/2010/main" val="2812046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1524000" y="1143000"/>
            <a:ext cx="7391400" cy="533400"/>
          </a:xfrm>
        </p:spPr>
        <p:txBody>
          <a:bodyPr/>
          <a:lstStyle/>
          <a:p>
            <a:r>
              <a:rPr lang="en-US" dirty="0"/>
              <a:t>Concept Check, 5</a:t>
            </a:r>
          </a:p>
        </p:txBody>
      </p:sp>
      <p:sp>
        <p:nvSpPr>
          <p:cNvPr id="353283" name="Rectangle 3"/>
          <p:cNvSpPr>
            <a:spLocks noGrp="1" noChangeArrowheads="1"/>
          </p:cNvSpPr>
          <p:nvPr>
            <p:ph idx="1"/>
          </p:nvPr>
        </p:nvSpPr>
        <p:spPr>
          <a:xfrm>
            <a:off x="228600" y="2133600"/>
            <a:ext cx="8229600" cy="3211513"/>
          </a:xfrm>
        </p:spPr>
        <p:txBody>
          <a:bodyPr/>
          <a:lstStyle/>
          <a:p>
            <a:pPr marL="746125" indent="-4763">
              <a:buFontTx/>
              <a:buNone/>
            </a:pPr>
            <a:r>
              <a:rPr lang="en-US" dirty="0"/>
              <a:t>	Which of the following 100.0-g samples contains the </a:t>
            </a:r>
            <a:r>
              <a:rPr lang="en-US" dirty="0">
                <a:solidFill>
                  <a:srgbClr val="0000FF"/>
                </a:solidFill>
              </a:rPr>
              <a:t>greatest</a:t>
            </a:r>
            <a:r>
              <a:rPr lang="en-US" dirty="0"/>
              <a:t> number of atoms?</a:t>
            </a:r>
          </a:p>
          <a:p>
            <a:pPr marL="746125" indent="-4763">
              <a:buFontTx/>
              <a:buNone/>
            </a:pPr>
            <a:endParaRPr lang="en-US" dirty="0"/>
          </a:p>
          <a:p>
            <a:pPr marL="746125" indent="-4763">
              <a:buFontTx/>
              <a:buAutoNum type="alphaLcParenR"/>
            </a:pPr>
            <a:r>
              <a:rPr lang="en-US" dirty="0"/>
              <a:t>  Magnesium</a:t>
            </a:r>
          </a:p>
          <a:p>
            <a:pPr marL="746125" indent="-4763">
              <a:buFontTx/>
              <a:buAutoNum type="alphaLcParenR"/>
            </a:pPr>
            <a:r>
              <a:rPr lang="en-US" dirty="0"/>
              <a:t>  Zinc</a:t>
            </a:r>
          </a:p>
          <a:p>
            <a:pPr marL="746125" indent="-4763">
              <a:buFontTx/>
              <a:buAutoNum type="alphaLcParenR"/>
            </a:pPr>
            <a:r>
              <a:rPr lang="en-US" dirty="0"/>
              <a:t>  Silver</a:t>
            </a:r>
          </a:p>
          <a:p>
            <a:pPr marL="746125" indent="-4763">
              <a:buFontTx/>
              <a:buNone/>
            </a:pPr>
            <a:endParaRPr lang="en-US" sz="2800" dirty="0"/>
          </a:p>
        </p:txBody>
      </p:sp>
      <p:sp>
        <p:nvSpPr>
          <p:cNvPr id="353285" name="Rectangle 5" descr="green box"/>
          <p:cNvSpPr>
            <a:spLocks noChangeArrowheads="1"/>
          </p:cNvSpPr>
          <p:nvPr/>
        </p:nvSpPr>
        <p:spPr bwMode="auto">
          <a:xfrm>
            <a:off x="914400" y="3413760"/>
            <a:ext cx="2286000" cy="457200"/>
          </a:xfrm>
          <a:prstGeom prst="rect">
            <a:avLst/>
          </a:prstGeom>
          <a:noFill/>
          <a:ln w="38100">
            <a:solidFill>
              <a:srgbClr val="008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 name="Slide Number Placeholder 4"/>
          <p:cNvSpPr>
            <a:spLocks noGrp="1"/>
          </p:cNvSpPr>
          <p:nvPr>
            <p:ph type="sldNum" sz="quarter" idx="11"/>
          </p:nvPr>
        </p:nvSpPr>
        <p:spPr/>
        <p:txBody>
          <a:bodyPr/>
          <a:lstStyle/>
          <a:p>
            <a:fld id="{9B8A7E2B-6F19-5142-BBA6-B3738AA7A523}" type="slidenum">
              <a:rPr lang="en-US"/>
              <a:pPr/>
              <a:t>17</a:t>
            </a:fld>
            <a:endParaRPr lang="en-US"/>
          </a:p>
        </p:txBody>
      </p:sp>
    </p:spTree>
    <p:extLst>
      <p:ext uri="{BB962C8B-B14F-4D97-AF65-F5344CB8AC3E}">
        <p14:creationId xmlns:p14="http://schemas.microsoft.com/office/powerpoint/2010/main" val="350640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3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1524000" y="1143000"/>
            <a:ext cx="7391400" cy="533400"/>
          </a:xfrm>
        </p:spPr>
        <p:txBody>
          <a:bodyPr/>
          <a:lstStyle/>
          <a:p>
            <a:r>
              <a:rPr lang="en-US" dirty="0"/>
              <a:t>Exercise, 2</a:t>
            </a:r>
          </a:p>
        </p:txBody>
      </p:sp>
      <p:sp>
        <p:nvSpPr>
          <p:cNvPr id="355331" name="Rectangle 3"/>
          <p:cNvSpPr>
            <a:spLocks noGrp="1" noChangeArrowheads="1"/>
          </p:cNvSpPr>
          <p:nvPr>
            <p:ph idx="1"/>
          </p:nvPr>
        </p:nvSpPr>
        <p:spPr>
          <a:xfrm>
            <a:off x="381000" y="2133600"/>
            <a:ext cx="8229600" cy="3490186"/>
          </a:xfrm>
        </p:spPr>
        <p:txBody>
          <a:bodyPr/>
          <a:lstStyle/>
          <a:p>
            <a:pPr marL="854075" indent="-3175">
              <a:buFontTx/>
              <a:buNone/>
            </a:pPr>
            <a:r>
              <a:rPr lang="en-US" dirty="0"/>
              <a:t>	</a:t>
            </a:r>
            <a:r>
              <a:rPr lang="en-US" dirty="0">
                <a:cs typeface="Arial Unicode MS" charset="0"/>
              </a:rPr>
              <a:t>Rank the following according to number of atoms (</a:t>
            </a:r>
            <a:r>
              <a:rPr lang="en-US" dirty="0">
                <a:solidFill>
                  <a:srgbClr val="0000FF"/>
                </a:solidFill>
              </a:rPr>
              <a:t>greatest to least</a:t>
            </a:r>
            <a:r>
              <a:rPr lang="en-US" dirty="0">
                <a:cs typeface="Arial Unicode MS" charset="0"/>
              </a:rPr>
              <a:t>):</a:t>
            </a:r>
          </a:p>
          <a:p>
            <a:pPr marL="854075" indent="-3175">
              <a:buFontTx/>
              <a:buNone/>
            </a:pPr>
            <a:endParaRPr lang="en-US" dirty="0">
              <a:cs typeface="Arial Unicode MS" charset="0"/>
            </a:endParaRPr>
          </a:p>
          <a:p>
            <a:pPr marL="854075" indent="-3175">
              <a:buFontTx/>
              <a:buAutoNum type="alphaLcParenR"/>
            </a:pPr>
            <a:r>
              <a:rPr lang="en-US" dirty="0">
                <a:cs typeface="Arial Unicode MS" charset="0"/>
              </a:rPr>
              <a:t> 107.9 g of silver</a:t>
            </a:r>
          </a:p>
          <a:p>
            <a:pPr marL="854075" indent="-3175">
              <a:buFontTx/>
              <a:buAutoNum type="alphaLcParenR"/>
            </a:pPr>
            <a:r>
              <a:rPr lang="en-US" dirty="0">
                <a:cs typeface="Arial Unicode MS" charset="0"/>
              </a:rPr>
              <a:t> 70.0 g of zinc</a:t>
            </a:r>
          </a:p>
          <a:p>
            <a:pPr marL="854075" indent="-3175">
              <a:buFontTx/>
              <a:buAutoNum type="alphaLcParenR"/>
            </a:pPr>
            <a:r>
              <a:rPr lang="en-US" dirty="0">
                <a:cs typeface="Arial Unicode MS" charset="0"/>
              </a:rPr>
              <a:t> 21.0 g of magnesium</a:t>
            </a:r>
            <a:r>
              <a:rPr lang="en-US" dirty="0"/>
              <a:t> </a:t>
            </a:r>
          </a:p>
          <a:p>
            <a:pPr marL="854075" indent="-3175">
              <a:buFontTx/>
              <a:buAutoNum type="alphaLcParenR"/>
            </a:pPr>
            <a:endParaRPr lang="en-US" dirty="0"/>
          </a:p>
          <a:p>
            <a:pPr marL="854075" indent="-3175">
              <a:buFontTx/>
              <a:buNone/>
            </a:pPr>
            <a:r>
              <a:rPr lang="en-US" dirty="0"/>
              <a:t>			</a:t>
            </a:r>
            <a:r>
              <a:rPr lang="en-US" dirty="0">
                <a:solidFill>
                  <a:srgbClr val="009900"/>
                </a:solidFill>
              </a:rPr>
              <a:t>b)          a)          c)</a:t>
            </a:r>
          </a:p>
        </p:txBody>
      </p:sp>
      <p:sp>
        <p:nvSpPr>
          <p:cNvPr id="6" name="Slide Number Placeholder 4"/>
          <p:cNvSpPr>
            <a:spLocks noGrp="1"/>
          </p:cNvSpPr>
          <p:nvPr>
            <p:ph type="sldNum" sz="quarter" idx="11"/>
          </p:nvPr>
        </p:nvSpPr>
        <p:spPr/>
        <p:txBody>
          <a:bodyPr/>
          <a:lstStyle/>
          <a:p>
            <a:fld id="{B04F6844-F46B-ED4A-A1CA-757D519B045B}" type="slidenum">
              <a:rPr lang="en-US"/>
              <a:pPr/>
              <a:t>18</a:t>
            </a:fld>
            <a:endParaRPr lang="en-US"/>
          </a:p>
        </p:txBody>
      </p:sp>
    </p:spTree>
    <p:extLst>
      <p:ext uri="{BB962C8B-B14F-4D97-AF65-F5344CB8AC3E}">
        <p14:creationId xmlns:p14="http://schemas.microsoft.com/office/powerpoint/2010/main" val="2247531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1059" name="Rectangle 3"/>
          <p:cNvSpPr>
            <a:spLocks noGrp="1" noChangeArrowheads="1"/>
          </p:cNvSpPr>
          <p:nvPr>
            <p:ph type="title"/>
          </p:nvPr>
        </p:nvSpPr>
        <p:spPr/>
        <p:txBody>
          <a:bodyPr/>
          <a:lstStyle/>
          <a:p>
            <a:r>
              <a:rPr lang="en-US" dirty="0"/>
              <a:t>Conceptual Problem Solving</a:t>
            </a:r>
          </a:p>
        </p:txBody>
      </p:sp>
      <p:sp>
        <p:nvSpPr>
          <p:cNvPr id="301058" name="Rectangle 2"/>
          <p:cNvSpPr>
            <a:spLocks noGrp="1" noChangeArrowheads="1"/>
          </p:cNvSpPr>
          <p:nvPr>
            <p:ph idx="1"/>
          </p:nvPr>
        </p:nvSpPr>
        <p:spPr>
          <a:xfrm>
            <a:off x="457200" y="1752600"/>
            <a:ext cx="8229600" cy="2862322"/>
          </a:xfrm>
        </p:spPr>
        <p:txBody>
          <a:bodyPr/>
          <a:lstStyle/>
          <a:p>
            <a:r>
              <a:rPr lang="en-US" dirty="0"/>
              <a:t>Principles to be followed</a:t>
            </a:r>
          </a:p>
          <a:p>
            <a:pPr lvl="1"/>
            <a:r>
              <a:rPr lang="en-US" dirty="0"/>
              <a:t>Where are we going?</a:t>
            </a:r>
          </a:p>
          <a:p>
            <a:pPr lvl="2"/>
            <a:r>
              <a:rPr lang="en-US" dirty="0"/>
              <a:t>Read the problem and decide on the final goal</a:t>
            </a:r>
          </a:p>
          <a:p>
            <a:pPr lvl="1"/>
            <a:r>
              <a:rPr lang="en-US" dirty="0"/>
              <a:t>How do we get there?</a:t>
            </a:r>
          </a:p>
          <a:p>
            <a:pPr lvl="2"/>
            <a:r>
              <a:rPr lang="en-US" dirty="0"/>
              <a:t>Work backward from the final goal to decide where to start</a:t>
            </a:r>
          </a:p>
          <a:p>
            <a:pPr lvl="1"/>
            <a:r>
              <a:rPr lang="en-US" dirty="0"/>
              <a:t>Reality check</a:t>
            </a:r>
          </a:p>
          <a:p>
            <a:pPr lvl="2"/>
            <a:r>
              <a:rPr lang="en-US" dirty="0"/>
              <a:t>Does my answer make sense? Is it reasonable?</a:t>
            </a:r>
          </a:p>
        </p:txBody>
      </p:sp>
      <p:sp>
        <p:nvSpPr>
          <p:cNvPr id="5" name="Slide Number Placeholder 4"/>
          <p:cNvSpPr>
            <a:spLocks noGrp="1"/>
          </p:cNvSpPr>
          <p:nvPr>
            <p:ph type="sldNum" sz="quarter" idx="11"/>
          </p:nvPr>
        </p:nvSpPr>
        <p:spPr/>
        <p:txBody>
          <a:bodyPr/>
          <a:lstStyle/>
          <a:p>
            <a:fld id="{1F463DDD-C0B6-CE4E-93BA-D9C40718D251}" type="slidenum">
              <a:rPr lang="en-US" smtClean="0"/>
              <a:pPr/>
              <a:t>19</a:t>
            </a:fld>
            <a:endParaRPr lang="en-US"/>
          </a:p>
        </p:txBody>
      </p:sp>
    </p:spTree>
    <p:extLst>
      <p:ext uri="{BB962C8B-B14F-4D97-AF65-F5344CB8AC3E}">
        <p14:creationId xmlns:p14="http://schemas.microsoft.com/office/powerpoint/2010/main" val="593497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Calculating Molar Mass</a:t>
            </a:r>
          </a:p>
        </p:txBody>
      </p:sp>
      <p:sp>
        <p:nvSpPr>
          <p:cNvPr id="315394" name="Rectangle 2"/>
          <p:cNvSpPr>
            <a:spLocks noGrp="1" noChangeArrowheads="1"/>
          </p:cNvSpPr>
          <p:nvPr>
            <p:ph idx="1"/>
          </p:nvPr>
        </p:nvSpPr>
        <p:spPr>
          <a:xfrm>
            <a:off x="457200" y="1752600"/>
            <a:ext cx="8229600" cy="3120854"/>
          </a:xfrm>
        </p:spPr>
        <p:txBody>
          <a:bodyPr/>
          <a:lstStyle/>
          <a:p>
            <a:r>
              <a:rPr lang="en-US" dirty="0"/>
              <a:t>Mass in grams of one mole of the substance</a:t>
            </a:r>
          </a:p>
          <a:p>
            <a:pPr>
              <a:buNone/>
            </a:pPr>
            <a:r>
              <a:rPr lang="en-US" dirty="0"/>
              <a:t>		Molar mass of N = 14.01 g/mol</a:t>
            </a:r>
          </a:p>
          <a:p>
            <a:pPr>
              <a:buNone/>
            </a:pPr>
            <a:endParaRPr lang="en-US" dirty="0"/>
          </a:p>
          <a:p>
            <a:pPr>
              <a:buNone/>
            </a:pPr>
            <a:r>
              <a:rPr lang="en-US" dirty="0"/>
              <a:t>		Molar mass of H</a:t>
            </a:r>
            <a:r>
              <a:rPr lang="en-US" baseline="-25000" dirty="0"/>
              <a:t>2</a:t>
            </a:r>
            <a:r>
              <a:rPr lang="en-US" dirty="0"/>
              <a:t>O = 18.02 g/mol</a:t>
            </a:r>
          </a:p>
          <a:p>
            <a:pPr>
              <a:buNone/>
            </a:pPr>
            <a:r>
              <a:rPr lang="en-US" dirty="0"/>
              <a:t>			</a:t>
            </a:r>
          </a:p>
          <a:p>
            <a:pPr>
              <a:buNone/>
            </a:pPr>
            <a:r>
              <a:rPr lang="en-US" dirty="0"/>
              <a:t>		Molar mass of </a:t>
            </a:r>
            <a:r>
              <a:rPr lang="en-US" dirty="0" err="1"/>
              <a:t>Ba</a:t>
            </a:r>
            <a:r>
              <a:rPr lang="en-US" dirty="0"/>
              <a:t>(NO</a:t>
            </a:r>
            <a:r>
              <a:rPr lang="en-US" baseline="-25000" dirty="0"/>
              <a:t>3</a:t>
            </a:r>
            <a:r>
              <a:rPr lang="en-US" dirty="0"/>
              <a:t>)</a:t>
            </a:r>
            <a:r>
              <a:rPr lang="en-US" baseline="-25000" dirty="0"/>
              <a:t>2</a:t>
            </a:r>
            <a:r>
              <a:rPr lang="en-US" dirty="0"/>
              <a:t> = 261.35 g/mol</a:t>
            </a:r>
          </a:p>
          <a:p>
            <a:pPr>
              <a:buNone/>
            </a:pPr>
            <a:r>
              <a:rPr lang="en-US" dirty="0"/>
              <a:t>			</a:t>
            </a:r>
            <a:endParaRPr lang="en-US" sz="2200" dirty="0">
              <a:solidFill>
                <a:srgbClr val="0000FF"/>
              </a:solidFill>
            </a:endParaRPr>
          </a:p>
        </p:txBody>
      </p:sp>
      <p:sp>
        <p:nvSpPr>
          <p:cNvPr id="4" name="Slide Number Placeholder 4"/>
          <p:cNvSpPr>
            <a:spLocks noGrp="1"/>
          </p:cNvSpPr>
          <p:nvPr>
            <p:ph type="sldNum" sz="quarter" idx="11"/>
          </p:nvPr>
        </p:nvSpPr>
        <p:spPr/>
        <p:txBody>
          <a:bodyPr/>
          <a:lstStyle/>
          <a:p>
            <a:fld id="{A3F611C7-46CC-F04C-876C-583068E4285F}" type="slidenum">
              <a:rPr lang="en-US" smtClean="0"/>
              <a:pPr/>
              <a:t>20</a:t>
            </a:fld>
            <a:endParaRPr lang="en-US"/>
          </a:p>
        </p:txBody>
      </p:sp>
    </p:spTree>
    <p:extLst>
      <p:ext uri="{BB962C8B-B14F-4D97-AF65-F5344CB8AC3E}">
        <p14:creationId xmlns:p14="http://schemas.microsoft.com/office/powerpoint/2010/main" val="3244057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43" name="Rectangle 3"/>
          <p:cNvSpPr>
            <a:spLocks noGrp="1" noChangeArrowheads="1"/>
          </p:cNvSpPr>
          <p:nvPr>
            <p:ph type="title"/>
          </p:nvPr>
        </p:nvSpPr>
        <p:spPr/>
        <p:txBody>
          <a:bodyPr/>
          <a:lstStyle/>
          <a:p>
            <a:r>
              <a:rPr lang="en-US"/>
              <a:t>Calculations Using Molar Mass</a:t>
            </a:r>
          </a:p>
        </p:txBody>
      </p:sp>
      <p:sp>
        <p:nvSpPr>
          <p:cNvPr id="317442" name="Rectangle 2"/>
          <p:cNvSpPr>
            <a:spLocks noGrp="1" noChangeArrowheads="1"/>
          </p:cNvSpPr>
          <p:nvPr>
            <p:ph type="body" sz="half" idx="1"/>
          </p:nvPr>
        </p:nvSpPr>
        <p:spPr>
          <a:xfrm>
            <a:off x="457200" y="1752600"/>
            <a:ext cx="8229600" cy="2985433"/>
          </a:xfrm>
        </p:spPr>
        <p:txBody>
          <a:bodyPr/>
          <a:lstStyle/>
          <a:p>
            <a:pPr marL="533400" indent="-533400" eaLnBrk="0" hangingPunct="0">
              <a:spcBef>
                <a:spcPct val="0"/>
              </a:spcBef>
            </a:pPr>
            <a:endParaRPr lang="en-US" dirty="0">
              <a:cs typeface="Times New Roman" charset="0"/>
            </a:endParaRPr>
          </a:p>
          <a:p>
            <a:pPr marL="533400" indent="-533400" eaLnBrk="0" hangingPunct="0">
              <a:spcBef>
                <a:spcPct val="0"/>
              </a:spcBef>
            </a:pPr>
            <a:r>
              <a:rPr lang="en-US" dirty="0">
                <a:cs typeface="Times New Roman" charset="0"/>
              </a:rPr>
              <a:t>Moles of a compound =</a:t>
            </a:r>
          </a:p>
          <a:p>
            <a:pPr marL="533400" indent="-533400" eaLnBrk="0" hangingPunct="0">
              <a:spcBef>
                <a:spcPct val="0"/>
              </a:spcBef>
            </a:pPr>
            <a:endParaRPr lang="en-US" dirty="0">
              <a:cs typeface="Times New Roman" charset="0"/>
            </a:endParaRPr>
          </a:p>
          <a:p>
            <a:pPr marL="533400" indent="-533400" eaLnBrk="0" hangingPunct="0">
              <a:spcBef>
                <a:spcPct val="0"/>
              </a:spcBef>
            </a:pPr>
            <a:endParaRPr lang="en-US" sz="2000" dirty="0">
              <a:cs typeface="Times New Roman" charset="0"/>
            </a:endParaRPr>
          </a:p>
          <a:p>
            <a:pPr marL="533400" indent="-533400" eaLnBrk="0" hangingPunct="0">
              <a:spcBef>
                <a:spcPct val="0"/>
              </a:spcBef>
            </a:pPr>
            <a:endParaRPr lang="en-US" dirty="0"/>
          </a:p>
          <a:p>
            <a:pPr marL="533400" indent="-533400" eaLnBrk="0" hangingPunct="0">
              <a:spcBef>
                <a:spcPct val="0"/>
              </a:spcBef>
            </a:pPr>
            <a:endParaRPr lang="en-US" dirty="0"/>
          </a:p>
          <a:p>
            <a:pPr marL="533400" indent="-533400" eaLnBrk="0" hangingPunct="0">
              <a:spcBef>
                <a:spcPct val="0"/>
              </a:spcBef>
            </a:pPr>
            <a:r>
              <a:rPr lang="en-US" dirty="0"/>
              <a:t>Mass of a sample (g) = (moles of the sample)(molar mass of the compound)</a:t>
            </a:r>
          </a:p>
        </p:txBody>
      </p:sp>
      <p:graphicFrame>
        <p:nvGraphicFramePr>
          <p:cNvPr id="317444" name="Object 4" descr="Mass of the sample open parenthesis g close parenthesis divided by molar mass of the compound open parenthesis g divided by mol close parenthesis."/>
          <p:cNvGraphicFramePr>
            <a:graphicFrameLocks noGrp="1" noChangeAspect="1"/>
          </p:cNvGraphicFramePr>
          <p:nvPr>
            <p:ph sz="half" idx="2"/>
            <p:extLst>
              <p:ext uri="{D42A27DB-BD31-4B8C-83A1-F6EECF244321}">
                <p14:modId xmlns:p14="http://schemas.microsoft.com/office/powerpoint/2010/main" val="3542640384"/>
              </p:ext>
            </p:extLst>
          </p:nvPr>
        </p:nvGraphicFramePr>
        <p:xfrm>
          <a:off x="4495800" y="2133600"/>
          <a:ext cx="2971800" cy="673100"/>
        </p:xfrm>
        <a:graphic>
          <a:graphicData uri="http://schemas.openxmlformats.org/presentationml/2006/ole">
            <mc:AlternateContent xmlns:mc="http://schemas.openxmlformats.org/markup-compatibility/2006">
              <mc:Choice xmlns:v="urn:schemas-microsoft-com:vml" Requires="v">
                <p:oleObj spid="_x0000_s7372" name="Equation" r:id="rId4" imgW="4863960" imgH="1096920" progId="Equation.DSMT4">
                  <p:embed/>
                </p:oleObj>
              </mc:Choice>
              <mc:Fallback>
                <p:oleObj name="Equation" r:id="rId4" imgW="4863960" imgH="1096920" progId="Equation.DSMT4">
                  <p:embed/>
                  <p:pic>
                    <p:nvPicPr>
                      <p:cNvPr id="0" name="Picture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2133600"/>
                        <a:ext cx="2971800" cy="6731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808080">
                                  <a:alpha val="74997"/>
                                </a:srgbClr>
                              </a:outerShdw>
                            </a:effectLst>
                          </a14:hiddenEffects>
                        </a:ext>
                      </a:extLst>
                    </p:spPr>
                  </p:pic>
                </p:oleObj>
              </mc:Fallback>
            </mc:AlternateContent>
          </a:graphicData>
        </a:graphic>
      </p:graphicFrame>
      <p:graphicFrame>
        <p:nvGraphicFramePr>
          <p:cNvPr id="317446" name="Object 6" descr="Mol equals g multiplied by mol divided by g. G is scored out in both instances in the equation."/>
          <p:cNvGraphicFramePr>
            <a:graphicFrameLocks noChangeAspect="1"/>
          </p:cNvGraphicFramePr>
          <p:nvPr>
            <p:extLst>
              <p:ext uri="{D42A27DB-BD31-4B8C-83A1-F6EECF244321}">
                <p14:modId xmlns:p14="http://schemas.microsoft.com/office/powerpoint/2010/main" val="3342784658"/>
              </p:ext>
            </p:extLst>
          </p:nvPr>
        </p:nvGraphicFramePr>
        <p:xfrm>
          <a:off x="3027028" y="2991644"/>
          <a:ext cx="2198688" cy="874712"/>
        </p:xfrm>
        <a:graphic>
          <a:graphicData uri="http://schemas.openxmlformats.org/presentationml/2006/ole">
            <mc:AlternateContent xmlns:mc="http://schemas.openxmlformats.org/markup-compatibility/2006">
              <mc:Choice xmlns:v="urn:schemas-microsoft-com:vml" Requires="v">
                <p:oleObj spid="_x0000_s7373" name="Equation" r:id="rId6" imgW="2184120" imgH="863280" progId="Equation.DSMT4">
                  <p:embed/>
                </p:oleObj>
              </mc:Choice>
              <mc:Fallback>
                <p:oleObj name="Equation" r:id="rId6" imgW="2184120" imgH="863280" progId="Equation.DSMT4">
                  <p:embed/>
                  <p:pic>
                    <p:nvPicPr>
                      <p:cNvPr id="0" name="Picture 10"/>
                      <p:cNvPicPr>
                        <a:picLocks noChangeAspect="1" noChangeArrowheads="1"/>
                      </p:cNvPicPr>
                      <p:nvPr/>
                    </p:nvPicPr>
                    <p:blipFill>
                      <a:blip r:embed="rId7"/>
                      <a:srcRect/>
                      <a:stretch>
                        <a:fillRect/>
                      </a:stretch>
                    </p:blipFill>
                    <p:spPr bwMode="auto">
                      <a:xfrm>
                        <a:off x="3027028" y="2991644"/>
                        <a:ext cx="2198688" cy="87471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graphicFrame>
        <p:nvGraphicFramePr>
          <p:cNvPr id="13" name="Object 6" descr="G equals mol multiplied by g divided by mol. Mol is scored out in both instances in the equation."/>
          <p:cNvGraphicFramePr>
            <a:graphicFrameLocks noChangeAspect="1"/>
          </p:cNvGraphicFramePr>
          <p:nvPr>
            <p:extLst>
              <p:ext uri="{D42A27DB-BD31-4B8C-83A1-F6EECF244321}">
                <p14:modId xmlns:p14="http://schemas.microsoft.com/office/powerpoint/2010/main" val="2434862730"/>
              </p:ext>
            </p:extLst>
          </p:nvPr>
        </p:nvGraphicFramePr>
        <p:xfrm>
          <a:off x="3667125" y="4816558"/>
          <a:ext cx="2314575" cy="811213"/>
        </p:xfrm>
        <a:graphic>
          <a:graphicData uri="http://schemas.openxmlformats.org/presentationml/2006/ole">
            <mc:AlternateContent xmlns:mc="http://schemas.openxmlformats.org/markup-compatibility/2006">
              <mc:Choice xmlns:v="urn:schemas-microsoft-com:vml" Requires="v">
                <p:oleObj spid="_x0000_s7374" name="Equation" r:id="rId8" imgW="2298600" imgH="799920" progId="Equation.DSMT4">
                  <p:embed/>
                </p:oleObj>
              </mc:Choice>
              <mc:Fallback>
                <p:oleObj name="Equation" r:id="rId8" imgW="2298600" imgH="799920" progId="Equation.DSMT4">
                  <p:embed/>
                  <p:pic>
                    <p:nvPicPr>
                      <p:cNvPr id="0" name=""/>
                      <p:cNvPicPr>
                        <a:picLocks noChangeAspect="1" noChangeArrowheads="1"/>
                      </p:cNvPicPr>
                      <p:nvPr/>
                    </p:nvPicPr>
                    <p:blipFill>
                      <a:blip r:embed="rId9"/>
                      <a:srcRect/>
                      <a:stretch>
                        <a:fillRect/>
                      </a:stretch>
                    </p:blipFill>
                    <p:spPr bwMode="auto">
                      <a:xfrm>
                        <a:off x="3667125" y="4816558"/>
                        <a:ext cx="2314575" cy="81121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8099" dir="2700000" algn="ctr" rotWithShape="0">
                                <a:srgbClr val="000000">
                                  <a:alpha val="74997"/>
                                </a:srgbClr>
                              </a:outerShdw>
                            </a:effectLst>
                          </a14:hiddenEffects>
                        </a:ext>
                      </a:extLst>
                    </p:spPr>
                  </p:pic>
                </p:oleObj>
              </mc:Fallback>
            </mc:AlternateContent>
          </a:graphicData>
        </a:graphic>
      </p:graphicFrame>
      <p:sp>
        <p:nvSpPr>
          <p:cNvPr id="12" name="Slide Number Placeholder 5"/>
          <p:cNvSpPr>
            <a:spLocks noGrp="1"/>
          </p:cNvSpPr>
          <p:nvPr>
            <p:ph type="sldNum" sz="quarter" idx="11"/>
          </p:nvPr>
        </p:nvSpPr>
        <p:spPr/>
        <p:txBody>
          <a:bodyPr/>
          <a:lstStyle/>
          <a:p>
            <a:fld id="{4820B601-ED5B-E340-BF17-48E41BDA0525}" type="slidenum">
              <a:rPr lang="en-US"/>
              <a:pPr/>
              <a:t>21</a:t>
            </a:fld>
            <a:endParaRPr lang="en-US"/>
          </a:p>
        </p:txBody>
      </p:sp>
    </p:spTree>
    <p:extLst>
      <p:ext uri="{BB962C8B-B14F-4D97-AF65-F5344CB8AC3E}">
        <p14:creationId xmlns:p14="http://schemas.microsoft.com/office/powerpoint/2010/main" val="2782790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a:xfrm>
            <a:off x="1447800" y="1143000"/>
            <a:ext cx="7239000" cy="533400"/>
          </a:xfrm>
        </p:spPr>
        <p:txBody>
          <a:bodyPr/>
          <a:lstStyle/>
          <a:p>
            <a:r>
              <a:rPr lang="en-US" dirty="0"/>
              <a:t>Exercise, 3</a:t>
            </a:r>
            <a:endParaRPr lang="en-US" dirty="0">
              <a:solidFill>
                <a:srgbClr val="FF0000"/>
              </a:solidFill>
            </a:endParaRPr>
          </a:p>
        </p:txBody>
      </p:sp>
      <p:sp>
        <p:nvSpPr>
          <p:cNvPr id="347139" name="Rectangle 3"/>
          <p:cNvSpPr>
            <a:spLocks noGrp="1" noChangeArrowheads="1"/>
          </p:cNvSpPr>
          <p:nvPr>
            <p:ph sz="half" idx="1"/>
          </p:nvPr>
        </p:nvSpPr>
        <p:spPr>
          <a:xfrm>
            <a:off x="457200" y="2133600"/>
            <a:ext cx="8153400" cy="2677656"/>
          </a:xfrm>
        </p:spPr>
        <p:txBody>
          <a:bodyPr/>
          <a:lstStyle/>
          <a:p>
            <a:pPr marL="746125" indent="-349250">
              <a:buFontTx/>
              <a:buNone/>
              <a:tabLst>
                <a:tab pos="1200150" algn="l"/>
              </a:tabLst>
            </a:pPr>
            <a:r>
              <a:rPr lang="en-US" sz="2400" dirty="0"/>
              <a:t>	What is the </a:t>
            </a:r>
            <a:r>
              <a:rPr lang="en-US" sz="2400" dirty="0">
                <a:solidFill>
                  <a:srgbClr val="0000FF"/>
                </a:solidFill>
              </a:rPr>
              <a:t>molar mass</a:t>
            </a:r>
            <a:r>
              <a:rPr lang="en-US" sz="2400" dirty="0"/>
              <a:t> of nickel(II) carbonate?</a:t>
            </a:r>
          </a:p>
          <a:p>
            <a:pPr marL="746125" indent="-349250">
              <a:buFontTx/>
              <a:buNone/>
              <a:tabLst>
                <a:tab pos="1200150" algn="l"/>
              </a:tabLst>
            </a:pPr>
            <a:endParaRPr lang="en-US" sz="2400" dirty="0"/>
          </a:p>
          <a:p>
            <a:pPr marL="746125" indent="-349250">
              <a:buFontTx/>
              <a:buNone/>
              <a:tabLst>
                <a:tab pos="1200150" algn="l"/>
              </a:tabLst>
            </a:pPr>
            <a:r>
              <a:rPr lang="en-US" sz="2400" dirty="0"/>
              <a:t>	a)	118.7 g/mol</a:t>
            </a:r>
          </a:p>
          <a:p>
            <a:pPr marL="746125" indent="-349250">
              <a:buFontTx/>
              <a:buNone/>
              <a:tabLst>
                <a:tab pos="1200150" algn="l"/>
              </a:tabLst>
            </a:pPr>
            <a:r>
              <a:rPr lang="en-US" sz="2400" dirty="0"/>
              <a:t>	b)	134.7 g/mol </a:t>
            </a:r>
          </a:p>
          <a:p>
            <a:pPr marL="746125" indent="-349250">
              <a:buFontTx/>
              <a:buNone/>
              <a:tabLst>
                <a:tab pos="1200150" algn="l"/>
              </a:tabLst>
            </a:pPr>
            <a:r>
              <a:rPr lang="es-ES_tradnl" sz="2400" dirty="0"/>
              <a:t>	c)	178.71 g/mol</a:t>
            </a:r>
          </a:p>
          <a:p>
            <a:pPr marL="746125" indent="-349250">
              <a:buFontTx/>
              <a:buNone/>
              <a:tabLst>
                <a:tab pos="1200150" algn="l"/>
              </a:tabLst>
            </a:pPr>
            <a:r>
              <a:rPr lang="es-ES_tradnl" sz="2400" dirty="0"/>
              <a:t>	d)	296.09 g/mol</a:t>
            </a:r>
            <a:endParaRPr lang="en-US" sz="2400" dirty="0"/>
          </a:p>
        </p:txBody>
      </p:sp>
      <p:sp>
        <p:nvSpPr>
          <p:cNvPr id="347143" name="Rectangle 7"/>
          <p:cNvSpPr>
            <a:spLocks noGrp="1" noChangeArrowheads="1"/>
          </p:cNvSpPr>
          <p:nvPr>
            <p:ph sz="half" idx="2"/>
          </p:nvPr>
        </p:nvSpPr>
        <p:spPr>
          <a:xfrm>
            <a:off x="4648200" y="3505200"/>
            <a:ext cx="4038600" cy="400110"/>
          </a:xfrm>
        </p:spPr>
        <p:txBody>
          <a:bodyPr/>
          <a:lstStyle/>
          <a:p>
            <a:pPr>
              <a:buFontTx/>
              <a:buNone/>
            </a:pPr>
            <a:r>
              <a:rPr lang="en-US" sz="2000" dirty="0">
                <a:solidFill>
                  <a:srgbClr val="009900"/>
                </a:solidFill>
                <a:cs typeface="Arial" charset="0"/>
              </a:rPr>
              <a:t>	</a:t>
            </a:r>
            <a:endParaRPr lang="en-US" sz="2400" dirty="0">
              <a:solidFill>
                <a:srgbClr val="009900"/>
              </a:solidFill>
              <a:cs typeface="Arial" charset="0"/>
            </a:endParaRPr>
          </a:p>
        </p:txBody>
      </p:sp>
      <p:sp>
        <p:nvSpPr>
          <p:cNvPr id="8" name="Slide Number Placeholder 5"/>
          <p:cNvSpPr>
            <a:spLocks noGrp="1"/>
          </p:cNvSpPr>
          <p:nvPr>
            <p:ph type="sldNum" sz="quarter" idx="11"/>
          </p:nvPr>
        </p:nvSpPr>
        <p:spPr/>
        <p:txBody>
          <a:bodyPr/>
          <a:lstStyle/>
          <a:p>
            <a:fld id="{CE00001C-BA5F-FF41-B4F8-FF3379CE3657}" type="slidenum">
              <a:rPr lang="en-US"/>
              <a:pPr/>
              <a:t>22</a:t>
            </a:fld>
            <a:endParaRPr lang="en-US"/>
          </a:p>
        </p:txBody>
      </p:sp>
    </p:spTree>
    <p:extLst>
      <p:ext uri="{BB962C8B-B14F-4D97-AF65-F5344CB8AC3E}">
        <p14:creationId xmlns:p14="http://schemas.microsoft.com/office/powerpoint/2010/main" val="2451390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524000" y="1143000"/>
            <a:ext cx="7239000" cy="533400"/>
          </a:xfrm>
        </p:spPr>
        <p:txBody>
          <a:bodyPr/>
          <a:lstStyle/>
          <a:p>
            <a:r>
              <a:rPr lang="en-US" dirty="0"/>
              <a:t>Exercise, 4</a:t>
            </a:r>
            <a:endParaRPr lang="en-US" dirty="0">
              <a:solidFill>
                <a:srgbClr val="FF0000"/>
              </a:solidFill>
            </a:endParaRPr>
          </a:p>
        </p:txBody>
      </p:sp>
      <p:sp>
        <p:nvSpPr>
          <p:cNvPr id="359427" name="Rectangle 3"/>
          <p:cNvSpPr>
            <a:spLocks noGrp="1" noChangeArrowheads="1"/>
          </p:cNvSpPr>
          <p:nvPr>
            <p:ph idx="1"/>
          </p:nvPr>
        </p:nvSpPr>
        <p:spPr>
          <a:xfrm>
            <a:off x="381000" y="2133600"/>
            <a:ext cx="8153400" cy="3034677"/>
          </a:xfrm>
        </p:spPr>
        <p:txBody>
          <a:bodyPr/>
          <a:lstStyle/>
          <a:p>
            <a:pPr marL="746125" indent="-349250">
              <a:buFontTx/>
              <a:buNone/>
              <a:tabLst>
                <a:tab pos="1200150" algn="l"/>
              </a:tabLst>
            </a:pPr>
            <a:r>
              <a:rPr lang="en-US" sz="2800" dirty="0"/>
              <a:t>	</a:t>
            </a:r>
            <a:r>
              <a:rPr lang="en-US" dirty="0"/>
              <a:t>Consider equal mole samples of N</a:t>
            </a:r>
            <a:r>
              <a:rPr lang="en-US" baseline="-25000" dirty="0"/>
              <a:t>2</a:t>
            </a:r>
            <a:r>
              <a:rPr lang="en-US" dirty="0"/>
              <a:t>O, Al(NO</a:t>
            </a:r>
            <a:r>
              <a:rPr lang="en-US" baseline="-25000" dirty="0"/>
              <a:t>3</a:t>
            </a:r>
            <a:r>
              <a:rPr lang="en-US" dirty="0"/>
              <a:t>)</a:t>
            </a:r>
            <a:r>
              <a:rPr lang="en-US" baseline="-25000" dirty="0"/>
              <a:t>3</a:t>
            </a:r>
            <a:r>
              <a:rPr lang="en-US" dirty="0"/>
              <a:t>, and KCN. Rank these from </a:t>
            </a:r>
            <a:r>
              <a:rPr lang="en-US" dirty="0">
                <a:solidFill>
                  <a:srgbClr val="0000FF"/>
                </a:solidFill>
              </a:rPr>
              <a:t>least to most</a:t>
            </a:r>
            <a:r>
              <a:rPr lang="en-US" dirty="0"/>
              <a:t> number of nitrogen atoms in each sample.</a:t>
            </a:r>
          </a:p>
          <a:p>
            <a:pPr marL="746125" indent="-349250">
              <a:buFontTx/>
              <a:buNone/>
              <a:tabLst>
                <a:tab pos="1200150" algn="l"/>
              </a:tabLst>
            </a:pPr>
            <a:r>
              <a:rPr lang="en-US" dirty="0"/>
              <a:t>	a)	KCN, Al(NO</a:t>
            </a:r>
            <a:r>
              <a:rPr lang="en-US" baseline="-25000" dirty="0"/>
              <a:t>3</a:t>
            </a:r>
            <a:r>
              <a:rPr lang="en-US" dirty="0"/>
              <a:t>)</a:t>
            </a:r>
            <a:r>
              <a:rPr lang="en-US" baseline="-25000" dirty="0"/>
              <a:t>3</a:t>
            </a:r>
            <a:r>
              <a:rPr lang="en-US" dirty="0"/>
              <a:t>, N</a:t>
            </a:r>
            <a:r>
              <a:rPr lang="en-US" baseline="-25000" dirty="0"/>
              <a:t>2</a:t>
            </a:r>
            <a:r>
              <a:rPr lang="en-US" dirty="0"/>
              <a:t>O</a:t>
            </a:r>
          </a:p>
          <a:p>
            <a:pPr marL="746125" indent="-349250">
              <a:buFontTx/>
              <a:buNone/>
              <a:tabLst>
                <a:tab pos="1200150" algn="l"/>
              </a:tabLst>
            </a:pPr>
            <a:r>
              <a:rPr lang="en-US" dirty="0"/>
              <a:t>	b)	Al(NO</a:t>
            </a:r>
            <a:r>
              <a:rPr lang="en-US" baseline="-25000" dirty="0"/>
              <a:t>3</a:t>
            </a:r>
            <a:r>
              <a:rPr lang="en-US" dirty="0"/>
              <a:t>)</a:t>
            </a:r>
            <a:r>
              <a:rPr lang="en-US" baseline="-25000" dirty="0"/>
              <a:t>3</a:t>
            </a:r>
            <a:r>
              <a:rPr lang="en-US" dirty="0"/>
              <a:t>, N</a:t>
            </a:r>
            <a:r>
              <a:rPr lang="en-US" baseline="-25000" dirty="0"/>
              <a:t>2</a:t>
            </a:r>
            <a:r>
              <a:rPr lang="en-US" dirty="0"/>
              <a:t>O, KCN</a:t>
            </a:r>
          </a:p>
          <a:p>
            <a:pPr marL="746125" indent="-349250">
              <a:buFontTx/>
              <a:buNone/>
              <a:tabLst>
                <a:tab pos="1200150" algn="l"/>
              </a:tabLst>
            </a:pPr>
            <a:r>
              <a:rPr lang="en-US" dirty="0"/>
              <a:t>	c)	KCN, N</a:t>
            </a:r>
            <a:r>
              <a:rPr lang="en-US" baseline="-25000" dirty="0"/>
              <a:t>2</a:t>
            </a:r>
            <a:r>
              <a:rPr lang="en-US" dirty="0"/>
              <a:t>O, Al(NO</a:t>
            </a:r>
            <a:r>
              <a:rPr lang="en-US" baseline="-25000" dirty="0"/>
              <a:t>3</a:t>
            </a:r>
            <a:r>
              <a:rPr lang="en-US" dirty="0"/>
              <a:t>)</a:t>
            </a:r>
            <a:r>
              <a:rPr lang="en-US" baseline="-25000" dirty="0"/>
              <a:t>3</a:t>
            </a:r>
            <a:endParaRPr lang="es-ES_tradnl" dirty="0"/>
          </a:p>
          <a:p>
            <a:pPr marL="746125" indent="-349250">
              <a:buFontTx/>
              <a:buNone/>
              <a:tabLst>
                <a:tab pos="1200150" algn="l"/>
              </a:tabLst>
            </a:pPr>
            <a:r>
              <a:rPr lang="en-US" dirty="0"/>
              <a:t>	d)	Al(NO</a:t>
            </a:r>
            <a:r>
              <a:rPr lang="en-US" baseline="-25000" dirty="0"/>
              <a:t>3</a:t>
            </a:r>
            <a:r>
              <a:rPr lang="en-US" dirty="0"/>
              <a:t>)</a:t>
            </a:r>
            <a:r>
              <a:rPr lang="en-US" baseline="-25000" dirty="0"/>
              <a:t>3</a:t>
            </a:r>
            <a:r>
              <a:rPr lang="es-ES_tradnl" dirty="0"/>
              <a:t>, </a:t>
            </a:r>
            <a:r>
              <a:rPr lang="en-US" dirty="0"/>
              <a:t>KCN</a:t>
            </a:r>
            <a:r>
              <a:rPr lang="es-ES_tradnl" dirty="0"/>
              <a:t>, </a:t>
            </a:r>
            <a:r>
              <a:rPr lang="en-US" dirty="0"/>
              <a:t>N</a:t>
            </a:r>
            <a:r>
              <a:rPr lang="en-US" baseline="-25000" dirty="0"/>
              <a:t>2</a:t>
            </a:r>
            <a:r>
              <a:rPr lang="en-US" dirty="0"/>
              <a:t>O</a:t>
            </a:r>
          </a:p>
        </p:txBody>
      </p:sp>
      <p:sp>
        <p:nvSpPr>
          <p:cNvPr id="7" name="Slide Number Placeholder 4"/>
          <p:cNvSpPr>
            <a:spLocks noGrp="1"/>
          </p:cNvSpPr>
          <p:nvPr>
            <p:ph type="sldNum" sz="quarter" idx="11"/>
          </p:nvPr>
        </p:nvSpPr>
        <p:spPr/>
        <p:txBody>
          <a:bodyPr/>
          <a:lstStyle/>
          <a:p>
            <a:fld id="{60C8F381-9090-CC40-B32E-4B54D536A434}" type="slidenum">
              <a:rPr lang="en-US"/>
              <a:pPr/>
              <a:t>23</a:t>
            </a:fld>
            <a:endParaRPr lang="en-US"/>
          </a:p>
        </p:txBody>
      </p:sp>
    </p:spTree>
    <p:extLst>
      <p:ext uri="{BB962C8B-B14F-4D97-AF65-F5344CB8AC3E}">
        <p14:creationId xmlns:p14="http://schemas.microsoft.com/office/powerpoint/2010/main" val="1768002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r>
              <a:rPr lang="en-US" dirty="0"/>
              <a:t>	Exercise, 5</a:t>
            </a:r>
          </a:p>
        </p:txBody>
      </p:sp>
      <p:sp>
        <p:nvSpPr>
          <p:cNvPr id="313347" name="Rectangle 3"/>
          <p:cNvSpPr>
            <a:spLocks noGrp="1" noChangeArrowheads="1"/>
          </p:cNvSpPr>
          <p:nvPr>
            <p:ph idx="1"/>
          </p:nvPr>
        </p:nvSpPr>
        <p:spPr>
          <a:xfrm>
            <a:off x="457200" y="1752600"/>
            <a:ext cx="8229600" cy="2160591"/>
          </a:xfrm>
        </p:spPr>
        <p:txBody>
          <a:bodyPr/>
          <a:lstStyle/>
          <a:p>
            <a:endParaRPr lang="en-US" dirty="0"/>
          </a:p>
          <a:p>
            <a:pPr marL="0" indent="0">
              <a:buNone/>
            </a:pPr>
            <a:r>
              <a:rPr lang="en-US" dirty="0"/>
              <a:t>Consider separate 100.0-g samples of each of the following: </a:t>
            </a:r>
          </a:p>
          <a:p>
            <a:pPr lvl="1"/>
            <a:r>
              <a:rPr lang="en-US" sz="2400" dirty="0"/>
              <a:t>H</a:t>
            </a:r>
            <a:r>
              <a:rPr lang="en-US" sz="2400" baseline="-25000" dirty="0"/>
              <a:t>2</a:t>
            </a:r>
            <a:r>
              <a:rPr lang="en-US" sz="2400" dirty="0"/>
              <a:t>O, N</a:t>
            </a:r>
            <a:r>
              <a:rPr lang="en-US" sz="2400" baseline="-25000" dirty="0"/>
              <a:t>2</a:t>
            </a:r>
            <a:r>
              <a:rPr lang="en-US" sz="2400" dirty="0"/>
              <a:t>O, C</a:t>
            </a:r>
            <a:r>
              <a:rPr lang="en-US" sz="2400" baseline="-25000" dirty="0"/>
              <a:t>3</a:t>
            </a:r>
            <a:r>
              <a:rPr lang="en-US" sz="2400" dirty="0"/>
              <a:t>H</a:t>
            </a:r>
            <a:r>
              <a:rPr lang="en-US" sz="2400" baseline="-25000" dirty="0"/>
              <a:t>6</a:t>
            </a:r>
            <a:r>
              <a:rPr lang="en-US" sz="2400" dirty="0"/>
              <a:t>O</a:t>
            </a:r>
            <a:r>
              <a:rPr lang="en-US" sz="2400" baseline="-25000" dirty="0"/>
              <a:t>2</a:t>
            </a:r>
            <a:r>
              <a:rPr lang="en-US" sz="2400" dirty="0"/>
              <a:t>, CO</a:t>
            </a:r>
            <a:r>
              <a:rPr lang="en-US" sz="2400" baseline="-25000" dirty="0"/>
              <a:t>2</a:t>
            </a:r>
            <a:endParaRPr lang="en-US" sz="2400" dirty="0"/>
          </a:p>
          <a:p>
            <a:pPr lvl="1"/>
            <a:r>
              <a:rPr lang="en-US" sz="2400" dirty="0"/>
              <a:t>Rank them from greatest to least number of oxygen</a:t>
            </a:r>
          </a:p>
        </p:txBody>
      </p:sp>
      <p:sp>
        <p:nvSpPr>
          <p:cNvPr id="6" name="Slide Number Placeholder 4"/>
          <p:cNvSpPr>
            <a:spLocks noGrp="1"/>
          </p:cNvSpPr>
          <p:nvPr>
            <p:ph type="sldNum" sz="quarter" idx="11"/>
          </p:nvPr>
        </p:nvSpPr>
        <p:spPr/>
        <p:txBody>
          <a:bodyPr/>
          <a:lstStyle/>
          <a:p>
            <a:fld id="{D6DBCBEA-16FA-774A-952A-80E5F0308F8F}" type="slidenum">
              <a:rPr lang="en-US" smtClean="0"/>
              <a:pPr/>
              <a:t>24</a:t>
            </a:fld>
            <a:endParaRPr lang="en-US"/>
          </a:p>
        </p:txBody>
      </p:sp>
    </p:spTree>
    <p:extLst>
      <p:ext uri="{BB962C8B-B14F-4D97-AF65-F5344CB8AC3E}">
        <p14:creationId xmlns:p14="http://schemas.microsoft.com/office/powerpoint/2010/main" val="326322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1371600" y="1143000"/>
            <a:ext cx="7315200" cy="533400"/>
          </a:xfrm>
        </p:spPr>
        <p:txBody>
          <a:bodyPr/>
          <a:lstStyle/>
          <a:p>
            <a:r>
              <a:rPr lang="en-US" dirty="0"/>
              <a:t>Exercise, 6</a:t>
            </a:r>
            <a:endParaRPr lang="en-US" dirty="0">
              <a:solidFill>
                <a:srgbClr val="FF0000"/>
              </a:solidFill>
            </a:endParaRPr>
          </a:p>
        </p:txBody>
      </p:sp>
      <p:sp>
        <p:nvSpPr>
          <p:cNvPr id="361475" name="Rectangle 3"/>
          <p:cNvSpPr>
            <a:spLocks noGrp="1" noChangeArrowheads="1"/>
          </p:cNvSpPr>
          <p:nvPr>
            <p:ph type="body" sz="half" idx="1"/>
          </p:nvPr>
        </p:nvSpPr>
        <p:spPr>
          <a:xfrm>
            <a:off x="457200" y="2133600"/>
            <a:ext cx="7924800" cy="3211513"/>
          </a:xfrm>
        </p:spPr>
        <p:txBody>
          <a:bodyPr/>
          <a:lstStyle/>
          <a:p>
            <a:pPr marL="746125" indent="-349250">
              <a:buFontTx/>
              <a:buNone/>
              <a:tabLst>
                <a:tab pos="1200150" algn="l"/>
              </a:tabLst>
            </a:pPr>
            <a:r>
              <a:rPr lang="en-US" dirty="0"/>
              <a:t>	How many </a:t>
            </a:r>
            <a:r>
              <a:rPr lang="en-US" dirty="0">
                <a:solidFill>
                  <a:srgbClr val="0000FF"/>
                </a:solidFill>
              </a:rPr>
              <a:t>grams</a:t>
            </a:r>
            <a:r>
              <a:rPr lang="en-US" dirty="0"/>
              <a:t> of fluorine are present in one molecule of boron </a:t>
            </a:r>
            <a:r>
              <a:rPr lang="en-US" dirty="0" err="1"/>
              <a:t>trifluoride</a:t>
            </a:r>
            <a:r>
              <a:rPr lang="en-US" dirty="0"/>
              <a:t>?</a:t>
            </a:r>
          </a:p>
          <a:p>
            <a:pPr marL="746125" indent="-349250">
              <a:buFontTx/>
              <a:buNone/>
              <a:tabLst>
                <a:tab pos="1200150" algn="l"/>
              </a:tabLst>
            </a:pPr>
            <a:endParaRPr lang="en-US" sz="2800" dirty="0"/>
          </a:p>
          <a:p>
            <a:pPr marL="746125" indent="-349250">
              <a:buFontTx/>
              <a:buNone/>
              <a:tabLst>
                <a:tab pos="1200150" algn="l"/>
              </a:tabLst>
            </a:pPr>
            <a:r>
              <a:rPr lang="en-US" dirty="0"/>
              <a:t>	a)	3.155 × 10</a:t>
            </a:r>
            <a:r>
              <a:rPr lang="en-US" baseline="30000" dirty="0"/>
              <a:t>–23</a:t>
            </a:r>
            <a:r>
              <a:rPr lang="en-US" dirty="0"/>
              <a:t> g</a:t>
            </a:r>
            <a:endParaRPr lang="en-US" u="sng" dirty="0"/>
          </a:p>
          <a:p>
            <a:pPr marL="746125" indent="-349250">
              <a:buFontTx/>
              <a:buNone/>
              <a:tabLst>
                <a:tab pos="1200150" algn="l"/>
              </a:tabLst>
            </a:pPr>
            <a:r>
              <a:rPr lang="en-US" dirty="0"/>
              <a:t>	b)	9.465 × 10</a:t>
            </a:r>
            <a:r>
              <a:rPr lang="en-US" baseline="30000" dirty="0"/>
              <a:t>–23</a:t>
            </a:r>
            <a:r>
              <a:rPr lang="en-US" dirty="0"/>
              <a:t> g</a:t>
            </a:r>
          </a:p>
          <a:p>
            <a:pPr marL="746125" indent="-349250">
              <a:buFontTx/>
              <a:buNone/>
              <a:tabLst>
                <a:tab pos="1200150" algn="l"/>
              </a:tabLst>
            </a:pPr>
            <a:r>
              <a:rPr lang="en-US" dirty="0"/>
              <a:t>	c)	6.022 × 10</a:t>
            </a:r>
            <a:r>
              <a:rPr lang="en-US" baseline="30000" dirty="0"/>
              <a:t>23</a:t>
            </a:r>
            <a:r>
              <a:rPr lang="en-US" dirty="0"/>
              <a:t> g</a:t>
            </a:r>
          </a:p>
          <a:p>
            <a:pPr marL="746125" indent="-349250">
              <a:buFontTx/>
              <a:buNone/>
              <a:tabLst>
                <a:tab pos="1200150" algn="l"/>
              </a:tabLst>
            </a:pPr>
            <a:r>
              <a:rPr lang="en-US" dirty="0"/>
              <a:t>	d)	3.433 × 10</a:t>
            </a:r>
            <a:r>
              <a:rPr lang="en-US" baseline="30000" dirty="0"/>
              <a:t>25</a:t>
            </a:r>
            <a:r>
              <a:rPr lang="en-US" dirty="0"/>
              <a:t> g</a:t>
            </a:r>
          </a:p>
        </p:txBody>
      </p:sp>
      <p:sp>
        <p:nvSpPr>
          <p:cNvPr id="8" name="Slide Number Placeholder 5"/>
          <p:cNvSpPr>
            <a:spLocks noGrp="1"/>
          </p:cNvSpPr>
          <p:nvPr>
            <p:ph type="sldNum" sz="quarter" idx="11"/>
          </p:nvPr>
        </p:nvSpPr>
        <p:spPr/>
        <p:txBody>
          <a:bodyPr/>
          <a:lstStyle/>
          <a:p>
            <a:fld id="{B7457F76-170E-4741-A0F2-A5F463F74137}" type="slidenum">
              <a:rPr lang="en-US"/>
              <a:pPr/>
              <a:t>25</a:t>
            </a:fld>
            <a:endParaRPr lang="en-US"/>
          </a:p>
        </p:txBody>
      </p:sp>
    </p:spTree>
    <p:extLst>
      <p:ext uri="{BB962C8B-B14F-4D97-AF65-F5344CB8AC3E}">
        <p14:creationId xmlns:p14="http://schemas.microsoft.com/office/powerpoint/2010/main" val="653565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Mass Percent of an Element in a Compound</a:t>
            </a:r>
          </a:p>
        </p:txBody>
      </p:sp>
      <p:graphicFrame>
        <p:nvGraphicFramePr>
          <p:cNvPr id="2" name="Object 1" descr="Mass fraction for a given element equals mass of the element present in 1 mole of compound divided by mass of 1 mole of compound."/>
          <p:cNvGraphicFramePr>
            <a:graphicFrameLocks noChangeAspect="1"/>
          </p:cNvGraphicFramePr>
          <p:nvPr>
            <p:extLst>
              <p:ext uri="{D42A27DB-BD31-4B8C-83A1-F6EECF244321}">
                <p14:modId xmlns:p14="http://schemas.microsoft.com/office/powerpoint/2010/main" val="296440724"/>
              </p:ext>
            </p:extLst>
          </p:nvPr>
        </p:nvGraphicFramePr>
        <p:xfrm>
          <a:off x="457200" y="1974885"/>
          <a:ext cx="8393796" cy="579488"/>
        </p:xfrm>
        <a:graphic>
          <a:graphicData uri="http://schemas.openxmlformats.org/presentationml/2006/ole">
            <mc:AlternateContent xmlns:mc="http://schemas.openxmlformats.org/markup-compatibility/2006">
              <mc:Choice xmlns:v="urn:schemas-microsoft-com:vml" Requires="v">
                <p:oleObj spid="_x0000_s204964" name="Equation" r:id="rId4" imgW="6070320" imgH="419040" progId="Equation.DSMT4">
                  <p:embed/>
                </p:oleObj>
              </mc:Choice>
              <mc:Fallback>
                <p:oleObj name="Equation" r:id="rId4" imgW="6070320" imgH="419040" progId="Equation.DSMT4">
                  <p:embed/>
                  <p:pic>
                    <p:nvPicPr>
                      <p:cNvPr id="0" name=""/>
                      <p:cNvPicPr/>
                      <p:nvPr/>
                    </p:nvPicPr>
                    <p:blipFill>
                      <a:blip r:embed="rId5"/>
                      <a:stretch>
                        <a:fillRect/>
                      </a:stretch>
                    </p:blipFill>
                    <p:spPr>
                      <a:xfrm>
                        <a:off x="457200" y="1974885"/>
                        <a:ext cx="8393796" cy="579488"/>
                      </a:xfrm>
                      <a:prstGeom prst="rect">
                        <a:avLst/>
                      </a:prstGeom>
                    </p:spPr>
                  </p:pic>
                </p:oleObj>
              </mc:Fallback>
            </mc:AlternateContent>
          </a:graphicData>
        </a:graphic>
      </p:graphicFrame>
      <p:sp>
        <p:nvSpPr>
          <p:cNvPr id="164866" name="Rectangle 2"/>
          <p:cNvSpPr>
            <a:spLocks noGrp="1" noChangeArrowheads="1"/>
          </p:cNvSpPr>
          <p:nvPr>
            <p:ph idx="1"/>
          </p:nvPr>
        </p:nvSpPr>
        <p:spPr>
          <a:xfrm>
            <a:off x="457200" y="1752600"/>
            <a:ext cx="8229600" cy="2936188"/>
          </a:xfrm>
        </p:spPr>
        <p:txBody>
          <a:bodyPr/>
          <a:lstStyle/>
          <a:p>
            <a:pPr>
              <a:buNone/>
            </a:pPr>
            <a:endParaRPr lang="en-US" dirty="0"/>
          </a:p>
          <a:p>
            <a:endParaRPr lang="en-US" dirty="0"/>
          </a:p>
          <a:p>
            <a:r>
              <a:rPr lang="en-US" dirty="0"/>
              <a:t>Each molecule of ethanol, for instance, contains two carbon atoms, six hydrogen atoms, and one oxygen atom</a:t>
            </a:r>
          </a:p>
          <a:p>
            <a:pPr lvl="1"/>
            <a:r>
              <a:rPr lang="en-US" dirty="0"/>
              <a:t>For carbon content in C</a:t>
            </a:r>
            <a:r>
              <a:rPr lang="en-US" baseline="-25000" dirty="0"/>
              <a:t>2</a:t>
            </a:r>
            <a:r>
              <a:rPr lang="en-US" dirty="0"/>
              <a:t>H</a:t>
            </a:r>
            <a:r>
              <a:rPr lang="en-US" baseline="-25000" dirty="0"/>
              <a:t>5</a:t>
            </a:r>
            <a:r>
              <a:rPr lang="en-US" dirty="0"/>
              <a:t>OH</a:t>
            </a:r>
          </a:p>
          <a:p>
            <a:endParaRPr lang="en-US" dirty="0"/>
          </a:p>
        </p:txBody>
      </p:sp>
      <p:graphicFrame>
        <p:nvGraphicFramePr>
          <p:cNvPr id="7" name="Object 6" descr="Mass of C equals 2 mol multiplied by 12.01 g divided by mol equals 24.02 g. mol is scored out in both the instances. Mass of H equals 6 mol multiplied by 1.008 g divided by mol equals 6.048 g. mol is scored out in both the instances. Mass of O equals 1 mol multiplied by 16.00 g divided by mol equals 16.00 g. mol is scored out in both the instances. "/>
          <p:cNvGraphicFramePr>
            <a:graphicFrameLocks noChangeAspect="1"/>
          </p:cNvGraphicFramePr>
          <p:nvPr>
            <p:extLst>
              <p:ext uri="{D42A27DB-BD31-4B8C-83A1-F6EECF244321}">
                <p14:modId xmlns:p14="http://schemas.microsoft.com/office/powerpoint/2010/main" val="2827859070"/>
              </p:ext>
            </p:extLst>
          </p:nvPr>
        </p:nvGraphicFramePr>
        <p:xfrm>
          <a:off x="2192338" y="4019550"/>
          <a:ext cx="4878387" cy="2114550"/>
        </p:xfrm>
        <a:graphic>
          <a:graphicData uri="http://schemas.openxmlformats.org/presentationml/2006/ole">
            <mc:AlternateContent xmlns:mc="http://schemas.openxmlformats.org/markup-compatibility/2006">
              <mc:Choice xmlns:v="urn:schemas-microsoft-com:vml" Requires="v">
                <p:oleObj spid="_x0000_s204965" name="Equation" r:id="rId6" imgW="3047760" imgH="1320480" progId="Equation.DSMT4">
                  <p:embed/>
                </p:oleObj>
              </mc:Choice>
              <mc:Fallback>
                <p:oleObj name="Equation" r:id="rId6" imgW="3047760" imgH="1320480" progId="Equation.DSMT4">
                  <p:embed/>
                  <p:pic>
                    <p:nvPicPr>
                      <p:cNvPr id="0" name=""/>
                      <p:cNvPicPr/>
                      <p:nvPr/>
                    </p:nvPicPr>
                    <p:blipFill>
                      <a:blip r:embed="rId7"/>
                      <a:stretch>
                        <a:fillRect/>
                      </a:stretch>
                    </p:blipFill>
                    <p:spPr>
                      <a:xfrm>
                        <a:off x="2192338" y="4019550"/>
                        <a:ext cx="4878387" cy="2114550"/>
                      </a:xfrm>
                      <a:prstGeom prst="rect">
                        <a:avLst/>
                      </a:prstGeom>
                    </p:spPr>
                  </p:pic>
                </p:oleObj>
              </mc:Fallback>
            </mc:AlternateContent>
          </a:graphicData>
        </a:graphic>
      </p:graphicFrame>
      <p:cxnSp>
        <p:nvCxnSpPr>
          <p:cNvPr id="10" name="Straight Connector 9" descr="null"/>
          <p:cNvCxnSpPr/>
          <p:nvPr/>
        </p:nvCxnSpPr>
        <p:spPr bwMode="auto">
          <a:xfrm>
            <a:off x="5951621" y="5971596"/>
            <a:ext cx="102669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aphicFrame>
        <p:nvGraphicFramePr>
          <p:cNvPr id="11" name="Object 10" descr="Mass of 1 mol C subscript 2 H subscript 5 O H equals 46.07 g equals molar mass."/>
          <p:cNvGraphicFramePr>
            <a:graphicFrameLocks noChangeAspect="1"/>
          </p:cNvGraphicFramePr>
          <p:nvPr>
            <p:extLst>
              <p:ext uri="{D42A27DB-BD31-4B8C-83A1-F6EECF244321}">
                <p14:modId xmlns:p14="http://schemas.microsoft.com/office/powerpoint/2010/main" val="1417725991"/>
              </p:ext>
            </p:extLst>
          </p:nvPr>
        </p:nvGraphicFramePr>
        <p:xfrm>
          <a:off x="3891881" y="6146836"/>
          <a:ext cx="4353761" cy="307325"/>
        </p:xfrm>
        <a:graphic>
          <a:graphicData uri="http://schemas.openxmlformats.org/presentationml/2006/ole">
            <mc:AlternateContent xmlns:mc="http://schemas.openxmlformats.org/markup-compatibility/2006">
              <mc:Choice xmlns:v="urn:schemas-microsoft-com:vml" Requires="v">
                <p:oleObj spid="_x0000_s204966" name="Equation" r:id="rId8" imgW="3238200" imgH="228600" progId="Equation.DSMT4">
                  <p:embed/>
                </p:oleObj>
              </mc:Choice>
              <mc:Fallback>
                <p:oleObj name="Equation" r:id="rId8" imgW="3238200" imgH="228600" progId="Equation.DSMT4">
                  <p:embed/>
                  <p:pic>
                    <p:nvPicPr>
                      <p:cNvPr id="0" name=""/>
                      <p:cNvPicPr/>
                      <p:nvPr/>
                    </p:nvPicPr>
                    <p:blipFill>
                      <a:blip r:embed="rId9"/>
                      <a:stretch>
                        <a:fillRect/>
                      </a:stretch>
                    </p:blipFill>
                    <p:spPr>
                      <a:xfrm>
                        <a:off x="3891881" y="6146836"/>
                        <a:ext cx="4353761" cy="307325"/>
                      </a:xfrm>
                      <a:prstGeom prst="rect">
                        <a:avLst/>
                      </a:prstGeom>
                    </p:spPr>
                  </p:pic>
                </p:oleObj>
              </mc:Fallback>
            </mc:AlternateContent>
          </a:graphicData>
        </a:graphic>
      </p:graphicFrame>
      <p:sp>
        <p:nvSpPr>
          <p:cNvPr id="9" name="Slide Number Placeholder 4"/>
          <p:cNvSpPr>
            <a:spLocks noGrp="1"/>
          </p:cNvSpPr>
          <p:nvPr>
            <p:ph type="sldNum" sz="quarter" idx="11"/>
          </p:nvPr>
        </p:nvSpPr>
        <p:spPr/>
        <p:txBody>
          <a:bodyPr/>
          <a:lstStyle/>
          <a:p>
            <a:fld id="{BE80A28B-66DF-8D41-82AA-C8008FF745D2}" type="slidenum">
              <a:rPr lang="en-US" smtClean="0"/>
              <a:pPr/>
              <a:t>26</a:t>
            </a:fld>
            <a:endParaRPr lang="en-US"/>
          </a:p>
        </p:txBody>
      </p:sp>
    </p:spTree>
    <p:extLst>
      <p:ext uri="{BB962C8B-B14F-4D97-AF65-F5344CB8AC3E}">
        <p14:creationId xmlns:p14="http://schemas.microsoft.com/office/powerpoint/2010/main" val="2670973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1371600" y="1143000"/>
            <a:ext cx="7315200" cy="533400"/>
          </a:xfrm>
        </p:spPr>
        <p:txBody>
          <a:bodyPr/>
          <a:lstStyle/>
          <a:p>
            <a:r>
              <a:rPr lang="en-US" dirty="0"/>
              <a:t>Exercise, 7</a:t>
            </a:r>
          </a:p>
        </p:txBody>
      </p:sp>
      <p:sp>
        <p:nvSpPr>
          <p:cNvPr id="166915" name="Rectangle 3"/>
          <p:cNvSpPr>
            <a:spLocks noGrp="1" noChangeArrowheads="1"/>
          </p:cNvSpPr>
          <p:nvPr>
            <p:ph type="body" sz="half" idx="1"/>
          </p:nvPr>
        </p:nvSpPr>
        <p:spPr>
          <a:xfrm>
            <a:off x="457200" y="2057400"/>
            <a:ext cx="8001000" cy="3342453"/>
          </a:xfrm>
        </p:spPr>
        <p:txBody>
          <a:bodyPr/>
          <a:lstStyle/>
          <a:p>
            <a:pPr marL="854075" indent="-3175">
              <a:buFontTx/>
              <a:buNone/>
            </a:pPr>
            <a:r>
              <a:rPr lang="en-US" dirty="0"/>
              <a:t>	Morphine, derived from opium plants, has the potential for use and abuse. Its formula is C</a:t>
            </a:r>
            <a:r>
              <a:rPr lang="en-US" baseline="-25000" dirty="0"/>
              <a:t>17</a:t>
            </a:r>
            <a:r>
              <a:rPr lang="en-US" dirty="0"/>
              <a:t>H</a:t>
            </a:r>
            <a:r>
              <a:rPr lang="en-US" baseline="-25000" dirty="0"/>
              <a:t>19</a:t>
            </a:r>
            <a:r>
              <a:rPr lang="en-US" dirty="0"/>
              <a:t>NO</a:t>
            </a:r>
            <a:r>
              <a:rPr lang="en-US" baseline="-25000" dirty="0"/>
              <a:t>3</a:t>
            </a:r>
            <a:r>
              <a:rPr lang="en-US" dirty="0"/>
              <a:t>. Determine the </a:t>
            </a:r>
            <a:r>
              <a:rPr lang="en-US" dirty="0">
                <a:solidFill>
                  <a:srgbClr val="0000FF"/>
                </a:solidFill>
              </a:rPr>
              <a:t>percent by mass </a:t>
            </a:r>
            <a:r>
              <a:rPr lang="en-US" dirty="0"/>
              <a:t>for </a:t>
            </a:r>
            <a:r>
              <a:rPr lang="en-US" dirty="0">
                <a:solidFill>
                  <a:srgbClr val="0000FF"/>
                </a:solidFill>
              </a:rPr>
              <a:t>carbon</a:t>
            </a:r>
            <a:r>
              <a:rPr lang="en-US" dirty="0"/>
              <a:t> in this compound.</a:t>
            </a:r>
          </a:p>
          <a:p>
            <a:pPr marL="1425575" lvl="1" indent="-457200">
              <a:buFontTx/>
              <a:buNone/>
            </a:pPr>
            <a:r>
              <a:rPr lang="en-US" sz="2400" dirty="0"/>
              <a:t>a)	12.0%</a:t>
            </a:r>
          </a:p>
          <a:p>
            <a:pPr marL="1425575" lvl="1" indent="-457200">
              <a:buFontTx/>
              <a:buNone/>
            </a:pPr>
            <a:r>
              <a:rPr lang="en-US" sz="2400" dirty="0"/>
              <a:t>b)	54.8%	</a:t>
            </a:r>
          </a:p>
          <a:p>
            <a:pPr marL="1425575" lvl="1" indent="-457200">
              <a:buFontTx/>
              <a:buNone/>
            </a:pPr>
            <a:r>
              <a:rPr lang="en-US" sz="2400" dirty="0"/>
              <a:t>c)	67.9%</a:t>
            </a:r>
          </a:p>
          <a:p>
            <a:pPr marL="1425575" lvl="1" indent="-457200">
              <a:buFontTx/>
              <a:buNone/>
            </a:pPr>
            <a:r>
              <a:rPr lang="en-US" sz="2400" dirty="0"/>
              <a:t>d)	71.6%</a:t>
            </a:r>
            <a:endParaRPr lang="en-US" sz="2400" dirty="0">
              <a:solidFill>
                <a:srgbClr val="009900"/>
              </a:solidFill>
            </a:endParaRPr>
          </a:p>
        </p:txBody>
      </p:sp>
      <p:sp>
        <p:nvSpPr>
          <p:cNvPr id="8" name="Slide Number Placeholder 5"/>
          <p:cNvSpPr>
            <a:spLocks noGrp="1"/>
          </p:cNvSpPr>
          <p:nvPr>
            <p:ph type="sldNum" sz="quarter" idx="11"/>
          </p:nvPr>
        </p:nvSpPr>
        <p:spPr/>
        <p:txBody>
          <a:bodyPr/>
          <a:lstStyle/>
          <a:p>
            <a:fld id="{2F6016F4-C36D-0941-9FBC-D692DB03661C}" type="slidenum">
              <a:rPr lang="en-US"/>
              <a:pPr/>
              <a:t>27</a:t>
            </a:fld>
            <a:endParaRPr lang="en-US"/>
          </a:p>
        </p:txBody>
      </p:sp>
    </p:spTree>
    <p:extLst>
      <p:ext uri="{BB962C8B-B14F-4D97-AF65-F5344CB8AC3E}">
        <p14:creationId xmlns:p14="http://schemas.microsoft.com/office/powerpoint/2010/main" val="1644113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en-US" dirty="0"/>
              <a:t>	Exercise, 8</a:t>
            </a:r>
          </a:p>
        </p:txBody>
      </p:sp>
      <p:sp>
        <p:nvSpPr>
          <p:cNvPr id="363523" name="Rectangle 3"/>
          <p:cNvSpPr>
            <a:spLocks noGrp="1" noChangeArrowheads="1"/>
          </p:cNvSpPr>
          <p:nvPr>
            <p:ph idx="1"/>
          </p:nvPr>
        </p:nvSpPr>
        <p:spPr>
          <a:xfrm>
            <a:off x="457200" y="1752600"/>
            <a:ext cx="8229600" cy="2973122"/>
          </a:xfrm>
        </p:spPr>
        <p:txBody>
          <a:bodyPr/>
          <a:lstStyle/>
          <a:p>
            <a:pPr marL="0" indent="0">
              <a:buNone/>
            </a:pPr>
            <a:r>
              <a:rPr lang="en-US" dirty="0"/>
              <a:t>Consider separate 100.0-gram samples of each of the following: </a:t>
            </a:r>
          </a:p>
          <a:p>
            <a:pPr lvl="1"/>
            <a:r>
              <a:rPr lang="en-US" sz="2400" dirty="0"/>
              <a:t>H</a:t>
            </a:r>
            <a:r>
              <a:rPr lang="en-US" sz="2400" baseline="-25000" dirty="0"/>
              <a:t>2</a:t>
            </a:r>
            <a:r>
              <a:rPr lang="en-US" sz="2400" dirty="0"/>
              <a:t>O, N</a:t>
            </a:r>
            <a:r>
              <a:rPr lang="en-US" sz="2400" baseline="-25000" dirty="0"/>
              <a:t>2</a:t>
            </a:r>
            <a:r>
              <a:rPr lang="en-US" sz="2400" dirty="0"/>
              <a:t>O, C</a:t>
            </a:r>
            <a:r>
              <a:rPr lang="en-US" sz="2400" baseline="-25000" dirty="0"/>
              <a:t>3</a:t>
            </a:r>
            <a:r>
              <a:rPr lang="en-US" sz="2400" dirty="0"/>
              <a:t>H</a:t>
            </a:r>
            <a:r>
              <a:rPr lang="en-US" sz="2400" baseline="-25000" dirty="0"/>
              <a:t>6</a:t>
            </a:r>
            <a:r>
              <a:rPr lang="en-US" sz="2400" dirty="0"/>
              <a:t>O</a:t>
            </a:r>
            <a:r>
              <a:rPr lang="en-US" sz="2400" baseline="-25000" dirty="0"/>
              <a:t>2</a:t>
            </a:r>
            <a:r>
              <a:rPr lang="en-US" sz="2400" dirty="0"/>
              <a:t>, CO</a:t>
            </a:r>
            <a:r>
              <a:rPr lang="en-US" sz="2400" baseline="-25000" dirty="0"/>
              <a:t>2</a:t>
            </a:r>
            <a:endParaRPr lang="en-US" sz="2400" dirty="0"/>
          </a:p>
          <a:p>
            <a:pPr lvl="1"/>
            <a:r>
              <a:rPr lang="en-US" sz="2400" dirty="0"/>
              <a:t>Rank them from highest to lowest percent oxygen by mass</a:t>
            </a:r>
          </a:p>
          <a:p>
            <a:pPr lvl="1"/>
            <a:endParaRPr lang="en-US" sz="2400" dirty="0"/>
          </a:p>
          <a:p>
            <a:pPr lvl="1"/>
            <a:r>
              <a:rPr lang="en-US" sz="2400" dirty="0"/>
              <a:t>H</a:t>
            </a:r>
            <a:r>
              <a:rPr lang="en-US" sz="2400" baseline="-25000" dirty="0"/>
              <a:t>2</a:t>
            </a:r>
            <a:r>
              <a:rPr lang="en-US" sz="2400" dirty="0"/>
              <a:t>O, CO</a:t>
            </a:r>
            <a:r>
              <a:rPr lang="en-US" sz="2400" baseline="-25000" dirty="0"/>
              <a:t>2</a:t>
            </a:r>
            <a:r>
              <a:rPr lang="en-US" sz="2400" dirty="0"/>
              <a:t>, C</a:t>
            </a:r>
            <a:r>
              <a:rPr lang="en-US" sz="2400" baseline="-25000" dirty="0"/>
              <a:t>3</a:t>
            </a:r>
            <a:r>
              <a:rPr lang="en-US" sz="2400" dirty="0"/>
              <a:t>H</a:t>
            </a:r>
            <a:r>
              <a:rPr lang="en-US" sz="2400" baseline="-25000" dirty="0"/>
              <a:t>6</a:t>
            </a:r>
            <a:r>
              <a:rPr lang="en-US" sz="2400" dirty="0"/>
              <a:t>O</a:t>
            </a:r>
            <a:r>
              <a:rPr lang="en-US" sz="2400" baseline="-25000" dirty="0"/>
              <a:t>2</a:t>
            </a:r>
            <a:r>
              <a:rPr lang="en-US" sz="2400" dirty="0"/>
              <a:t>, N</a:t>
            </a:r>
            <a:r>
              <a:rPr lang="en-US" sz="2400" baseline="-25000" dirty="0"/>
              <a:t>2</a:t>
            </a:r>
            <a:r>
              <a:rPr lang="en-US" sz="2400" dirty="0"/>
              <a:t>O</a:t>
            </a:r>
          </a:p>
        </p:txBody>
      </p:sp>
      <p:sp>
        <p:nvSpPr>
          <p:cNvPr id="6" name="Slide Number Placeholder 4"/>
          <p:cNvSpPr>
            <a:spLocks noGrp="1"/>
          </p:cNvSpPr>
          <p:nvPr>
            <p:ph type="sldNum" sz="quarter" idx="11"/>
          </p:nvPr>
        </p:nvSpPr>
        <p:spPr/>
        <p:txBody>
          <a:bodyPr/>
          <a:lstStyle/>
          <a:p>
            <a:fld id="{BC80850D-D248-F943-8EAA-BE7644C61352}" type="slidenum">
              <a:rPr lang="en-US" smtClean="0"/>
              <a:pPr/>
              <a:t>28</a:t>
            </a:fld>
            <a:endParaRPr lang="en-US"/>
          </a:p>
        </p:txBody>
      </p:sp>
    </p:spTree>
    <p:extLst>
      <p:ext uri="{BB962C8B-B14F-4D97-AF65-F5344CB8AC3E}">
        <p14:creationId xmlns:p14="http://schemas.microsoft.com/office/powerpoint/2010/main" val="3196165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68963" name="Rectangle 3"/>
          <p:cNvSpPr>
            <a:spLocks noGrp="1" noChangeArrowheads="1"/>
          </p:cNvSpPr>
          <p:nvPr>
            <p:ph type="title"/>
          </p:nvPr>
        </p:nvSpPr>
        <p:spPr/>
        <p:txBody>
          <a:bodyPr/>
          <a:lstStyle/>
          <a:p>
            <a:r>
              <a:rPr lang="en-US" dirty="0"/>
              <a:t>Empirical Formula</a:t>
            </a:r>
          </a:p>
        </p:txBody>
      </p:sp>
      <p:sp>
        <p:nvSpPr>
          <p:cNvPr id="168962" name="Rectangle 2"/>
          <p:cNvSpPr>
            <a:spLocks noGrp="1" noChangeArrowheads="1"/>
          </p:cNvSpPr>
          <p:nvPr>
            <p:ph idx="1"/>
          </p:nvPr>
        </p:nvSpPr>
        <p:spPr>
          <a:xfrm>
            <a:off x="457200" y="1752600"/>
            <a:ext cx="8229600" cy="1643527"/>
          </a:xfrm>
        </p:spPr>
        <p:txBody>
          <a:bodyPr/>
          <a:lstStyle/>
          <a:p>
            <a:r>
              <a:rPr lang="en-US" dirty="0"/>
              <a:t>Formula of a compound that expresses the smallest whole-number ratio of the atoms present </a:t>
            </a:r>
          </a:p>
          <a:p>
            <a:r>
              <a:rPr lang="en-US" dirty="0"/>
              <a:t>The empirical formula can be found from the percent composition of the compound</a:t>
            </a:r>
          </a:p>
        </p:txBody>
      </p:sp>
      <p:sp>
        <p:nvSpPr>
          <p:cNvPr id="8" name="Slide Number Placeholder 4"/>
          <p:cNvSpPr>
            <a:spLocks noGrp="1"/>
          </p:cNvSpPr>
          <p:nvPr>
            <p:ph type="sldNum" sz="quarter" idx="11"/>
          </p:nvPr>
        </p:nvSpPr>
        <p:spPr/>
        <p:txBody>
          <a:bodyPr/>
          <a:lstStyle/>
          <a:p>
            <a:fld id="{BFAF44F8-2A84-EA4B-9EC7-F17E780F7E67}" type="slidenum">
              <a:rPr lang="en-US" smtClean="0"/>
              <a:pPr/>
              <a:t>29</a:t>
            </a:fld>
            <a:endParaRPr lang="en-US"/>
          </a:p>
        </p:txBody>
      </p:sp>
    </p:spTree>
    <p:extLst>
      <p:ext uri="{BB962C8B-B14F-4D97-AF65-F5344CB8AC3E}">
        <p14:creationId xmlns:p14="http://schemas.microsoft.com/office/powerpoint/2010/main" val="3065884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2563" name="Rectangle 3"/>
          <p:cNvSpPr>
            <a:spLocks noGrp="1" noChangeArrowheads="1"/>
          </p:cNvSpPr>
          <p:nvPr>
            <p:ph type="title"/>
          </p:nvPr>
        </p:nvSpPr>
        <p:spPr/>
        <p:txBody>
          <a:bodyPr/>
          <a:lstStyle/>
          <a:p>
            <a:r>
              <a:rPr lang="en-US"/>
              <a:t>Formulas</a:t>
            </a:r>
          </a:p>
        </p:txBody>
      </p:sp>
      <p:sp>
        <p:nvSpPr>
          <p:cNvPr id="322562" name="Rectangle 2"/>
          <p:cNvSpPr>
            <a:spLocks noGrp="1" noChangeArrowheads="1"/>
          </p:cNvSpPr>
          <p:nvPr>
            <p:ph idx="1"/>
          </p:nvPr>
        </p:nvSpPr>
        <p:spPr>
          <a:xfrm>
            <a:off x="457200" y="1752600"/>
            <a:ext cx="8229600" cy="2529923"/>
          </a:xfrm>
        </p:spPr>
        <p:txBody>
          <a:bodyPr/>
          <a:lstStyle/>
          <a:p>
            <a:r>
              <a:rPr lang="en-US" dirty="0"/>
              <a:t>Empirical formula = CH</a:t>
            </a:r>
          </a:p>
          <a:p>
            <a:pPr lvl="1"/>
            <a:r>
              <a:rPr lang="en-US" dirty="0"/>
              <a:t>Simplest whole-number ratio</a:t>
            </a:r>
          </a:p>
          <a:p>
            <a:r>
              <a:rPr lang="en-US" dirty="0"/>
              <a:t>Molecular formula = (empirical formula)n 					        [n = integer]</a:t>
            </a:r>
          </a:p>
          <a:p>
            <a:r>
              <a:rPr lang="en-US" dirty="0"/>
              <a:t>Molecular formula = C</a:t>
            </a:r>
            <a:r>
              <a:rPr lang="en-US" baseline="-25000" dirty="0"/>
              <a:t>6</a:t>
            </a:r>
            <a:r>
              <a:rPr lang="en-US" dirty="0"/>
              <a:t>H</a:t>
            </a:r>
            <a:r>
              <a:rPr lang="en-US" baseline="-25000" dirty="0"/>
              <a:t>6</a:t>
            </a:r>
            <a:r>
              <a:rPr lang="en-US" dirty="0"/>
              <a:t> = (CH)</a:t>
            </a:r>
            <a:r>
              <a:rPr lang="en-US" baseline="-25000" dirty="0"/>
              <a:t>6</a:t>
            </a:r>
          </a:p>
          <a:p>
            <a:pPr lvl="1"/>
            <a:r>
              <a:rPr lang="en-US" dirty="0"/>
              <a:t>Actual formula of the compound</a:t>
            </a:r>
          </a:p>
        </p:txBody>
      </p:sp>
      <p:sp>
        <p:nvSpPr>
          <p:cNvPr id="8" name="Slide Number Placeholder 4"/>
          <p:cNvSpPr>
            <a:spLocks noGrp="1"/>
          </p:cNvSpPr>
          <p:nvPr>
            <p:ph type="sldNum" sz="quarter" idx="11"/>
          </p:nvPr>
        </p:nvSpPr>
        <p:spPr/>
        <p:txBody>
          <a:bodyPr/>
          <a:lstStyle/>
          <a:p>
            <a:fld id="{566327C2-D9E8-B642-8C84-964CE3A20472}" type="slidenum">
              <a:rPr lang="en-US" smtClean="0"/>
              <a:pPr/>
              <a:t>30</a:t>
            </a:fld>
            <a:endParaRPr lang="en-US"/>
          </a:p>
        </p:txBody>
      </p:sp>
    </p:spTree>
    <p:extLst>
      <p:ext uri="{BB962C8B-B14F-4D97-AF65-F5344CB8AC3E}">
        <p14:creationId xmlns:p14="http://schemas.microsoft.com/office/powerpoint/2010/main" val="897394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4611" name="Rectangle 3"/>
          <p:cNvSpPr>
            <a:spLocks noGrp="1" noChangeArrowheads="1"/>
          </p:cNvSpPr>
          <p:nvPr>
            <p:ph type="title"/>
          </p:nvPr>
        </p:nvSpPr>
        <p:spPr/>
        <p:txBody>
          <a:bodyPr/>
          <a:lstStyle/>
          <a:p>
            <a:r>
              <a:rPr lang="en-US" dirty="0"/>
              <a:t>Steps for Determining the Empirical Formula of a Compound</a:t>
            </a:r>
          </a:p>
        </p:txBody>
      </p:sp>
      <p:sp>
        <p:nvSpPr>
          <p:cNvPr id="324610" name="Rectangle 2"/>
          <p:cNvSpPr>
            <a:spLocks noGrp="1" noChangeArrowheads="1"/>
          </p:cNvSpPr>
          <p:nvPr>
            <p:ph idx="1"/>
          </p:nvPr>
        </p:nvSpPr>
        <p:spPr>
          <a:xfrm>
            <a:off x="457200" y="1752600"/>
            <a:ext cx="8229600" cy="3416320"/>
          </a:xfrm>
        </p:spPr>
        <p:txBody>
          <a:bodyPr/>
          <a:lstStyle/>
          <a:p>
            <a:pPr marL="0" indent="0">
              <a:buNone/>
            </a:pPr>
            <a:r>
              <a:rPr lang="en-US" dirty="0">
                <a:solidFill>
                  <a:srgbClr val="0000FF"/>
                </a:solidFill>
              </a:rPr>
              <a:t>A gaseous compound containing carbon and hydrogen was analyzed and found to consist of 83.65% carbon by mass. Determine the empirical formula of the compound.</a:t>
            </a:r>
          </a:p>
          <a:p>
            <a:r>
              <a:rPr lang="en-US" dirty="0"/>
              <a:t>Obtain the mass of each element present (in grams)</a:t>
            </a:r>
          </a:p>
          <a:p>
            <a:r>
              <a:rPr lang="en-US" dirty="0"/>
              <a:t>Assume you have 100 g of the compound</a:t>
            </a:r>
          </a:p>
          <a:p>
            <a:pPr lvl="1">
              <a:buNone/>
            </a:pPr>
            <a:r>
              <a:rPr lang="en-US" dirty="0"/>
              <a:t>83.65% C = 83.65 g C </a:t>
            </a:r>
          </a:p>
          <a:p>
            <a:pPr lvl="1">
              <a:buNone/>
            </a:pPr>
            <a:r>
              <a:rPr lang="en-US" dirty="0"/>
              <a:t>(100.00 – 83.65)</a:t>
            </a:r>
          </a:p>
          <a:p>
            <a:pPr lvl="1">
              <a:buNone/>
            </a:pPr>
            <a:r>
              <a:rPr lang="en-US" dirty="0"/>
              <a:t>16.35% H = 16.35 g H </a:t>
            </a:r>
          </a:p>
        </p:txBody>
      </p:sp>
      <p:sp>
        <p:nvSpPr>
          <p:cNvPr id="5" name="Slide Number Placeholder 4"/>
          <p:cNvSpPr>
            <a:spLocks noGrp="1"/>
          </p:cNvSpPr>
          <p:nvPr>
            <p:ph type="sldNum" sz="quarter" idx="11"/>
          </p:nvPr>
        </p:nvSpPr>
        <p:spPr/>
        <p:txBody>
          <a:bodyPr/>
          <a:lstStyle/>
          <a:p>
            <a:fld id="{387AFECB-8AFB-B147-9A14-D4AB51ED9944}" type="slidenum">
              <a:rPr lang="en-US" smtClean="0"/>
              <a:pPr/>
              <a:t>31</a:t>
            </a:fld>
            <a:endParaRPr lang="en-US"/>
          </a:p>
        </p:txBody>
      </p:sp>
    </p:spTree>
    <p:extLst>
      <p:ext uri="{BB962C8B-B14F-4D97-AF65-F5344CB8AC3E}">
        <p14:creationId xmlns:p14="http://schemas.microsoft.com/office/powerpoint/2010/main" val="2794799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6659" name="Rectangle 3"/>
          <p:cNvSpPr>
            <a:spLocks noGrp="1" noChangeArrowheads="1"/>
          </p:cNvSpPr>
          <p:nvPr>
            <p:ph type="title"/>
          </p:nvPr>
        </p:nvSpPr>
        <p:spPr>
          <a:xfrm>
            <a:off x="457200" y="1143000"/>
            <a:ext cx="7924800" cy="533400"/>
          </a:xfrm>
        </p:spPr>
        <p:txBody>
          <a:bodyPr/>
          <a:lstStyle/>
          <a:p>
            <a:r>
              <a:rPr lang="en-US" dirty="0"/>
              <a:t>Steps for Determining the Empirical Formula of a Compound </a:t>
            </a:r>
            <a:r>
              <a:rPr lang="en-US" sz="2000" dirty="0"/>
              <a:t>(continued 1)</a:t>
            </a:r>
          </a:p>
        </p:txBody>
      </p:sp>
      <p:sp>
        <p:nvSpPr>
          <p:cNvPr id="326658" name="Rectangle 2"/>
          <p:cNvSpPr>
            <a:spLocks noGrp="1" noChangeArrowheads="1"/>
          </p:cNvSpPr>
          <p:nvPr>
            <p:ph idx="1"/>
          </p:nvPr>
        </p:nvSpPr>
        <p:spPr>
          <a:xfrm>
            <a:off x="533400" y="1838633"/>
            <a:ext cx="8077200" cy="1200329"/>
          </a:xfrm>
        </p:spPr>
        <p:txBody>
          <a:bodyPr/>
          <a:lstStyle/>
          <a:p>
            <a:pPr marL="533400" indent="-533400"/>
            <a:r>
              <a:rPr lang="en-US" dirty="0"/>
              <a:t>Determine the number of moles of each type of atom present</a:t>
            </a:r>
          </a:p>
          <a:p>
            <a:pPr marL="533400" indent="-533400">
              <a:buFontTx/>
              <a:buNone/>
            </a:pPr>
            <a:r>
              <a:rPr lang="en-US" sz="2000" dirty="0">
                <a:solidFill>
                  <a:srgbClr val="0000FF"/>
                </a:solidFill>
                <a:cs typeface="Arial" charset="0"/>
              </a:rPr>
              <a:t>	</a:t>
            </a:r>
            <a:endParaRPr lang="en-US" dirty="0"/>
          </a:p>
        </p:txBody>
      </p:sp>
      <p:graphicFrame>
        <p:nvGraphicFramePr>
          <p:cNvPr id="2" name="Object 1" descr="83.65 g C multiplied by 1 mol C divided by 12.01 g C equals 6.965 mol C. &#10;&#10;16.35 g H multiplied by 1 mol H divided by 1.008 g H equals 16.22 mol H."/>
          <p:cNvGraphicFramePr>
            <a:graphicFrameLocks noChangeAspect="1"/>
          </p:cNvGraphicFramePr>
          <p:nvPr>
            <p:extLst>
              <p:ext uri="{D42A27DB-BD31-4B8C-83A1-F6EECF244321}">
                <p14:modId xmlns:p14="http://schemas.microsoft.com/office/powerpoint/2010/main" val="1286991450"/>
              </p:ext>
            </p:extLst>
          </p:nvPr>
        </p:nvGraphicFramePr>
        <p:xfrm>
          <a:off x="1787226" y="2876729"/>
          <a:ext cx="5328193" cy="1733575"/>
        </p:xfrm>
        <a:graphic>
          <a:graphicData uri="http://schemas.openxmlformats.org/presentationml/2006/ole">
            <mc:AlternateContent xmlns:mc="http://schemas.openxmlformats.org/markup-compatibility/2006">
              <mc:Choice xmlns:v="urn:schemas-microsoft-com:vml" Requires="v">
                <p:oleObj spid="_x0000_s10310" name="Equation" r:id="rId4" imgW="2654280" imgH="863280" progId="Equation.DSMT4">
                  <p:embed/>
                </p:oleObj>
              </mc:Choice>
              <mc:Fallback>
                <p:oleObj name="Equation" r:id="rId4" imgW="2654280" imgH="863280" progId="Equation.DSMT4">
                  <p:embed/>
                  <p:pic>
                    <p:nvPicPr>
                      <p:cNvPr id="0" name=""/>
                      <p:cNvPicPr/>
                      <p:nvPr/>
                    </p:nvPicPr>
                    <p:blipFill>
                      <a:blip r:embed="rId5"/>
                      <a:stretch>
                        <a:fillRect/>
                      </a:stretch>
                    </p:blipFill>
                    <p:spPr>
                      <a:xfrm>
                        <a:off x="1787226" y="2876729"/>
                        <a:ext cx="5328193" cy="1733575"/>
                      </a:xfrm>
                      <a:prstGeom prst="rect">
                        <a:avLst/>
                      </a:prstGeom>
                    </p:spPr>
                  </p:pic>
                </p:oleObj>
              </mc:Fallback>
            </mc:AlternateContent>
          </a:graphicData>
        </a:graphic>
      </p:graphicFrame>
      <p:sp>
        <p:nvSpPr>
          <p:cNvPr id="6" name="Slide Number Placeholder 4"/>
          <p:cNvSpPr>
            <a:spLocks noGrp="1"/>
          </p:cNvSpPr>
          <p:nvPr>
            <p:ph type="sldNum" sz="quarter" idx="11"/>
          </p:nvPr>
        </p:nvSpPr>
        <p:spPr/>
        <p:txBody>
          <a:bodyPr/>
          <a:lstStyle/>
          <a:p>
            <a:fld id="{C6EF6013-A8C8-CB46-991A-318179460C97}" type="slidenum">
              <a:rPr lang="en-US"/>
              <a:pPr/>
              <a:t>32</a:t>
            </a:fld>
            <a:endParaRPr lang="en-US"/>
          </a:p>
        </p:txBody>
      </p:sp>
    </p:spTree>
    <p:extLst>
      <p:ext uri="{BB962C8B-B14F-4D97-AF65-F5344CB8AC3E}">
        <p14:creationId xmlns:p14="http://schemas.microsoft.com/office/powerpoint/2010/main" val="1976727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8707" name="Rectangle 3"/>
          <p:cNvSpPr>
            <a:spLocks noGrp="1" noChangeArrowheads="1"/>
          </p:cNvSpPr>
          <p:nvPr>
            <p:ph type="title"/>
          </p:nvPr>
        </p:nvSpPr>
        <p:spPr>
          <a:xfrm>
            <a:off x="457200" y="1143000"/>
            <a:ext cx="7924800" cy="533400"/>
          </a:xfrm>
        </p:spPr>
        <p:txBody>
          <a:bodyPr/>
          <a:lstStyle/>
          <a:p>
            <a:r>
              <a:rPr lang="en-US" dirty="0"/>
              <a:t>Steps for Determining the Empirical Formula of a Compound </a:t>
            </a:r>
            <a:r>
              <a:rPr lang="en-US" sz="2000" dirty="0"/>
              <a:t>(continued 2)</a:t>
            </a:r>
          </a:p>
        </p:txBody>
      </p:sp>
      <p:sp>
        <p:nvSpPr>
          <p:cNvPr id="328706" name="Rectangle 2"/>
          <p:cNvSpPr>
            <a:spLocks noGrp="1" noChangeArrowheads="1"/>
          </p:cNvSpPr>
          <p:nvPr>
            <p:ph idx="1"/>
          </p:nvPr>
        </p:nvSpPr>
        <p:spPr>
          <a:xfrm>
            <a:off x="533400" y="1868129"/>
            <a:ext cx="8077200" cy="3028521"/>
          </a:xfrm>
        </p:spPr>
        <p:txBody>
          <a:bodyPr/>
          <a:lstStyle/>
          <a:p>
            <a:pPr marL="533400" indent="-533400"/>
            <a:r>
              <a:rPr lang="en-US" dirty="0"/>
              <a:t>Divide the number of moles of each element by the smallest number of moles to convert the smallest number to 1</a:t>
            </a:r>
          </a:p>
          <a:p>
            <a:pPr marL="933450" lvl="1" indent="-533400"/>
            <a:r>
              <a:rPr lang="en-US" dirty="0"/>
              <a:t>If all the numbers obtained are integers (whole numbers), then these integers will be the subscripts in the empirical formula</a:t>
            </a:r>
          </a:p>
          <a:p>
            <a:pPr marL="1333500" lvl="2" indent="-533400"/>
            <a:r>
              <a:rPr lang="en-US" dirty="0"/>
              <a:t>If one or more of these numbers are not integers, proceed to the next step</a:t>
            </a:r>
            <a:endParaRPr lang="en-US" sz="1400" dirty="0">
              <a:cs typeface="Arial" charset="0"/>
            </a:endParaRPr>
          </a:p>
        </p:txBody>
      </p:sp>
      <p:graphicFrame>
        <p:nvGraphicFramePr>
          <p:cNvPr id="2" name="Object 1" descr="6.965 mol C divided by 6.965 mol equals 1.&#10;16.22 mol H divided by 6.965 mol equals 2.33.&#10;"/>
          <p:cNvGraphicFramePr>
            <a:graphicFrameLocks noChangeAspect="1"/>
          </p:cNvGraphicFramePr>
          <p:nvPr>
            <p:extLst>
              <p:ext uri="{D42A27DB-BD31-4B8C-83A1-F6EECF244321}">
                <p14:modId xmlns:p14="http://schemas.microsoft.com/office/powerpoint/2010/main" val="2932436052"/>
              </p:ext>
            </p:extLst>
          </p:nvPr>
        </p:nvGraphicFramePr>
        <p:xfrm>
          <a:off x="3554663" y="4896650"/>
          <a:ext cx="2763028" cy="1622328"/>
        </p:xfrm>
        <a:graphic>
          <a:graphicData uri="http://schemas.openxmlformats.org/presentationml/2006/ole">
            <mc:AlternateContent xmlns:mc="http://schemas.openxmlformats.org/markup-compatibility/2006">
              <mc:Choice xmlns:v="urn:schemas-microsoft-com:vml" Requires="v">
                <p:oleObj spid="_x0000_s11333" name="Equation" r:id="rId4" imgW="1384200" imgH="812520" progId="Equation.DSMT4">
                  <p:embed/>
                </p:oleObj>
              </mc:Choice>
              <mc:Fallback>
                <p:oleObj name="Equation" r:id="rId4" imgW="1384200" imgH="812520" progId="Equation.DSMT4">
                  <p:embed/>
                  <p:pic>
                    <p:nvPicPr>
                      <p:cNvPr id="0" name=""/>
                      <p:cNvPicPr/>
                      <p:nvPr/>
                    </p:nvPicPr>
                    <p:blipFill>
                      <a:blip r:embed="rId5"/>
                      <a:stretch>
                        <a:fillRect/>
                      </a:stretch>
                    </p:blipFill>
                    <p:spPr>
                      <a:xfrm>
                        <a:off x="3554663" y="4896650"/>
                        <a:ext cx="2763028" cy="1622328"/>
                      </a:xfrm>
                      <a:prstGeom prst="rect">
                        <a:avLst/>
                      </a:prstGeom>
                    </p:spPr>
                  </p:pic>
                </p:oleObj>
              </mc:Fallback>
            </mc:AlternateContent>
          </a:graphicData>
        </a:graphic>
      </p:graphicFrame>
      <p:sp>
        <p:nvSpPr>
          <p:cNvPr id="6" name="Slide Number Placeholder 4"/>
          <p:cNvSpPr>
            <a:spLocks noGrp="1"/>
          </p:cNvSpPr>
          <p:nvPr>
            <p:ph type="sldNum" sz="quarter" idx="11"/>
          </p:nvPr>
        </p:nvSpPr>
        <p:spPr/>
        <p:txBody>
          <a:bodyPr/>
          <a:lstStyle/>
          <a:p>
            <a:fld id="{590ED5C8-DD85-394F-BD0D-67830D57DE28}" type="slidenum">
              <a:rPr lang="en-US"/>
              <a:pPr/>
              <a:t>33</a:t>
            </a:fld>
            <a:endParaRPr lang="en-US"/>
          </a:p>
        </p:txBody>
      </p:sp>
    </p:spTree>
    <p:extLst>
      <p:ext uri="{BB962C8B-B14F-4D97-AF65-F5344CB8AC3E}">
        <p14:creationId xmlns:p14="http://schemas.microsoft.com/office/powerpoint/2010/main" val="144745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0755" name="Rectangle 3"/>
          <p:cNvSpPr>
            <a:spLocks noGrp="1" noChangeArrowheads="1"/>
          </p:cNvSpPr>
          <p:nvPr>
            <p:ph type="title"/>
          </p:nvPr>
        </p:nvSpPr>
        <p:spPr>
          <a:xfrm>
            <a:off x="457200" y="1143000"/>
            <a:ext cx="7924800" cy="533400"/>
          </a:xfrm>
        </p:spPr>
        <p:txBody>
          <a:bodyPr/>
          <a:lstStyle/>
          <a:p>
            <a:r>
              <a:rPr lang="en-US" dirty="0"/>
              <a:t>Steps for Determining the Empirical Formula of a Compound </a:t>
            </a:r>
            <a:r>
              <a:rPr lang="en-US" sz="2000" dirty="0"/>
              <a:t>(continued 3)</a:t>
            </a:r>
          </a:p>
        </p:txBody>
      </p:sp>
      <p:sp>
        <p:nvSpPr>
          <p:cNvPr id="330754" name="Rectangle 2"/>
          <p:cNvSpPr>
            <a:spLocks noGrp="1" noChangeArrowheads="1"/>
          </p:cNvSpPr>
          <p:nvPr>
            <p:ph idx="1"/>
          </p:nvPr>
        </p:nvSpPr>
        <p:spPr>
          <a:xfrm>
            <a:off x="533400" y="1853380"/>
            <a:ext cx="8077200" cy="3717941"/>
          </a:xfrm>
        </p:spPr>
        <p:txBody>
          <a:bodyPr/>
          <a:lstStyle/>
          <a:p>
            <a:pPr marL="533400" indent="-533400"/>
            <a:r>
              <a:rPr lang="en-US" dirty="0"/>
              <a:t>Multiply the numbers derived in the previous step by the smallest integer that will convert all of them to whole numbers</a:t>
            </a:r>
          </a:p>
          <a:p>
            <a:pPr marL="933450" lvl="1" indent="-533400"/>
            <a:r>
              <a:rPr lang="en-US" dirty="0"/>
              <a:t>This set of whole numbers represents the subscripts in the empirical formula</a:t>
            </a:r>
          </a:p>
          <a:p>
            <a:pPr marL="400050" lvl="1" indent="0">
              <a:buNone/>
            </a:pPr>
            <a:endParaRPr lang="en-US" sz="2400" dirty="0">
              <a:cs typeface="Arial" charset="0"/>
            </a:endParaRPr>
          </a:p>
          <a:p>
            <a:pPr marL="400050" lvl="1" indent="0">
              <a:buNone/>
            </a:pPr>
            <a:r>
              <a:rPr lang="en-US" sz="2400" dirty="0">
                <a:cs typeface="Arial" charset="0"/>
              </a:rPr>
              <a:t>	C: 1 × 3 = 3</a:t>
            </a:r>
          </a:p>
          <a:p>
            <a:pPr marL="400050" lvl="1" indent="0">
              <a:buNone/>
            </a:pPr>
            <a:r>
              <a:rPr lang="en-US" sz="2400" dirty="0">
                <a:cs typeface="Arial" charset="0"/>
              </a:rPr>
              <a:t>	H: 2.33 × 3 = 7</a:t>
            </a:r>
          </a:p>
          <a:p>
            <a:pPr marL="400050" lvl="1" indent="0">
              <a:buNone/>
            </a:pPr>
            <a:r>
              <a:rPr lang="en-US" sz="2400" dirty="0">
                <a:cs typeface="Arial" charset="0"/>
              </a:rPr>
              <a:t>	The empirical formula is C</a:t>
            </a:r>
            <a:r>
              <a:rPr lang="en-US" sz="2400" baseline="-25000" dirty="0">
                <a:cs typeface="Arial" charset="0"/>
              </a:rPr>
              <a:t>3</a:t>
            </a:r>
            <a:r>
              <a:rPr lang="en-US" sz="2400" dirty="0">
                <a:cs typeface="Arial" charset="0"/>
              </a:rPr>
              <a:t>H</a:t>
            </a:r>
            <a:r>
              <a:rPr lang="en-US" sz="2400" baseline="-25000" dirty="0">
                <a:cs typeface="Arial" charset="0"/>
              </a:rPr>
              <a:t>7</a:t>
            </a:r>
          </a:p>
        </p:txBody>
      </p:sp>
      <p:sp>
        <p:nvSpPr>
          <p:cNvPr id="6" name="Slide Number Placeholder 4"/>
          <p:cNvSpPr>
            <a:spLocks noGrp="1"/>
          </p:cNvSpPr>
          <p:nvPr>
            <p:ph type="sldNum" sz="quarter" idx="11"/>
          </p:nvPr>
        </p:nvSpPr>
        <p:spPr/>
        <p:txBody>
          <a:bodyPr/>
          <a:lstStyle/>
          <a:p>
            <a:fld id="{8D16AC0A-4810-8B4D-A85D-C9389BD9549F}" type="slidenum">
              <a:rPr lang="en-US"/>
              <a:pPr/>
              <a:t>34</a:t>
            </a:fld>
            <a:endParaRPr lang="en-US"/>
          </a:p>
        </p:txBody>
      </p:sp>
    </p:spTree>
    <p:extLst>
      <p:ext uri="{BB962C8B-B14F-4D97-AF65-F5344CB8AC3E}">
        <p14:creationId xmlns:p14="http://schemas.microsoft.com/office/powerpoint/2010/main" val="1720631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a:xfrm>
            <a:off x="1524000" y="1143000"/>
            <a:ext cx="7391400" cy="533400"/>
          </a:xfrm>
        </p:spPr>
        <p:txBody>
          <a:bodyPr/>
          <a:lstStyle/>
          <a:p>
            <a:r>
              <a:rPr lang="en-US" dirty="0"/>
              <a:t>Exercise, 9</a:t>
            </a:r>
          </a:p>
        </p:txBody>
      </p:sp>
      <p:sp>
        <p:nvSpPr>
          <p:cNvPr id="332803" name="Rectangle 3"/>
          <p:cNvSpPr>
            <a:spLocks noGrp="1" noChangeArrowheads="1"/>
          </p:cNvSpPr>
          <p:nvPr>
            <p:ph idx="1"/>
          </p:nvPr>
        </p:nvSpPr>
        <p:spPr>
          <a:xfrm>
            <a:off x="381000" y="2133600"/>
            <a:ext cx="8229600" cy="2086725"/>
          </a:xfrm>
        </p:spPr>
        <p:txBody>
          <a:bodyPr/>
          <a:lstStyle/>
          <a:p>
            <a:pPr marL="854075" indent="-3175">
              <a:buFontTx/>
              <a:buNone/>
            </a:pPr>
            <a:r>
              <a:rPr lang="en-US" dirty="0"/>
              <a:t>	The composition of </a:t>
            </a:r>
            <a:r>
              <a:rPr lang="en-US" dirty="0" err="1"/>
              <a:t>adipic</a:t>
            </a:r>
            <a:r>
              <a:rPr lang="en-US" dirty="0"/>
              <a:t> acid is 49.3% C, 6.9% H, and 43.8% O (by mass). What is the </a:t>
            </a:r>
            <a:r>
              <a:rPr lang="en-US" dirty="0">
                <a:solidFill>
                  <a:srgbClr val="0000FF"/>
                </a:solidFill>
              </a:rPr>
              <a:t>empirical formula</a:t>
            </a:r>
            <a:r>
              <a:rPr lang="en-US" dirty="0"/>
              <a:t>?</a:t>
            </a:r>
          </a:p>
          <a:p>
            <a:pPr marL="854075" indent="-3175">
              <a:buFontTx/>
              <a:buNone/>
            </a:pPr>
            <a:r>
              <a:rPr lang="en-US" dirty="0"/>
              <a:t> </a:t>
            </a:r>
          </a:p>
          <a:p>
            <a:pPr marL="1425575" lvl="1" indent="-457200">
              <a:buFontTx/>
              <a:buNone/>
            </a:pPr>
            <a:r>
              <a:rPr lang="en-US" sz="2400" dirty="0"/>
              <a:t>			       </a:t>
            </a:r>
            <a:r>
              <a:rPr lang="en-US" sz="2400" dirty="0">
                <a:solidFill>
                  <a:srgbClr val="009900"/>
                </a:solidFill>
              </a:rPr>
              <a:t>C</a:t>
            </a:r>
            <a:r>
              <a:rPr lang="en-US" sz="2400" baseline="-25000" dirty="0">
                <a:solidFill>
                  <a:srgbClr val="009900"/>
                </a:solidFill>
              </a:rPr>
              <a:t>3</a:t>
            </a:r>
            <a:r>
              <a:rPr lang="en-US" sz="2400" dirty="0">
                <a:solidFill>
                  <a:srgbClr val="009900"/>
                </a:solidFill>
              </a:rPr>
              <a:t>H</a:t>
            </a:r>
            <a:r>
              <a:rPr lang="en-US" sz="2400" baseline="-25000" dirty="0">
                <a:solidFill>
                  <a:srgbClr val="009900"/>
                </a:solidFill>
              </a:rPr>
              <a:t>5</a:t>
            </a:r>
            <a:r>
              <a:rPr lang="en-US" sz="2400" dirty="0">
                <a:solidFill>
                  <a:srgbClr val="009900"/>
                </a:solidFill>
              </a:rPr>
              <a:t>O</a:t>
            </a:r>
            <a:r>
              <a:rPr lang="en-US" sz="2400" baseline="-25000" dirty="0">
                <a:solidFill>
                  <a:srgbClr val="009900"/>
                </a:solidFill>
              </a:rPr>
              <a:t>2</a:t>
            </a:r>
          </a:p>
        </p:txBody>
      </p:sp>
      <p:sp>
        <p:nvSpPr>
          <p:cNvPr id="6" name="Slide Number Placeholder 4"/>
          <p:cNvSpPr>
            <a:spLocks noGrp="1"/>
          </p:cNvSpPr>
          <p:nvPr>
            <p:ph type="sldNum" sz="quarter" idx="11"/>
          </p:nvPr>
        </p:nvSpPr>
        <p:spPr/>
        <p:txBody>
          <a:bodyPr/>
          <a:lstStyle/>
          <a:p>
            <a:fld id="{E71BDAAE-43FA-6148-ABA6-BA5FED618C48}" type="slidenum">
              <a:rPr lang="en-US" smtClean="0"/>
              <a:pPr/>
              <a:t>35</a:t>
            </a:fld>
            <a:endParaRPr lang="en-US"/>
          </a:p>
        </p:txBody>
      </p:sp>
    </p:spTree>
    <p:extLst>
      <p:ext uri="{BB962C8B-B14F-4D97-AF65-F5344CB8AC3E}">
        <p14:creationId xmlns:p14="http://schemas.microsoft.com/office/powerpoint/2010/main" val="387767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Molecular Formula of a Compound </a:t>
            </a:r>
          </a:p>
        </p:txBody>
      </p:sp>
      <p:sp>
        <p:nvSpPr>
          <p:cNvPr id="181250" name="Rectangle 2"/>
          <p:cNvSpPr>
            <a:spLocks noGrp="1" noChangeArrowheads="1"/>
          </p:cNvSpPr>
          <p:nvPr>
            <p:ph idx="1"/>
          </p:nvPr>
        </p:nvSpPr>
        <p:spPr>
          <a:xfrm>
            <a:off x="457200" y="1752600"/>
            <a:ext cx="8229600" cy="3194721"/>
          </a:xfrm>
        </p:spPr>
        <p:txBody>
          <a:bodyPr/>
          <a:lstStyle/>
          <a:p>
            <a:r>
              <a:rPr lang="en-US" dirty="0"/>
              <a:t>The molecular formula is the exact formula of the molecules present in a substance</a:t>
            </a:r>
          </a:p>
          <a:p>
            <a:r>
              <a:rPr lang="en-US" dirty="0"/>
              <a:t>The molecular formula is always an integer multiple of the empirical formula</a:t>
            </a:r>
            <a:br>
              <a:rPr lang="en-US" dirty="0"/>
            </a:br>
            <a:br>
              <a:rPr lang="en-US" dirty="0"/>
            </a:br>
            <a:r>
              <a:rPr lang="en-US" dirty="0"/>
              <a:t>Molecular formula = (empirical formula)n</a:t>
            </a:r>
            <a:br>
              <a:rPr lang="en-US" dirty="0"/>
            </a:br>
            <a:endParaRPr lang="en-US" dirty="0"/>
          </a:p>
          <a:p>
            <a:pPr>
              <a:buNone/>
            </a:pPr>
            <a:r>
              <a:rPr lang="en-US" dirty="0"/>
              <a:t>       where n is a whole number</a:t>
            </a:r>
          </a:p>
        </p:txBody>
      </p:sp>
      <p:sp>
        <p:nvSpPr>
          <p:cNvPr id="4" name="Slide Number Placeholder 4"/>
          <p:cNvSpPr>
            <a:spLocks noGrp="1"/>
          </p:cNvSpPr>
          <p:nvPr>
            <p:ph type="sldNum" sz="quarter" idx="11"/>
          </p:nvPr>
        </p:nvSpPr>
        <p:spPr/>
        <p:txBody>
          <a:bodyPr/>
          <a:lstStyle/>
          <a:p>
            <a:fld id="{6DBFF01D-C944-1843-BEA8-4895D46B9C5D}" type="slidenum">
              <a:rPr lang="en-US" smtClean="0"/>
              <a:pPr/>
              <a:t>36</a:t>
            </a:fld>
            <a:endParaRPr lang="en-US"/>
          </a:p>
        </p:txBody>
      </p:sp>
    </p:spTree>
    <p:extLst>
      <p:ext uri="{BB962C8B-B14F-4D97-AF65-F5344CB8AC3E}">
        <p14:creationId xmlns:p14="http://schemas.microsoft.com/office/powerpoint/2010/main" val="1711283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4851" name="Rectangle 3"/>
          <p:cNvSpPr>
            <a:spLocks noGrp="1" noChangeArrowheads="1"/>
          </p:cNvSpPr>
          <p:nvPr>
            <p:ph type="title"/>
          </p:nvPr>
        </p:nvSpPr>
        <p:spPr>
          <a:xfrm>
            <a:off x="457200" y="1143000"/>
            <a:ext cx="7924800" cy="533400"/>
          </a:xfrm>
        </p:spPr>
        <p:txBody>
          <a:bodyPr/>
          <a:lstStyle/>
          <a:p>
            <a:r>
              <a:rPr lang="en-US" dirty="0"/>
              <a:t>Steps for Determining the Empirical Formula of a Compound </a:t>
            </a:r>
            <a:r>
              <a:rPr lang="en-US" sz="2000" dirty="0"/>
              <a:t>(continued 4)</a:t>
            </a:r>
          </a:p>
        </p:txBody>
      </p:sp>
      <p:sp>
        <p:nvSpPr>
          <p:cNvPr id="334850" name="Rectangle 2"/>
          <p:cNvSpPr>
            <a:spLocks noGrp="1" noChangeArrowheads="1"/>
          </p:cNvSpPr>
          <p:nvPr>
            <p:ph idx="1"/>
          </p:nvPr>
        </p:nvSpPr>
        <p:spPr>
          <a:xfrm>
            <a:off x="533400" y="1834144"/>
            <a:ext cx="8077200" cy="4598182"/>
          </a:xfrm>
        </p:spPr>
        <p:txBody>
          <a:bodyPr/>
          <a:lstStyle/>
          <a:p>
            <a:pPr marL="533400" indent="-533400">
              <a:buFontTx/>
              <a:buNone/>
            </a:pPr>
            <a:r>
              <a:rPr lang="en-US" dirty="0"/>
              <a:t>	</a:t>
            </a:r>
            <a:r>
              <a:rPr lang="en-US" i="1" dirty="0">
                <a:solidFill>
                  <a:srgbClr val="0000FF"/>
                </a:solidFill>
              </a:rPr>
              <a:t>A gaseous compound containing carbon and hydrogen was analyzed and found to consist of 83.65% carbon by mass. The molar mass of the compound is 86.2 g/mol. The empirical formula was determined to be C</a:t>
            </a:r>
            <a:r>
              <a:rPr lang="en-US" i="1" baseline="-25000" dirty="0">
                <a:solidFill>
                  <a:srgbClr val="0000FF"/>
                </a:solidFill>
              </a:rPr>
              <a:t>3</a:t>
            </a:r>
            <a:r>
              <a:rPr lang="en-US" i="1" dirty="0">
                <a:solidFill>
                  <a:srgbClr val="0000FF"/>
                </a:solidFill>
              </a:rPr>
              <a:t>H</a:t>
            </a:r>
            <a:r>
              <a:rPr lang="en-US" i="1" baseline="-25000" dirty="0">
                <a:solidFill>
                  <a:srgbClr val="0000FF"/>
                </a:solidFill>
              </a:rPr>
              <a:t>7</a:t>
            </a:r>
            <a:r>
              <a:rPr lang="en-US" i="1" dirty="0">
                <a:solidFill>
                  <a:srgbClr val="0000FF"/>
                </a:solidFill>
              </a:rPr>
              <a:t>. What is the molecular formula of the compound?</a:t>
            </a:r>
            <a:endParaRPr lang="en-US" sz="2800" i="1" dirty="0">
              <a:solidFill>
                <a:srgbClr val="0000FF"/>
              </a:solidFill>
            </a:endParaRPr>
          </a:p>
          <a:p>
            <a:pPr marL="533400" indent="-533400">
              <a:buFontTx/>
              <a:buNone/>
            </a:pPr>
            <a:r>
              <a:rPr lang="en-US" sz="2800" dirty="0">
                <a:solidFill>
                  <a:srgbClr val="669900"/>
                </a:solidFill>
              </a:rPr>
              <a:t>		</a:t>
            </a:r>
            <a:r>
              <a:rPr lang="en-US" dirty="0"/>
              <a:t>Molar mass of C</a:t>
            </a:r>
            <a:r>
              <a:rPr lang="en-US" baseline="-25000" dirty="0"/>
              <a:t>3</a:t>
            </a:r>
            <a:r>
              <a:rPr lang="en-US" dirty="0"/>
              <a:t>H</a:t>
            </a:r>
            <a:r>
              <a:rPr lang="en-US" baseline="-25000" dirty="0"/>
              <a:t>7</a:t>
            </a:r>
            <a:r>
              <a:rPr lang="en-US" dirty="0"/>
              <a:t> = 43.086 g/mol</a:t>
            </a:r>
          </a:p>
          <a:p>
            <a:pPr marL="533400" indent="-533400">
              <a:buFontTx/>
              <a:buNone/>
            </a:pPr>
            <a:endParaRPr lang="en-US" dirty="0"/>
          </a:p>
          <a:p>
            <a:pPr marL="533400" indent="-533400">
              <a:buFontTx/>
              <a:buNone/>
            </a:pPr>
            <a:endParaRPr lang="en-US" dirty="0"/>
          </a:p>
          <a:p>
            <a:pPr marL="533400" indent="-533400">
              <a:buFontTx/>
              <a:buNone/>
            </a:pPr>
            <a:r>
              <a:rPr lang="en-US" dirty="0"/>
              <a:t>		</a:t>
            </a:r>
          </a:p>
          <a:p>
            <a:pPr marL="533400" indent="-533400">
              <a:buFontTx/>
              <a:buNone/>
            </a:pPr>
            <a:r>
              <a:rPr lang="en-US" dirty="0"/>
              <a:t>		C</a:t>
            </a:r>
            <a:r>
              <a:rPr lang="en-US" baseline="-25000" dirty="0"/>
              <a:t>3</a:t>
            </a:r>
            <a:r>
              <a:rPr lang="en-US" dirty="0"/>
              <a:t>H</a:t>
            </a:r>
            <a:r>
              <a:rPr lang="en-US" baseline="-25000" dirty="0"/>
              <a:t>7</a:t>
            </a:r>
            <a:r>
              <a:rPr lang="en-US" dirty="0"/>
              <a:t> </a:t>
            </a:r>
            <a:r>
              <a:rPr lang="en-US" dirty="0">
                <a:cs typeface="Arial" charset="0"/>
              </a:rPr>
              <a:t>× 2 </a:t>
            </a:r>
            <a:r>
              <a:rPr lang="en-US" dirty="0"/>
              <a:t>= C</a:t>
            </a:r>
            <a:r>
              <a:rPr lang="en-US" baseline="-25000" dirty="0"/>
              <a:t>6</a:t>
            </a:r>
            <a:r>
              <a:rPr lang="en-US" dirty="0"/>
              <a:t>H</a:t>
            </a:r>
            <a:r>
              <a:rPr lang="en-US" baseline="-25000" dirty="0"/>
              <a:t>14</a:t>
            </a:r>
            <a:r>
              <a:rPr lang="en-US" dirty="0"/>
              <a:t> </a:t>
            </a:r>
          </a:p>
        </p:txBody>
      </p:sp>
      <p:graphicFrame>
        <p:nvGraphicFramePr>
          <p:cNvPr id="2" name="Object 1" descr="86.2 g per mol divided by 43.086 g per mol equals 2. "/>
          <p:cNvGraphicFramePr>
            <a:graphicFrameLocks noChangeAspect="1"/>
          </p:cNvGraphicFramePr>
          <p:nvPr>
            <p:extLst>
              <p:ext uri="{D42A27DB-BD31-4B8C-83A1-F6EECF244321}">
                <p14:modId xmlns:p14="http://schemas.microsoft.com/office/powerpoint/2010/main" val="4208054838"/>
              </p:ext>
            </p:extLst>
          </p:nvPr>
        </p:nvGraphicFramePr>
        <p:xfrm>
          <a:off x="1567542" y="4642885"/>
          <a:ext cx="2724539" cy="917447"/>
        </p:xfrm>
        <a:graphic>
          <a:graphicData uri="http://schemas.openxmlformats.org/presentationml/2006/ole">
            <mc:AlternateContent xmlns:mc="http://schemas.openxmlformats.org/markup-compatibility/2006">
              <mc:Choice xmlns:v="urn:schemas-microsoft-com:vml" Requires="v">
                <p:oleObj spid="_x0000_s14403" name="Equation" r:id="rId4" imgW="1244520" imgH="419040" progId="Equation.DSMT4">
                  <p:embed/>
                </p:oleObj>
              </mc:Choice>
              <mc:Fallback>
                <p:oleObj name="Equation" r:id="rId4" imgW="1244520" imgH="419040" progId="Equation.DSMT4">
                  <p:embed/>
                  <p:pic>
                    <p:nvPicPr>
                      <p:cNvPr id="0" name=""/>
                      <p:cNvPicPr/>
                      <p:nvPr/>
                    </p:nvPicPr>
                    <p:blipFill>
                      <a:blip r:embed="rId5"/>
                      <a:stretch>
                        <a:fillRect/>
                      </a:stretch>
                    </p:blipFill>
                    <p:spPr>
                      <a:xfrm>
                        <a:off x="1567542" y="4642885"/>
                        <a:ext cx="2724539" cy="917447"/>
                      </a:xfrm>
                      <a:prstGeom prst="rect">
                        <a:avLst/>
                      </a:prstGeom>
                    </p:spPr>
                  </p:pic>
                </p:oleObj>
              </mc:Fallback>
            </mc:AlternateContent>
          </a:graphicData>
        </a:graphic>
      </p:graphicFrame>
      <p:sp>
        <p:nvSpPr>
          <p:cNvPr id="6" name="Slide Number Placeholder 4"/>
          <p:cNvSpPr>
            <a:spLocks noGrp="1"/>
          </p:cNvSpPr>
          <p:nvPr>
            <p:ph type="sldNum" sz="quarter" idx="11"/>
          </p:nvPr>
        </p:nvSpPr>
        <p:spPr/>
        <p:txBody>
          <a:bodyPr/>
          <a:lstStyle/>
          <a:p>
            <a:fld id="{101D6C05-5761-2A40-B60E-6BD0B322EBEF}" type="slidenum">
              <a:rPr lang="en-US"/>
              <a:pPr/>
              <a:t>37</a:t>
            </a:fld>
            <a:endParaRPr lang="en-US"/>
          </a:p>
        </p:txBody>
      </p:sp>
    </p:spTree>
    <p:extLst>
      <p:ext uri="{BB962C8B-B14F-4D97-AF65-F5344CB8AC3E}">
        <p14:creationId xmlns:p14="http://schemas.microsoft.com/office/powerpoint/2010/main" val="3432523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1524000" y="1143000"/>
            <a:ext cx="7391400" cy="533400"/>
          </a:xfrm>
        </p:spPr>
        <p:txBody>
          <a:bodyPr/>
          <a:lstStyle/>
          <a:p>
            <a:r>
              <a:rPr lang="en-US" dirty="0"/>
              <a:t>Exercise, 10</a:t>
            </a:r>
          </a:p>
        </p:txBody>
      </p:sp>
      <p:sp>
        <p:nvSpPr>
          <p:cNvPr id="343043" name="Rectangle 3"/>
          <p:cNvSpPr>
            <a:spLocks noGrp="1" noChangeArrowheads="1"/>
          </p:cNvSpPr>
          <p:nvPr>
            <p:ph idx="1"/>
          </p:nvPr>
        </p:nvSpPr>
        <p:spPr>
          <a:xfrm>
            <a:off x="381000" y="2133600"/>
            <a:ext cx="8229600" cy="2517612"/>
          </a:xfrm>
        </p:spPr>
        <p:txBody>
          <a:bodyPr/>
          <a:lstStyle/>
          <a:p>
            <a:pPr marL="854075" indent="-3175">
              <a:buFontTx/>
              <a:buNone/>
            </a:pPr>
            <a:r>
              <a:rPr lang="en-US" sz="2800" dirty="0"/>
              <a:t>	</a:t>
            </a:r>
            <a:r>
              <a:rPr lang="en-US" dirty="0"/>
              <a:t>The composition of </a:t>
            </a:r>
            <a:r>
              <a:rPr lang="en-US" dirty="0" err="1"/>
              <a:t>adipic</a:t>
            </a:r>
            <a:r>
              <a:rPr lang="en-US" dirty="0"/>
              <a:t> acid is 49.3% C, 6.9% H, and 43.8% O (by mass). The molar mass of the compound is about 146 g/mol. The empirical formula is C</a:t>
            </a:r>
            <a:r>
              <a:rPr lang="en-US" baseline="-25000" dirty="0"/>
              <a:t>3</a:t>
            </a:r>
            <a:r>
              <a:rPr lang="en-US" dirty="0"/>
              <a:t>H</a:t>
            </a:r>
            <a:r>
              <a:rPr lang="en-US" baseline="-25000" dirty="0"/>
              <a:t>5</a:t>
            </a:r>
            <a:r>
              <a:rPr lang="en-US" dirty="0"/>
              <a:t>O</a:t>
            </a:r>
            <a:r>
              <a:rPr lang="en-US" baseline="-25000" dirty="0"/>
              <a:t>2</a:t>
            </a:r>
            <a:r>
              <a:rPr lang="en-US" dirty="0"/>
              <a:t>. What is the </a:t>
            </a:r>
            <a:r>
              <a:rPr lang="en-US" dirty="0">
                <a:solidFill>
                  <a:srgbClr val="0000FF"/>
                </a:solidFill>
              </a:rPr>
              <a:t>molecular formula</a:t>
            </a:r>
            <a:r>
              <a:rPr lang="en-US" dirty="0"/>
              <a:t>?</a:t>
            </a:r>
          </a:p>
          <a:p>
            <a:pPr marL="854075" indent="-3175">
              <a:buFontTx/>
              <a:buNone/>
            </a:pPr>
            <a:endParaRPr lang="en-US" dirty="0"/>
          </a:p>
          <a:p>
            <a:pPr marL="1425575" lvl="1" indent="-457200">
              <a:buFontTx/>
              <a:buNone/>
            </a:pPr>
            <a:r>
              <a:rPr lang="en-US" sz="2400" dirty="0"/>
              <a:t>			       </a:t>
            </a:r>
            <a:r>
              <a:rPr lang="en-US" sz="2400" dirty="0">
                <a:solidFill>
                  <a:srgbClr val="009900"/>
                </a:solidFill>
              </a:rPr>
              <a:t>C</a:t>
            </a:r>
            <a:r>
              <a:rPr lang="en-US" sz="2400" baseline="-25000" dirty="0">
                <a:solidFill>
                  <a:srgbClr val="009900"/>
                </a:solidFill>
              </a:rPr>
              <a:t>6</a:t>
            </a:r>
            <a:r>
              <a:rPr lang="en-US" sz="2400" dirty="0">
                <a:solidFill>
                  <a:srgbClr val="009900"/>
                </a:solidFill>
              </a:rPr>
              <a:t>H</a:t>
            </a:r>
            <a:r>
              <a:rPr lang="en-US" sz="2400" baseline="-25000" dirty="0">
                <a:solidFill>
                  <a:srgbClr val="009900"/>
                </a:solidFill>
              </a:rPr>
              <a:t>10</a:t>
            </a:r>
            <a:r>
              <a:rPr lang="en-US" sz="2400" dirty="0">
                <a:solidFill>
                  <a:srgbClr val="009900"/>
                </a:solidFill>
              </a:rPr>
              <a:t>O</a:t>
            </a:r>
            <a:r>
              <a:rPr lang="en-US" sz="2400" baseline="-25000" dirty="0">
                <a:solidFill>
                  <a:srgbClr val="009900"/>
                </a:solidFill>
              </a:rPr>
              <a:t>4</a:t>
            </a:r>
            <a:r>
              <a:rPr lang="en-US" sz="2400" dirty="0"/>
              <a:t> </a:t>
            </a:r>
          </a:p>
        </p:txBody>
      </p:sp>
      <p:sp>
        <p:nvSpPr>
          <p:cNvPr id="6" name="Slide Number Placeholder 4"/>
          <p:cNvSpPr>
            <a:spLocks noGrp="1"/>
          </p:cNvSpPr>
          <p:nvPr>
            <p:ph type="sldNum" sz="quarter" idx="11"/>
          </p:nvPr>
        </p:nvSpPr>
        <p:spPr/>
        <p:txBody>
          <a:bodyPr/>
          <a:lstStyle/>
          <a:p>
            <a:fld id="{F0779144-B198-AB4B-BC81-A9839CA51970}" type="slidenum">
              <a:rPr lang="en-US"/>
              <a:pPr/>
              <a:t>38</a:t>
            </a:fld>
            <a:endParaRPr lang="en-US"/>
          </a:p>
        </p:txBody>
      </p:sp>
    </p:spTree>
    <p:extLst>
      <p:ext uri="{BB962C8B-B14F-4D97-AF65-F5344CB8AC3E}">
        <p14:creationId xmlns:p14="http://schemas.microsoft.com/office/powerpoint/2010/main" val="1283075313"/>
      </p:ext>
    </p:extLst>
  </p:cSld>
  <p:clrMapOvr>
    <a:masterClrMapping/>
  </p:clrMapOvr>
</p:sld>
</file>

<file path=ppt/theme/theme1.xml><?xml version="1.0" encoding="utf-8"?>
<a:theme xmlns:a="http://schemas.openxmlformats.org/drawingml/2006/main" name="chapter ">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ection 8.1">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Section 8.2">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Section 8.3">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Section 8.4">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Section 8.5">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Section 8.6">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Section 8.7">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Section 8.8">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Section 8.9">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_chapter ">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heck_x002d_in_x0020_Comment xmlns="0e13c682-55bc-4eac-8c72-cb1c29354c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5934DC7BD95242BE6BA2F7EBB887A7" ma:contentTypeVersion="7" ma:contentTypeDescription="Create a new document." ma:contentTypeScope="" ma:versionID="b502482696701f57dee8b51a511759b6">
  <xsd:schema xmlns:xsd="http://www.w3.org/2001/XMLSchema" xmlns:xs="http://www.w3.org/2001/XMLSchema" xmlns:p="http://schemas.microsoft.com/office/2006/metadata/properties" xmlns:ns2="5b47f0fb-e24d-44b9-89a4-ff46b5ce035f" xmlns:ns3="0e13c682-55bc-4eac-8c72-cb1c29354c87" targetNamespace="http://schemas.microsoft.com/office/2006/metadata/properties" ma:root="true" ma:fieldsID="47bfffb8bcbec2f48a78b0c1e25db6fa" ns2:_="" ns3:_="">
    <xsd:import namespace="5b47f0fb-e24d-44b9-89a4-ff46b5ce035f"/>
    <xsd:import namespace="0e13c682-55bc-4eac-8c72-cb1c29354c87"/>
    <xsd:element name="properties">
      <xsd:complexType>
        <xsd:sequence>
          <xsd:element name="documentManagement">
            <xsd:complexType>
              <xsd:all>
                <xsd:element ref="ns2:SharedWithUsers" minOccurs="0"/>
                <xsd:element ref="ns2:SharedWithDetails" minOccurs="0"/>
                <xsd:element ref="ns3:Check_x002d_in_x0020_Comment" minOccurs="0"/>
                <xsd:element ref="ns3:MediaServiceMetadata" minOccurs="0"/>
                <xsd:element ref="ns3:MediaServiceFastMetadata" minOccurs="0"/>
                <xsd:element ref="ns3:MediaServiceDateTaken" minOccurs="0"/>
                <xsd:element ref="ns3: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e13c682-55bc-4eac-8c72-cb1c29354c87" elementFormDefault="qualified">
    <xsd:import namespace="http://schemas.microsoft.com/office/2006/documentManagement/types"/>
    <xsd:import namespace="http://schemas.microsoft.com/office/infopath/2007/PartnerControls"/>
    <xsd:element name="Check_x002d_in_x0020_Comment" ma:index="10" nillable="true" ma:displayName="Check-in Comment" ma:internalName="Check_x002d_in_x0020_Comment">
      <xsd:simpleType>
        <xsd:restriction base="dms:Text">
          <xsd:maxLength value="255"/>
        </xsd:restriction>
      </xsd:simpleType>
    </xsd:element>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10273B-2D1A-4256-ABAF-EB08CC271C90}">
  <ds:schemaRefs>
    <ds:schemaRef ds:uri="http://purl.org/dc/dcmitype/"/>
    <ds:schemaRef ds:uri="http://purl.org/dc/terms/"/>
    <ds:schemaRef ds:uri="0e13c682-55bc-4eac-8c72-cb1c29354c87"/>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5b47f0fb-e24d-44b9-89a4-ff46b5ce035f"/>
    <ds:schemaRef ds:uri="http://www.w3.org/XML/1998/namespace"/>
    <ds:schemaRef ds:uri="http://purl.org/dc/elements/1.1/"/>
  </ds:schemaRefs>
</ds:datastoreItem>
</file>

<file path=customXml/itemProps2.xml><?xml version="1.0" encoding="utf-8"?>
<ds:datastoreItem xmlns:ds="http://schemas.openxmlformats.org/officeDocument/2006/customXml" ds:itemID="{9BC1E7B6-BBC9-4B61-9158-24DCDA5B68B2}">
  <ds:schemaRefs>
    <ds:schemaRef ds:uri="http://schemas.microsoft.com/sharepoint/v3/contenttype/forms"/>
  </ds:schemaRefs>
</ds:datastoreItem>
</file>

<file path=customXml/itemProps3.xml><?xml version="1.0" encoding="utf-8"?>
<ds:datastoreItem xmlns:ds="http://schemas.openxmlformats.org/officeDocument/2006/customXml" ds:itemID="{05F1D6FB-EB65-48B6-9233-FF6E31C1B9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0e13c682-55bc-4eac-8c72-cb1c29354c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4998</TotalTime>
  <Words>2494</Words>
  <Application>Microsoft Office PowerPoint</Application>
  <PresentationFormat>On-screen Show (4:3)</PresentationFormat>
  <Paragraphs>341</Paragraphs>
  <Slides>38</Slides>
  <Notes>37</Notes>
  <HiddenSlides>18</HiddenSlides>
  <MMClips>0</MMClips>
  <ScaleCrop>false</ScaleCrop>
  <HeadingPairs>
    <vt:vector size="8" baseType="variant">
      <vt:variant>
        <vt:lpstr>Fonts Used</vt:lpstr>
      </vt:variant>
      <vt:variant>
        <vt:i4>4</vt:i4>
      </vt:variant>
      <vt:variant>
        <vt:lpstr>Theme</vt:lpstr>
      </vt:variant>
      <vt:variant>
        <vt:i4>11</vt:i4>
      </vt:variant>
      <vt:variant>
        <vt:lpstr>Embedded OLE Servers</vt:lpstr>
      </vt:variant>
      <vt:variant>
        <vt:i4>1</vt:i4>
      </vt:variant>
      <vt:variant>
        <vt:lpstr>Slide Titles</vt:lpstr>
      </vt:variant>
      <vt:variant>
        <vt:i4>38</vt:i4>
      </vt:variant>
    </vt:vector>
  </HeadingPairs>
  <TitlesOfParts>
    <vt:vector size="54" baseType="lpstr">
      <vt:lpstr>Arial</vt:lpstr>
      <vt:lpstr>Arial Narrow</vt:lpstr>
      <vt:lpstr>Calibri</vt:lpstr>
      <vt:lpstr>Times</vt:lpstr>
      <vt:lpstr>chapter </vt:lpstr>
      <vt:lpstr>Section 8.1</vt:lpstr>
      <vt:lpstr>Section 8.2</vt:lpstr>
      <vt:lpstr>Section 8.3</vt:lpstr>
      <vt:lpstr>Section 8.4</vt:lpstr>
      <vt:lpstr>Section 8.5</vt:lpstr>
      <vt:lpstr>Section 8.6</vt:lpstr>
      <vt:lpstr>Section 8.7</vt:lpstr>
      <vt:lpstr>Section 8.8</vt:lpstr>
      <vt:lpstr>Section 8.9</vt:lpstr>
      <vt:lpstr>1_chapter </vt:lpstr>
      <vt:lpstr>Equation</vt:lpstr>
      <vt:lpstr>Chapter 8</vt:lpstr>
      <vt:lpstr>Average Mass</vt:lpstr>
      <vt:lpstr>Averaging the Mass of Similar Objects</vt:lpstr>
      <vt:lpstr>Averaging the Mass of Similar Objects (continued)</vt:lpstr>
      <vt:lpstr>Averaging the Mass of Different Objects</vt:lpstr>
      <vt:lpstr>Exercise</vt:lpstr>
      <vt:lpstr>Determining the Atomic Mass</vt:lpstr>
      <vt:lpstr>Average Atomic Mass for Carbon</vt:lpstr>
      <vt:lpstr>Example Using Atomic Mass Units</vt:lpstr>
      <vt:lpstr>Exercise, 1</vt:lpstr>
      <vt:lpstr>Definition of Mole</vt:lpstr>
      <vt:lpstr>Understanding the Mole Concept</vt:lpstr>
      <vt:lpstr>Concept Check, 1</vt:lpstr>
      <vt:lpstr>Concept Check, 2</vt:lpstr>
      <vt:lpstr>Concept Check, 3</vt:lpstr>
      <vt:lpstr>Concept Check, 4</vt:lpstr>
      <vt:lpstr>Concept Check, 5</vt:lpstr>
      <vt:lpstr>Exercise, 2</vt:lpstr>
      <vt:lpstr>Conceptual Problem Solving</vt:lpstr>
      <vt:lpstr>Calculating Molar Mass</vt:lpstr>
      <vt:lpstr>Calculations Using Molar Mass</vt:lpstr>
      <vt:lpstr>Exercise, 3</vt:lpstr>
      <vt:lpstr>Exercise, 4</vt:lpstr>
      <vt:lpstr> Exercise, 5</vt:lpstr>
      <vt:lpstr>Exercise, 6</vt:lpstr>
      <vt:lpstr>Mass Percent of an Element in a Compound</vt:lpstr>
      <vt:lpstr>Exercise, 7</vt:lpstr>
      <vt:lpstr> Exercise, 8</vt:lpstr>
      <vt:lpstr>Empirical Formula</vt:lpstr>
      <vt:lpstr>Formulas</vt:lpstr>
      <vt:lpstr>Steps for Determining the Empirical Formula of a Compound</vt:lpstr>
      <vt:lpstr>Steps for Determining the Empirical Formula of a Compound (continued 1)</vt:lpstr>
      <vt:lpstr>Steps for Determining the Empirical Formula of a Compound (continued 2)</vt:lpstr>
      <vt:lpstr>Steps for Determining the Empirical Formula of a Compound (continued 3)</vt:lpstr>
      <vt:lpstr>Exercise, 9</vt:lpstr>
      <vt:lpstr>Molecular Formula of a Compound </vt:lpstr>
      <vt:lpstr>Steps for Determining the Empirical Formula of a Compound (continued 4)</vt:lpstr>
      <vt:lpstr>Exercise,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Melinda Jensen</dc:creator>
  <cp:lastModifiedBy>Willson, Laurel</cp:lastModifiedBy>
  <cp:revision>77</cp:revision>
  <dcterms:created xsi:type="dcterms:W3CDTF">2013-12-25T21:03:35Z</dcterms:created>
  <dcterms:modified xsi:type="dcterms:W3CDTF">2026-07-23T00:07:00Z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0x010100EA5934DC7BD95242BE6BA2F7EBB887A7</vt:lpwstr>
  </property>
</Properties>
</file>